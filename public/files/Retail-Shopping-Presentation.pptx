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rts/chart1.xml" ContentType="application/vnd.openxmlformats-officedocument.drawingml.chart+xml"/>
  <Override PartName="/ppt/notesSlides/notesSlide3.xml" ContentType="application/vnd.openxmlformats-officedocument.presentationml.notesSlide+xml"/>
  <Override PartName="/ppt/charts/chart2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3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charts/chart4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5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charts/chartEx1.xml" ContentType="application/vnd.ms-office.chartex+xml"/>
  <Override PartName="/ppt/charts/style6.xml" ContentType="application/vnd.ms-office.chartstyle+xml"/>
  <Override PartName="/ppt/charts/colors6.xml" ContentType="application/vnd.ms-office.chartcolorstyle+xml"/>
  <Override PartName="/ppt/charts/chart8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9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charts/chart10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charts/chart11.xml" ContentType="application/vnd.openxmlformats-officedocument.drawingml.chart+xml"/>
  <Override PartName="/ppt/charts/style9.xml" ContentType="application/vnd.ms-office.chartstyle+xml"/>
  <Override PartName="/ppt/charts/colors9.xml" ContentType="application/vnd.ms-office.chartcolorstyle+xml"/>
  <Override PartName="/ppt/charts/chart12.xml" ContentType="application/vnd.openxmlformats-officedocument.drawingml.chart+xml"/>
  <Override PartName="/ppt/charts/style10.xml" ContentType="application/vnd.ms-office.chartstyle+xml"/>
  <Override PartName="/ppt/charts/colors10.xml" ContentType="application/vnd.ms-office.chartcolorstyle+xml"/>
  <Override PartName="/ppt/drawings/drawing1.xml" ContentType="application/vnd.openxmlformats-officedocument.drawingml.chartshapes+xml"/>
  <Override PartName="/ppt/charts/chart13.xml" ContentType="application/vnd.openxmlformats-officedocument.drawingml.chart+xml"/>
  <Override PartName="/ppt/charts/style11.xml" ContentType="application/vnd.ms-office.chartstyle+xml"/>
  <Override PartName="/ppt/charts/colors11.xml" ContentType="application/vnd.ms-office.chartcolorstyle+xml"/>
  <Override PartName="/ppt/charts/chart14.xml" ContentType="application/vnd.openxmlformats-officedocument.drawingml.chart+xml"/>
  <Override PartName="/ppt/charts/style12.xml" ContentType="application/vnd.ms-office.chartstyle+xml"/>
  <Override PartName="/ppt/charts/colors12.xml" ContentType="application/vnd.ms-office.chartcolorstyle+xml"/>
  <Override PartName="/ppt/charts/chart15.xml" ContentType="application/vnd.openxmlformats-officedocument.drawingml.chart+xml"/>
  <Override PartName="/ppt/charts/style13.xml" ContentType="application/vnd.ms-office.chartstyle+xml"/>
  <Override PartName="/ppt/charts/colors13.xml" ContentType="application/vnd.ms-office.chartcolorstyl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60" r:id="rId1"/>
  </p:sldMasterIdLst>
  <p:notesMasterIdLst>
    <p:notesMasterId r:id="rId22"/>
  </p:notesMasterIdLst>
  <p:sldIdLst>
    <p:sldId id="256" r:id="rId2"/>
    <p:sldId id="309" r:id="rId3"/>
    <p:sldId id="258" r:id="rId4"/>
    <p:sldId id="263" r:id="rId5"/>
    <p:sldId id="279" r:id="rId6"/>
    <p:sldId id="281" r:id="rId7"/>
    <p:sldId id="286" r:id="rId8"/>
    <p:sldId id="289" r:id="rId9"/>
    <p:sldId id="295" r:id="rId10"/>
    <p:sldId id="308" r:id="rId11"/>
    <p:sldId id="266" r:id="rId12"/>
    <p:sldId id="310" r:id="rId13"/>
    <p:sldId id="264" r:id="rId14"/>
    <p:sldId id="273" r:id="rId15"/>
    <p:sldId id="274" r:id="rId16"/>
    <p:sldId id="296" r:id="rId17"/>
    <p:sldId id="297" r:id="rId18"/>
    <p:sldId id="299" r:id="rId19"/>
    <p:sldId id="301" r:id="rId20"/>
    <p:sldId id="305" r:id="rId21"/>
  </p:sldIdLst>
  <p:sldSz cx="12192000" cy="6858000"/>
  <p:notesSz cx="6858000" cy="9144000"/>
  <p:defaultTextStyle>
    <a:defPPr>
      <a:defRPr lang="he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BF8BEDC-A915-4BBC-B2A6-CF289DD8A06E}" v="15" dt="2026-10-20T12:40:38.0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979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3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alter" userId="096fc9d7e7329194" providerId="LiveId" clId="{BB7F19DD-07E1-4A8A-BC5C-2583A043D8BB}"/>
    <pc:docChg chg="undo custSel addSld delSld modSld sldOrd">
      <pc:chgData name="david alter" userId="096fc9d7e7329194" providerId="LiveId" clId="{BB7F19DD-07E1-4A8A-BC5C-2583A043D8BB}" dt="2026-10-20T12:41:56.597" v="130" actId="14100"/>
      <pc:docMkLst>
        <pc:docMk/>
      </pc:docMkLst>
      <pc:sldChg chg="addSp delSp modSp add mod setBg addAnim delAnim">
        <pc:chgData name="david alter" userId="096fc9d7e7329194" providerId="LiveId" clId="{BB7F19DD-07E1-4A8A-BC5C-2583A043D8BB}" dt="2026-10-20T12:41:56.597" v="130" actId="14100"/>
        <pc:sldMkLst>
          <pc:docMk/>
          <pc:sldMk cId="3915377242" sldId="256"/>
        </pc:sldMkLst>
        <pc:spChg chg="mod">
          <ac:chgData name="david alter" userId="096fc9d7e7329194" providerId="LiveId" clId="{BB7F19DD-07E1-4A8A-BC5C-2583A043D8BB}" dt="2026-10-20T12:41:56.597" v="130" actId="14100"/>
          <ac:spMkLst>
            <pc:docMk/>
            <pc:sldMk cId="3915377242" sldId="256"/>
            <ac:spMk id="2" creationId="{17958EE8-AADF-AE19-E05A-362E18845B95}"/>
          </ac:spMkLst>
        </pc:spChg>
        <pc:spChg chg="mod">
          <ac:chgData name="david alter" userId="096fc9d7e7329194" providerId="LiveId" clId="{BB7F19DD-07E1-4A8A-BC5C-2583A043D8BB}" dt="2026-10-20T12:41:29.661" v="125" actId="26606"/>
          <ac:spMkLst>
            <pc:docMk/>
            <pc:sldMk cId="3915377242" sldId="256"/>
            <ac:spMk id="3" creationId="{CC3CEACD-C588-3530-402D-16846FE608B2}"/>
          </ac:spMkLst>
        </pc:spChg>
        <pc:spChg chg="mod">
          <ac:chgData name="david alter" userId="096fc9d7e7329194" providerId="LiveId" clId="{BB7F19DD-07E1-4A8A-BC5C-2583A043D8BB}" dt="2026-10-20T12:41:29.661" v="125" actId="26606"/>
          <ac:spMkLst>
            <pc:docMk/>
            <pc:sldMk cId="3915377242" sldId="256"/>
            <ac:spMk id="4" creationId="{54482CC1-5740-4CC3-B5E7-6A7C60BDB2F6}"/>
          </ac:spMkLst>
        </pc:spChg>
        <pc:spChg chg="add del">
          <ac:chgData name="david alter" userId="096fc9d7e7329194" providerId="LiveId" clId="{BB7F19DD-07E1-4A8A-BC5C-2583A043D8BB}" dt="2026-10-20T12:41:26.789" v="116" actId="26606"/>
          <ac:spMkLst>
            <pc:docMk/>
            <pc:sldMk cId="3915377242" sldId="256"/>
            <ac:spMk id="11" creationId="{0671A8AE-40A1-4631-A6B8-581AFF065482}"/>
          </ac:spMkLst>
        </pc:spChg>
        <pc:spChg chg="add del">
          <ac:chgData name="david alter" userId="096fc9d7e7329194" providerId="LiveId" clId="{BB7F19DD-07E1-4A8A-BC5C-2583A043D8BB}" dt="2026-10-20T12:41:26.789" v="116" actId="26606"/>
          <ac:spMkLst>
            <pc:docMk/>
            <pc:sldMk cId="3915377242" sldId="256"/>
            <ac:spMk id="13" creationId="{AB58EF07-17C2-48CF-ABB0-EEF1F17CB8F0}"/>
          </ac:spMkLst>
        </pc:spChg>
        <pc:spChg chg="add del">
          <ac:chgData name="david alter" userId="096fc9d7e7329194" providerId="LiveId" clId="{BB7F19DD-07E1-4A8A-BC5C-2583A043D8BB}" dt="2026-10-20T12:41:26.789" v="116" actId="26606"/>
          <ac:spMkLst>
            <pc:docMk/>
            <pc:sldMk cId="3915377242" sldId="256"/>
            <ac:spMk id="15" creationId="{AF2F604E-43BE-4DC3-B983-E071523364F8}"/>
          </ac:spMkLst>
        </pc:spChg>
        <pc:spChg chg="add del">
          <ac:chgData name="david alter" userId="096fc9d7e7329194" providerId="LiveId" clId="{BB7F19DD-07E1-4A8A-BC5C-2583A043D8BB}" dt="2026-10-20T12:41:26.789" v="116" actId="26606"/>
          <ac:spMkLst>
            <pc:docMk/>
            <pc:sldMk cId="3915377242" sldId="256"/>
            <ac:spMk id="17" creationId="{08C9B587-E65E-4B52-B37C-ABEBB6E87928}"/>
          </ac:spMkLst>
        </pc:spChg>
        <pc:spChg chg="add del">
          <ac:chgData name="david alter" userId="096fc9d7e7329194" providerId="LiveId" clId="{BB7F19DD-07E1-4A8A-BC5C-2583A043D8BB}" dt="2026-10-20T12:41:27.841" v="120" actId="26606"/>
          <ac:spMkLst>
            <pc:docMk/>
            <pc:sldMk cId="3915377242" sldId="256"/>
            <ac:spMk id="19" creationId="{E91DC736-0EF8-4F87-9146-EBF1D2EE4D3D}"/>
          </ac:spMkLst>
        </pc:spChg>
        <pc:spChg chg="add del">
          <ac:chgData name="david alter" userId="096fc9d7e7329194" providerId="LiveId" clId="{BB7F19DD-07E1-4A8A-BC5C-2583A043D8BB}" dt="2026-10-20T12:41:27.841" v="120" actId="26606"/>
          <ac:spMkLst>
            <pc:docMk/>
            <pc:sldMk cId="3915377242" sldId="256"/>
            <ac:spMk id="21" creationId="{097CD68E-23E3-4007-8847-CD0944C4F7BE}"/>
          </ac:spMkLst>
        </pc:spChg>
        <pc:spChg chg="add del">
          <ac:chgData name="david alter" userId="096fc9d7e7329194" providerId="LiveId" clId="{BB7F19DD-07E1-4A8A-BC5C-2583A043D8BB}" dt="2026-10-20T12:41:27.841" v="120" actId="26606"/>
          <ac:spMkLst>
            <pc:docMk/>
            <pc:sldMk cId="3915377242" sldId="256"/>
            <ac:spMk id="22" creationId="{AF2F604E-43BE-4DC3-B983-E071523364F8}"/>
          </ac:spMkLst>
        </pc:spChg>
        <pc:spChg chg="add del">
          <ac:chgData name="david alter" userId="096fc9d7e7329194" providerId="LiveId" clId="{BB7F19DD-07E1-4A8A-BC5C-2583A043D8BB}" dt="2026-10-20T12:41:27.841" v="120" actId="26606"/>
          <ac:spMkLst>
            <pc:docMk/>
            <pc:sldMk cId="3915377242" sldId="256"/>
            <ac:spMk id="23" creationId="{08C9B587-E65E-4B52-B37C-ABEBB6E87928}"/>
          </ac:spMkLst>
        </pc:spChg>
        <pc:spChg chg="add del">
          <ac:chgData name="david alter" userId="096fc9d7e7329194" providerId="LiveId" clId="{BB7F19DD-07E1-4A8A-BC5C-2583A043D8BB}" dt="2026-10-20T12:41:29.603" v="124" actId="26606"/>
          <ac:spMkLst>
            <pc:docMk/>
            <pc:sldMk cId="3915377242" sldId="256"/>
            <ac:spMk id="25" creationId="{9B7AD9F6-8CE7-4299-8FC6-328F4DCD3FF9}"/>
          </ac:spMkLst>
        </pc:spChg>
        <pc:spChg chg="add del">
          <ac:chgData name="david alter" userId="096fc9d7e7329194" providerId="LiveId" clId="{BB7F19DD-07E1-4A8A-BC5C-2583A043D8BB}" dt="2026-10-20T12:41:29.603" v="124" actId="26606"/>
          <ac:spMkLst>
            <pc:docMk/>
            <pc:sldMk cId="3915377242" sldId="256"/>
            <ac:spMk id="26" creationId="{F49775AF-8896-43EE-92C6-83497D6DC56F}"/>
          </ac:spMkLst>
        </pc:spChg>
        <pc:spChg chg="add">
          <ac:chgData name="david alter" userId="096fc9d7e7329194" providerId="LiveId" clId="{BB7F19DD-07E1-4A8A-BC5C-2583A043D8BB}" dt="2026-10-20T12:41:29.661" v="125" actId="26606"/>
          <ac:spMkLst>
            <pc:docMk/>
            <pc:sldMk cId="3915377242" sldId="256"/>
            <ac:spMk id="29" creationId="{E91DC736-0EF8-4F87-9146-EBF1D2EE4D3D}"/>
          </ac:spMkLst>
        </pc:spChg>
        <pc:spChg chg="add">
          <ac:chgData name="david alter" userId="096fc9d7e7329194" providerId="LiveId" clId="{BB7F19DD-07E1-4A8A-BC5C-2583A043D8BB}" dt="2026-10-20T12:41:29.661" v="125" actId="26606"/>
          <ac:spMkLst>
            <pc:docMk/>
            <pc:sldMk cId="3915377242" sldId="256"/>
            <ac:spMk id="31" creationId="{097CD68E-23E3-4007-8847-CD0944C4F7BE}"/>
          </ac:spMkLst>
        </pc:spChg>
        <pc:spChg chg="add">
          <ac:chgData name="david alter" userId="096fc9d7e7329194" providerId="LiveId" clId="{BB7F19DD-07E1-4A8A-BC5C-2583A043D8BB}" dt="2026-10-20T12:41:29.661" v="125" actId="26606"/>
          <ac:spMkLst>
            <pc:docMk/>
            <pc:sldMk cId="3915377242" sldId="256"/>
            <ac:spMk id="32" creationId="{AF2F604E-43BE-4DC3-B983-E071523364F8}"/>
          </ac:spMkLst>
        </pc:spChg>
        <pc:spChg chg="add">
          <ac:chgData name="david alter" userId="096fc9d7e7329194" providerId="LiveId" clId="{BB7F19DD-07E1-4A8A-BC5C-2583A043D8BB}" dt="2026-10-20T12:41:29.661" v="125" actId="26606"/>
          <ac:spMkLst>
            <pc:docMk/>
            <pc:sldMk cId="3915377242" sldId="256"/>
            <ac:spMk id="33" creationId="{08C9B587-E65E-4B52-B37C-ABEBB6E87928}"/>
          </ac:spMkLst>
        </pc:spChg>
        <pc:picChg chg="add del">
          <ac:chgData name="david alter" userId="096fc9d7e7329194" providerId="LiveId" clId="{BB7F19DD-07E1-4A8A-BC5C-2583A043D8BB}" dt="2026-10-20T12:41:22.705" v="114" actId="22"/>
          <ac:picMkLst>
            <pc:docMk/>
            <pc:sldMk cId="3915377242" sldId="256"/>
            <ac:picMk id="6" creationId="{4AD7FF18-5234-718D-56C9-00BDADFAE413}"/>
          </ac:picMkLst>
        </pc:picChg>
        <pc:picChg chg="add del">
          <ac:chgData name="david alter" userId="096fc9d7e7329194" providerId="LiveId" clId="{BB7F19DD-07E1-4A8A-BC5C-2583A043D8BB}" dt="2026-10-20T12:41:26.789" v="116" actId="26606"/>
          <ac:picMkLst>
            <pc:docMk/>
            <pc:sldMk cId="3915377242" sldId="256"/>
            <ac:picMk id="8" creationId="{4AD7FF18-5234-718D-56C9-00BDADFAE413}"/>
          </ac:picMkLst>
        </pc:picChg>
        <pc:picChg chg="del mod modCrop">
          <ac:chgData name="david alter" userId="096fc9d7e7329194" providerId="LiveId" clId="{BB7F19DD-07E1-4A8A-BC5C-2583A043D8BB}" dt="2026-10-20T12:41:20.264" v="112" actId="478"/>
          <ac:picMkLst>
            <pc:docMk/>
            <pc:sldMk cId="3915377242" sldId="256"/>
            <ac:picMk id="9" creationId="{00000000-0000-0000-0000-000000000000}"/>
          </ac:picMkLst>
        </pc:picChg>
        <pc:picChg chg="add del">
          <ac:chgData name="david alter" userId="096fc9d7e7329194" providerId="LiveId" clId="{BB7F19DD-07E1-4A8A-BC5C-2583A043D8BB}" dt="2026-10-20T12:41:27.841" v="120" actId="26606"/>
          <ac:picMkLst>
            <pc:docMk/>
            <pc:sldMk cId="3915377242" sldId="256"/>
            <ac:picMk id="20" creationId="{4AD7FF18-5234-718D-56C9-00BDADFAE413}"/>
          </ac:picMkLst>
        </pc:picChg>
        <pc:picChg chg="add del">
          <ac:chgData name="david alter" userId="096fc9d7e7329194" providerId="LiveId" clId="{BB7F19DD-07E1-4A8A-BC5C-2583A043D8BB}" dt="2026-10-20T12:41:29.603" v="124" actId="26606"/>
          <ac:picMkLst>
            <pc:docMk/>
            <pc:sldMk cId="3915377242" sldId="256"/>
            <ac:picMk id="27" creationId="{4AD7FF18-5234-718D-56C9-00BDADFAE413}"/>
          </ac:picMkLst>
        </pc:picChg>
        <pc:picChg chg="add">
          <ac:chgData name="david alter" userId="096fc9d7e7329194" providerId="LiveId" clId="{BB7F19DD-07E1-4A8A-BC5C-2583A043D8BB}" dt="2026-10-20T12:41:29.661" v="125" actId="26606"/>
          <ac:picMkLst>
            <pc:docMk/>
            <pc:sldMk cId="3915377242" sldId="256"/>
            <ac:picMk id="30" creationId="{4AD7FF18-5234-718D-56C9-00BDADFAE413}"/>
          </ac:picMkLst>
        </pc:picChg>
      </pc:sldChg>
      <pc:sldChg chg="addSp delSp modSp add mod ord setBg">
        <pc:chgData name="david alter" userId="096fc9d7e7329194" providerId="LiveId" clId="{BB7F19DD-07E1-4A8A-BC5C-2583A043D8BB}" dt="2026-10-20T12:40:36.350" v="106"/>
        <pc:sldMkLst>
          <pc:docMk/>
          <pc:sldMk cId="485241411" sldId="258"/>
        </pc:sldMkLst>
        <pc:spChg chg="mod ord">
          <ac:chgData name="david alter" userId="096fc9d7e7329194" providerId="LiveId" clId="{BB7F19DD-07E1-4A8A-BC5C-2583A043D8BB}" dt="2026-10-20T12:36:10.422" v="21" actId="26606"/>
          <ac:spMkLst>
            <pc:docMk/>
            <pc:sldMk cId="485241411" sldId="258"/>
            <ac:spMk id="5" creationId="{E6F4A553-11A5-3C26-C595-56A38EAA6482}"/>
          </ac:spMkLst>
        </pc:spChg>
        <pc:spChg chg="add del">
          <ac:chgData name="david alter" userId="096fc9d7e7329194" providerId="LiveId" clId="{BB7F19DD-07E1-4A8A-BC5C-2583A043D8BB}" dt="2026-10-20T12:36:08.133" v="18" actId="26606"/>
          <ac:spMkLst>
            <pc:docMk/>
            <pc:sldMk cId="485241411" sldId="258"/>
            <ac:spMk id="13" creationId="{E91DC736-0EF8-4F87-9146-EBF1D2EE4D3D}"/>
          </ac:spMkLst>
        </pc:spChg>
        <pc:spChg chg="add del">
          <ac:chgData name="david alter" userId="096fc9d7e7329194" providerId="LiveId" clId="{BB7F19DD-07E1-4A8A-BC5C-2583A043D8BB}" dt="2026-10-20T12:36:08.133" v="18" actId="26606"/>
          <ac:spMkLst>
            <pc:docMk/>
            <pc:sldMk cId="485241411" sldId="258"/>
            <ac:spMk id="15" creationId="{097CD68E-23E3-4007-8847-CD0944C4F7BE}"/>
          </ac:spMkLst>
        </pc:spChg>
        <pc:spChg chg="add del">
          <ac:chgData name="david alter" userId="096fc9d7e7329194" providerId="LiveId" clId="{BB7F19DD-07E1-4A8A-BC5C-2583A043D8BB}" dt="2026-10-20T12:36:08.133" v="18" actId="26606"/>
          <ac:spMkLst>
            <pc:docMk/>
            <pc:sldMk cId="485241411" sldId="258"/>
            <ac:spMk id="17" creationId="{AF2F604E-43BE-4DC3-B983-E071523364F8}"/>
          </ac:spMkLst>
        </pc:spChg>
        <pc:spChg chg="add del">
          <ac:chgData name="david alter" userId="096fc9d7e7329194" providerId="LiveId" clId="{BB7F19DD-07E1-4A8A-BC5C-2583A043D8BB}" dt="2026-10-20T12:36:08.133" v="18" actId="26606"/>
          <ac:spMkLst>
            <pc:docMk/>
            <pc:sldMk cId="485241411" sldId="258"/>
            <ac:spMk id="19" creationId="{08C9B587-E65E-4B52-B37C-ABEBB6E87928}"/>
          </ac:spMkLst>
        </pc:spChg>
        <pc:spChg chg="add del">
          <ac:chgData name="david alter" userId="096fc9d7e7329194" providerId="LiveId" clId="{BB7F19DD-07E1-4A8A-BC5C-2583A043D8BB}" dt="2026-10-20T12:36:10.418" v="20" actId="26606"/>
          <ac:spMkLst>
            <pc:docMk/>
            <pc:sldMk cId="485241411" sldId="258"/>
            <ac:spMk id="21" creationId="{03C2051E-A88D-48E5-BACF-AAED17892722}"/>
          </ac:spMkLst>
        </pc:spChg>
        <pc:spChg chg="add del">
          <ac:chgData name="david alter" userId="096fc9d7e7329194" providerId="LiveId" clId="{BB7F19DD-07E1-4A8A-BC5C-2583A043D8BB}" dt="2026-10-20T12:36:10.418" v="20" actId="26606"/>
          <ac:spMkLst>
            <pc:docMk/>
            <pc:sldMk cId="485241411" sldId="258"/>
            <ac:spMk id="22" creationId="{B9651FA3-B4A1-4E98-9B71-4CF82087794D}"/>
          </ac:spMkLst>
        </pc:spChg>
        <pc:spChg chg="add del">
          <ac:chgData name="david alter" userId="096fc9d7e7329194" providerId="LiveId" clId="{BB7F19DD-07E1-4A8A-BC5C-2583A043D8BB}" dt="2026-10-20T12:36:10.418" v="20" actId="26606"/>
          <ac:spMkLst>
            <pc:docMk/>
            <pc:sldMk cId="485241411" sldId="258"/>
            <ac:spMk id="23" creationId="{5F2F0C84-BE8C-4DC2-A6D3-30349A801D5C}"/>
          </ac:spMkLst>
        </pc:spChg>
        <pc:spChg chg="add del">
          <ac:chgData name="david alter" userId="096fc9d7e7329194" providerId="LiveId" clId="{BB7F19DD-07E1-4A8A-BC5C-2583A043D8BB}" dt="2026-10-20T12:36:10.418" v="20" actId="26606"/>
          <ac:spMkLst>
            <pc:docMk/>
            <pc:sldMk cId="485241411" sldId="258"/>
            <ac:spMk id="24" creationId="{F227E5B6-9132-43CA-B503-37A18562ADF2}"/>
          </ac:spMkLst>
        </pc:spChg>
        <pc:spChg chg="add del">
          <ac:chgData name="david alter" userId="096fc9d7e7329194" providerId="LiveId" clId="{BB7F19DD-07E1-4A8A-BC5C-2583A043D8BB}" dt="2026-10-20T12:36:10.418" v="20" actId="26606"/>
          <ac:spMkLst>
            <pc:docMk/>
            <pc:sldMk cId="485241411" sldId="258"/>
            <ac:spMk id="25" creationId="{7821A508-2985-4905-874A-527429BAABFA}"/>
          </ac:spMkLst>
        </pc:spChg>
        <pc:spChg chg="add del">
          <ac:chgData name="david alter" userId="096fc9d7e7329194" providerId="LiveId" clId="{BB7F19DD-07E1-4A8A-BC5C-2583A043D8BB}" dt="2026-10-20T12:36:10.418" v="20" actId="26606"/>
          <ac:spMkLst>
            <pc:docMk/>
            <pc:sldMk cId="485241411" sldId="258"/>
            <ac:spMk id="26" creationId="{D2929CB1-0E3C-4B2D-ADC5-0154FB33BA44}"/>
          </ac:spMkLst>
        </pc:spChg>
        <pc:spChg chg="add del">
          <ac:chgData name="david alter" userId="096fc9d7e7329194" providerId="LiveId" clId="{BB7F19DD-07E1-4A8A-BC5C-2583A043D8BB}" dt="2026-10-20T12:36:10.418" v="20" actId="26606"/>
          <ac:spMkLst>
            <pc:docMk/>
            <pc:sldMk cId="485241411" sldId="258"/>
            <ac:spMk id="27" creationId="{658970D8-8D1D-4B5C-894B-E871CC86543D}"/>
          </ac:spMkLst>
        </pc:spChg>
        <pc:spChg chg="add">
          <ac:chgData name="david alter" userId="096fc9d7e7329194" providerId="LiveId" clId="{BB7F19DD-07E1-4A8A-BC5C-2583A043D8BB}" dt="2026-10-20T12:36:10.422" v="21" actId="26606"/>
          <ac:spMkLst>
            <pc:docMk/>
            <pc:sldMk cId="485241411" sldId="258"/>
            <ac:spMk id="29" creationId="{E91DC736-0EF8-4F87-9146-EBF1D2EE4D3D}"/>
          </ac:spMkLst>
        </pc:spChg>
        <pc:spChg chg="add">
          <ac:chgData name="david alter" userId="096fc9d7e7329194" providerId="LiveId" clId="{BB7F19DD-07E1-4A8A-BC5C-2583A043D8BB}" dt="2026-10-20T12:36:10.422" v="21" actId="26606"/>
          <ac:spMkLst>
            <pc:docMk/>
            <pc:sldMk cId="485241411" sldId="258"/>
            <ac:spMk id="30" creationId="{097CD68E-23E3-4007-8847-CD0944C4F7BE}"/>
          </ac:spMkLst>
        </pc:spChg>
        <pc:spChg chg="add">
          <ac:chgData name="david alter" userId="096fc9d7e7329194" providerId="LiveId" clId="{BB7F19DD-07E1-4A8A-BC5C-2583A043D8BB}" dt="2026-10-20T12:36:10.422" v="21" actId="26606"/>
          <ac:spMkLst>
            <pc:docMk/>
            <pc:sldMk cId="485241411" sldId="258"/>
            <ac:spMk id="31" creationId="{AF2F604E-43BE-4DC3-B983-E071523364F8}"/>
          </ac:spMkLst>
        </pc:spChg>
        <pc:spChg chg="add">
          <ac:chgData name="david alter" userId="096fc9d7e7329194" providerId="LiveId" clId="{BB7F19DD-07E1-4A8A-BC5C-2583A043D8BB}" dt="2026-10-20T12:36:10.422" v="21" actId="26606"/>
          <ac:spMkLst>
            <pc:docMk/>
            <pc:sldMk cId="485241411" sldId="258"/>
            <ac:spMk id="32" creationId="{08C9B587-E65E-4B52-B37C-ABEBB6E87928}"/>
          </ac:spMkLst>
        </pc:spChg>
        <pc:picChg chg="mod">
          <ac:chgData name="david alter" userId="096fc9d7e7329194" providerId="LiveId" clId="{BB7F19DD-07E1-4A8A-BC5C-2583A043D8BB}" dt="2026-10-20T12:36:10.422" v="21" actId="26606"/>
          <ac:picMkLst>
            <pc:docMk/>
            <pc:sldMk cId="485241411" sldId="258"/>
            <ac:picMk id="8" creationId="{00000000-0000-0000-0000-000000000000}"/>
          </ac:picMkLst>
        </pc:picChg>
      </pc:sldChg>
      <pc:sldChg chg="addSp modSp add del mod setBg">
        <pc:chgData name="david alter" userId="096fc9d7e7329194" providerId="LiveId" clId="{BB7F19DD-07E1-4A8A-BC5C-2583A043D8BB}" dt="2026-10-20T12:38:47.069" v="32" actId="1076"/>
        <pc:sldMkLst>
          <pc:docMk/>
          <pc:sldMk cId="41492976" sldId="266"/>
        </pc:sldMkLst>
        <pc:spChg chg="mod ord">
          <ac:chgData name="david alter" userId="096fc9d7e7329194" providerId="LiveId" clId="{BB7F19DD-07E1-4A8A-BC5C-2583A043D8BB}" dt="2026-10-20T12:36:33.839" v="22" actId="26606"/>
          <ac:spMkLst>
            <pc:docMk/>
            <pc:sldMk cId="41492976" sldId="266"/>
            <ac:spMk id="5" creationId="{BEA91FB2-ABA2-795F-D2E3-85E8901B9BB8}"/>
          </ac:spMkLst>
        </pc:spChg>
        <pc:spChg chg="add">
          <ac:chgData name="david alter" userId="096fc9d7e7329194" providerId="LiveId" clId="{BB7F19DD-07E1-4A8A-BC5C-2583A043D8BB}" dt="2026-10-20T12:36:33.839" v="22" actId="26606"/>
          <ac:spMkLst>
            <pc:docMk/>
            <pc:sldMk cId="41492976" sldId="266"/>
            <ac:spMk id="13" creationId="{E91DC736-0EF8-4F87-9146-EBF1D2EE4D3D}"/>
          </ac:spMkLst>
        </pc:spChg>
        <pc:spChg chg="add">
          <ac:chgData name="david alter" userId="096fc9d7e7329194" providerId="LiveId" clId="{BB7F19DD-07E1-4A8A-BC5C-2583A043D8BB}" dt="2026-10-20T12:36:33.839" v="22" actId="26606"/>
          <ac:spMkLst>
            <pc:docMk/>
            <pc:sldMk cId="41492976" sldId="266"/>
            <ac:spMk id="15" creationId="{097CD68E-23E3-4007-8847-CD0944C4F7BE}"/>
          </ac:spMkLst>
        </pc:spChg>
        <pc:spChg chg="add">
          <ac:chgData name="david alter" userId="096fc9d7e7329194" providerId="LiveId" clId="{BB7F19DD-07E1-4A8A-BC5C-2583A043D8BB}" dt="2026-10-20T12:36:33.839" v="22" actId="26606"/>
          <ac:spMkLst>
            <pc:docMk/>
            <pc:sldMk cId="41492976" sldId="266"/>
            <ac:spMk id="17" creationId="{AF2F604E-43BE-4DC3-B983-E071523364F8}"/>
          </ac:spMkLst>
        </pc:spChg>
        <pc:spChg chg="add">
          <ac:chgData name="david alter" userId="096fc9d7e7329194" providerId="LiveId" clId="{BB7F19DD-07E1-4A8A-BC5C-2583A043D8BB}" dt="2026-10-20T12:36:33.839" v="22" actId="26606"/>
          <ac:spMkLst>
            <pc:docMk/>
            <pc:sldMk cId="41492976" sldId="266"/>
            <ac:spMk id="19" creationId="{08C9B587-E65E-4B52-B37C-ABEBB6E87928}"/>
          </ac:spMkLst>
        </pc:spChg>
        <pc:picChg chg="mod modCrop">
          <ac:chgData name="david alter" userId="096fc9d7e7329194" providerId="LiveId" clId="{BB7F19DD-07E1-4A8A-BC5C-2583A043D8BB}" dt="2026-10-20T12:38:47.069" v="32" actId="1076"/>
          <ac:picMkLst>
            <pc:docMk/>
            <pc:sldMk cId="41492976" sldId="266"/>
            <ac:picMk id="8" creationId="{00000000-0000-0000-0000-000000000000}"/>
          </ac:picMkLst>
        </pc:picChg>
      </pc:sldChg>
      <pc:sldChg chg="modSp mod">
        <pc:chgData name="david alter" userId="096fc9d7e7329194" providerId="LiveId" clId="{BB7F19DD-07E1-4A8A-BC5C-2583A043D8BB}" dt="2026-10-20T12:19:06.944" v="1" actId="1036"/>
        <pc:sldMkLst>
          <pc:docMk/>
          <pc:sldMk cId="2091627246" sldId="279"/>
        </pc:sldMkLst>
        <pc:graphicFrameChg chg="mod">
          <ac:chgData name="david alter" userId="096fc9d7e7329194" providerId="LiveId" clId="{BB7F19DD-07E1-4A8A-BC5C-2583A043D8BB}" dt="2026-10-20T12:19:06.944" v="1" actId="1036"/>
          <ac:graphicFrameMkLst>
            <pc:docMk/>
            <pc:sldMk cId="2091627246" sldId="279"/>
            <ac:graphicFrameMk id="6" creationId="{497C2D0F-01BC-D343-AA7A-CBCA672FB1A5}"/>
          </ac:graphicFrameMkLst>
        </pc:graphicFrameChg>
      </pc:sldChg>
      <pc:sldChg chg="modSp del mod">
        <pc:chgData name="david alter" userId="096fc9d7e7329194" providerId="LiveId" clId="{BB7F19DD-07E1-4A8A-BC5C-2583A043D8BB}" dt="2026-10-20T12:34:29.203" v="9" actId="47"/>
        <pc:sldMkLst>
          <pc:docMk/>
          <pc:sldMk cId="2204422779" sldId="282"/>
        </pc:sldMkLst>
        <pc:spChg chg="mod">
          <ac:chgData name="david alter" userId="096fc9d7e7329194" providerId="LiveId" clId="{BB7F19DD-07E1-4A8A-BC5C-2583A043D8BB}" dt="2026-10-20T12:18:55.675" v="0" actId="20577"/>
          <ac:spMkLst>
            <pc:docMk/>
            <pc:sldMk cId="2204422779" sldId="282"/>
            <ac:spMk id="3" creationId="{CC3CEACD-C588-3530-402D-16846FE608B2}"/>
          </ac:spMkLst>
        </pc:spChg>
      </pc:sldChg>
      <pc:sldChg chg="modSp mod">
        <pc:chgData name="david alter" userId="096fc9d7e7329194" providerId="LiveId" clId="{BB7F19DD-07E1-4A8A-BC5C-2583A043D8BB}" dt="2026-10-20T12:19:27.292" v="4"/>
        <pc:sldMkLst>
          <pc:docMk/>
          <pc:sldMk cId="110394357" sldId="286"/>
        </pc:sldMkLst>
        <pc:graphicFrameChg chg="mod">
          <ac:chgData name="david alter" userId="096fc9d7e7329194" providerId="LiveId" clId="{BB7F19DD-07E1-4A8A-BC5C-2583A043D8BB}" dt="2026-10-20T12:19:27.292" v="4"/>
          <ac:graphicFrameMkLst>
            <pc:docMk/>
            <pc:sldMk cId="110394357" sldId="286"/>
            <ac:graphicFrameMk id="3" creationId="{3EAB9AFA-E168-DF0F-66A9-95655697E6FE}"/>
          </ac:graphicFrameMkLst>
        </pc:graphicFrameChg>
      </pc:sldChg>
      <pc:sldChg chg="mod">
        <pc:chgData name="david alter" userId="096fc9d7e7329194" providerId="LiveId" clId="{BB7F19DD-07E1-4A8A-BC5C-2583A043D8BB}" dt="2026-10-20T12:21:49.172" v="7" actId="27918"/>
        <pc:sldMkLst>
          <pc:docMk/>
          <pc:sldMk cId="1314909661" sldId="297"/>
        </pc:sldMkLst>
      </pc:sldChg>
      <pc:sldChg chg="del">
        <pc:chgData name="david alter" userId="096fc9d7e7329194" providerId="LiveId" clId="{BB7F19DD-07E1-4A8A-BC5C-2583A043D8BB}" dt="2026-10-20T12:35:09.337" v="14" actId="47"/>
        <pc:sldMkLst>
          <pc:docMk/>
          <pc:sldMk cId="301816617" sldId="311"/>
        </pc:sldMkLst>
      </pc:sldChg>
      <pc:sldChg chg="addSp delSp modSp add del mod setBg delDesignElem">
        <pc:chgData name="david alter" userId="096fc9d7e7329194" providerId="LiveId" clId="{BB7F19DD-07E1-4A8A-BC5C-2583A043D8BB}" dt="2026-10-20T12:41:47.393" v="128" actId="47"/>
        <pc:sldMkLst>
          <pc:docMk/>
          <pc:sldMk cId="2878057154" sldId="311"/>
        </pc:sldMkLst>
        <pc:spChg chg="ord">
          <ac:chgData name="david alter" userId="096fc9d7e7329194" providerId="LiveId" clId="{BB7F19DD-07E1-4A8A-BC5C-2583A043D8BB}" dt="2026-10-20T12:41:11.262" v="111" actId="26606"/>
          <ac:spMkLst>
            <pc:docMk/>
            <pc:sldMk cId="2878057154" sldId="311"/>
            <ac:spMk id="5" creationId="{03D6A0B6-456D-4838-6A7D-08DEB5B1FF0D}"/>
          </ac:spMkLst>
        </pc:spChg>
        <pc:spChg chg="add">
          <ac:chgData name="david alter" userId="096fc9d7e7329194" providerId="LiveId" clId="{BB7F19DD-07E1-4A8A-BC5C-2583A043D8BB}" dt="2026-10-20T12:41:11.262" v="111" actId="26606"/>
          <ac:spMkLst>
            <pc:docMk/>
            <pc:sldMk cId="2878057154" sldId="311"/>
            <ac:spMk id="10" creationId="{E91DC736-0EF8-4F87-9146-EBF1D2EE4D3D}"/>
          </ac:spMkLst>
        </pc:spChg>
        <pc:spChg chg="add">
          <ac:chgData name="david alter" userId="096fc9d7e7329194" providerId="LiveId" clId="{BB7F19DD-07E1-4A8A-BC5C-2583A043D8BB}" dt="2026-10-20T12:41:11.262" v="111" actId="26606"/>
          <ac:spMkLst>
            <pc:docMk/>
            <pc:sldMk cId="2878057154" sldId="311"/>
            <ac:spMk id="12" creationId="{097CD68E-23E3-4007-8847-CD0944C4F7BE}"/>
          </ac:spMkLst>
        </pc:spChg>
        <pc:spChg chg="add">
          <ac:chgData name="david alter" userId="096fc9d7e7329194" providerId="LiveId" clId="{BB7F19DD-07E1-4A8A-BC5C-2583A043D8BB}" dt="2026-10-20T12:41:11.262" v="111" actId="26606"/>
          <ac:spMkLst>
            <pc:docMk/>
            <pc:sldMk cId="2878057154" sldId="311"/>
            <ac:spMk id="14" creationId="{AF2F604E-43BE-4DC3-B983-E071523364F8}"/>
          </ac:spMkLst>
        </pc:spChg>
        <pc:spChg chg="add">
          <ac:chgData name="david alter" userId="096fc9d7e7329194" providerId="LiveId" clId="{BB7F19DD-07E1-4A8A-BC5C-2583A043D8BB}" dt="2026-10-20T12:41:11.262" v="111" actId="26606"/>
          <ac:spMkLst>
            <pc:docMk/>
            <pc:sldMk cId="2878057154" sldId="311"/>
            <ac:spMk id="16" creationId="{08C9B587-E65E-4B52-B37C-ABEBB6E87928}"/>
          </ac:spMkLst>
        </pc:spChg>
        <pc:spChg chg="del">
          <ac:chgData name="david alter" userId="096fc9d7e7329194" providerId="LiveId" clId="{BB7F19DD-07E1-4A8A-BC5C-2583A043D8BB}" dt="2026-10-20T12:40:38.039" v="108"/>
          <ac:spMkLst>
            <pc:docMk/>
            <pc:sldMk cId="2878057154" sldId="311"/>
            <ac:spMk id="29" creationId="{122776B0-3A5C-EAFB-5360-63AA71A21EB8}"/>
          </ac:spMkLst>
        </pc:spChg>
        <pc:spChg chg="del">
          <ac:chgData name="david alter" userId="096fc9d7e7329194" providerId="LiveId" clId="{BB7F19DD-07E1-4A8A-BC5C-2583A043D8BB}" dt="2026-10-20T12:40:38.039" v="108"/>
          <ac:spMkLst>
            <pc:docMk/>
            <pc:sldMk cId="2878057154" sldId="311"/>
            <ac:spMk id="30" creationId="{8F0458AA-1325-BECB-117A-F549A6573583}"/>
          </ac:spMkLst>
        </pc:spChg>
        <pc:spChg chg="del">
          <ac:chgData name="david alter" userId="096fc9d7e7329194" providerId="LiveId" clId="{BB7F19DD-07E1-4A8A-BC5C-2583A043D8BB}" dt="2026-10-20T12:40:38.039" v="108"/>
          <ac:spMkLst>
            <pc:docMk/>
            <pc:sldMk cId="2878057154" sldId="311"/>
            <ac:spMk id="31" creationId="{747EEF86-6536-0BBF-EEE3-CA9EBE9ED7D7}"/>
          </ac:spMkLst>
        </pc:spChg>
        <pc:spChg chg="del">
          <ac:chgData name="david alter" userId="096fc9d7e7329194" providerId="LiveId" clId="{BB7F19DD-07E1-4A8A-BC5C-2583A043D8BB}" dt="2026-10-20T12:40:38.039" v="108"/>
          <ac:spMkLst>
            <pc:docMk/>
            <pc:sldMk cId="2878057154" sldId="311"/>
            <ac:spMk id="32" creationId="{F65403E9-38D0-A479-D38F-B90A4CDB7544}"/>
          </ac:spMkLst>
        </pc:spChg>
        <pc:picChg chg="add mod">
          <ac:chgData name="david alter" userId="096fc9d7e7329194" providerId="LiveId" clId="{BB7F19DD-07E1-4A8A-BC5C-2583A043D8BB}" dt="2026-10-20T12:41:11.262" v="111" actId="26606"/>
          <ac:picMkLst>
            <pc:docMk/>
            <pc:sldMk cId="2878057154" sldId="311"/>
            <ac:picMk id="3" creationId="{1D9D7654-4B14-BA05-E8D2-08E2757CBD67}"/>
          </ac:picMkLst>
        </pc:picChg>
        <pc:picChg chg="del">
          <ac:chgData name="david alter" userId="096fc9d7e7329194" providerId="LiveId" clId="{BB7F19DD-07E1-4A8A-BC5C-2583A043D8BB}" dt="2026-10-20T12:40:44.559" v="109" actId="478"/>
          <ac:picMkLst>
            <pc:docMk/>
            <pc:sldMk cId="2878057154" sldId="311"/>
            <ac:picMk id="8" creationId="{F6729B99-45EF-E008-05D4-2ED28EB05B8B}"/>
          </ac:picMkLst>
        </pc:picChg>
      </pc:sldChg>
      <pc:sldChg chg="del">
        <pc:chgData name="david alter" userId="096fc9d7e7329194" providerId="LiveId" clId="{BB7F19DD-07E1-4A8A-BC5C-2583A043D8BB}" dt="2026-10-20T12:34:56.654" v="12" actId="47"/>
        <pc:sldMkLst>
          <pc:docMk/>
          <pc:sldMk cId="1907197899" sldId="312"/>
        </pc:sldMkLst>
      </pc:sldChg>
    </pc:docChg>
  </pc:docChgLst>
  <pc:docChgLst>
    <pc:chgData name="חגית תורג'מן" userId="53f3255f-c3a5-401d-a0c9-dfd4ea4fa378" providerId="ADAL" clId="{BD1F27E5-C715-444C-A4E5-E0E2B3863063}"/>
    <pc:docChg chg="undo custSel addSld delSld modSld sldOrd">
      <pc:chgData name="חגית תורג'מן" userId="53f3255f-c3a5-401d-a0c9-dfd4ea4fa378" providerId="ADAL" clId="{BD1F27E5-C715-444C-A4E5-E0E2B3863063}" dt="2026-10-18T19:28:14.355" v="1238" actId="207"/>
      <pc:docMkLst>
        <pc:docMk/>
      </pc:docMkLst>
      <pc:sldChg chg="addSp delSp modSp mod">
        <pc:chgData name="חגית תורג'מן" userId="53f3255f-c3a5-401d-a0c9-dfd4ea4fa378" providerId="ADAL" clId="{BD1F27E5-C715-444C-A4E5-E0E2B3863063}" dt="2026-10-18T17:04:58.612" v="1123" actId="14100"/>
        <pc:sldMkLst>
          <pc:docMk/>
          <pc:sldMk cId="2234409311" sldId="263"/>
        </pc:sldMkLst>
        <pc:spChg chg="mod">
          <ac:chgData name="חגית תורג'מן" userId="53f3255f-c3a5-401d-a0c9-dfd4ea4fa378" providerId="ADAL" clId="{BD1F27E5-C715-444C-A4E5-E0E2B3863063}" dt="2026-10-18T17:03:29.245" v="1117" actId="790"/>
          <ac:spMkLst>
            <pc:docMk/>
            <pc:sldMk cId="2234409311" sldId="263"/>
            <ac:spMk id="2" creationId="{95AB8549-305F-46DC-5D35-1390DAEC1920}"/>
          </ac:spMkLst>
        </pc:spChg>
        <pc:spChg chg="add mod">
          <ac:chgData name="חגית תורג'מן" userId="53f3255f-c3a5-401d-a0c9-dfd4ea4fa378" providerId="ADAL" clId="{BD1F27E5-C715-444C-A4E5-E0E2B3863063}" dt="2026-10-18T16:54:33.389" v="1094" actId="1035"/>
          <ac:spMkLst>
            <pc:docMk/>
            <pc:sldMk cId="2234409311" sldId="263"/>
            <ac:spMk id="5" creationId="{1C5C7811-A720-4DDD-F50F-0FC5FD32ABFE}"/>
          </ac:spMkLst>
        </pc:spChg>
        <pc:spChg chg="add mod">
          <ac:chgData name="חגית תורג'מן" userId="53f3255f-c3a5-401d-a0c9-dfd4ea4fa378" providerId="ADAL" clId="{BD1F27E5-C715-444C-A4E5-E0E2B3863063}" dt="2026-10-18T16:59:32.695" v="1110" actId="1076"/>
          <ac:spMkLst>
            <pc:docMk/>
            <pc:sldMk cId="2234409311" sldId="263"/>
            <ac:spMk id="7" creationId="{95C014DA-912A-7835-39F1-A9F27B8341A6}"/>
          </ac:spMkLst>
        </pc:spChg>
        <pc:spChg chg="add mod">
          <ac:chgData name="חגית תורג'מן" userId="53f3255f-c3a5-401d-a0c9-dfd4ea4fa378" providerId="ADAL" clId="{BD1F27E5-C715-444C-A4E5-E0E2B3863063}" dt="2026-10-18T17:02:59.914" v="1116" actId="1076"/>
          <ac:spMkLst>
            <pc:docMk/>
            <pc:sldMk cId="2234409311" sldId="263"/>
            <ac:spMk id="11" creationId="{453C6C80-3704-3743-36CB-31BD5F139960}"/>
          </ac:spMkLst>
        </pc:spChg>
        <pc:spChg chg="add mod">
          <ac:chgData name="חגית תורג'מן" userId="53f3255f-c3a5-401d-a0c9-dfd4ea4fa378" providerId="ADAL" clId="{BD1F27E5-C715-444C-A4E5-E0E2B3863063}" dt="2026-10-18T16:59:29.909" v="1109" actId="1076"/>
          <ac:spMkLst>
            <pc:docMk/>
            <pc:sldMk cId="2234409311" sldId="263"/>
            <ac:spMk id="17" creationId="{5B40D4C4-6800-E1FF-DF1C-6422C6017CB2}"/>
          </ac:spMkLst>
        </pc:spChg>
        <pc:spChg chg="add mod">
          <ac:chgData name="חגית תורג'מן" userId="53f3255f-c3a5-401d-a0c9-dfd4ea4fa378" providerId="ADAL" clId="{BD1F27E5-C715-444C-A4E5-E0E2B3863063}" dt="2026-10-18T17:02:49.470" v="1115" actId="1076"/>
          <ac:spMkLst>
            <pc:docMk/>
            <pc:sldMk cId="2234409311" sldId="263"/>
            <ac:spMk id="19" creationId="{E4ACBEAD-AD12-3234-2090-5F4C6896F0BE}"/>
          </ac:spMkLst>
        </pc:spChg>
        <pc:spChg chg="add mod ord">
          <ac:chgData name="חגית תורג'מן" userId="53f3255f-c3a5-401d-a0c9-dfd4ea4fa378" providerId="ADAL" clId="{BD1F27E5-C715-444C-A4E5-E0E2B3863063}" dt="2026-10-18T16:54:33.389" v="1094" actId="1035"/>
          <ac:spMkLst>
            <pc:docMk/>
            <pc:sldMk cId="2234409311" sldId="263"/>
            <ac:spMk id="21" creationId="{01155BED-8BC6-92F8-9C16-5D2D97B803D4}"/>
          </ac:spMkLst>
        </pc:spChg>
        <pc:spChg chg="add mod ord">
          <ac:chgData name="חגית תורג'מן" userId="53f3255f-c3a5-401d-a0c9-dfd4ea4fa378" providerId="ADAL" clId="{BD1F27E5-C715-444C-A4E5-E0E2B3863063}" dt="2026-10-18T17:04:46.427" v="1119" actId="1076"/>
          <ac:spMkLst>
            <pc:docMk/>
            <pc:sldMk cId="2234409311" sldId="263"/>
            <ac:spMk id="23" creationId="{6031558D-1B07-28CC-7F9D-9DB07FE606EE}"/>
          </ac:spMkLst>
        </pc:spChg>
        <pc:spChg chg="add mod ord">
          <ac:chgData name="חגית תורג'מן" userId="53f3255f-c3a5-401d-a0c9-dfd4ea4fa378" providerId="ADAL" clId="{BD1F27E5-C715-444C-A4E5-E0E2B3863063}" dt="2026-10-18T16:54:33.389" v="1094" actId="1035"/>
          <ac:spMkLst>
            <pc:docMk/>
            <pc:sldMk cId="2234409311" sldId="263"/>
            <ac:spMk id="25" creationId="{012C0187-EDB8-E61B-FE6A-DFE6BD457BEE}"/>
          </ac:spMkLst>
        </pc:spChg>
        <pc:spChg chg="add mod">
          <ac:chgData name="חגית תורג'מן" userId="53f3255f-c3a5-401d-a0c9-dfd4ea4fa378" providerId="ADAL" clId="{BD1F27E5-C715-444C-A4E5-E0E2B3863063}" dt="2026-10-18T16:54:33.389" v="1094" actId="1035"/>
          <ac:spMkLst>
            <pc:docMk/>
            <pc:sldMk cId="2234409311" sldId="263"/>
            <ac:spMk id="27" creationId="{D5422FBB-3ADD-6583-C09F-54A36787251E}"/>
          </ac:spMkLst>
        </pc:spChg>
        <pc:spChg chg="add mod">
          <ac:chgData name="חגית תורג'מן" userId="53f3255f-c3a5-401d-a0c9-dfd4ea4fa378" providerId="ADAL" clId="{BD1F27E5-C715-444C-A4E5-E0E2B3863063}" dt="2026-10-18T17:04:58.612" v="1123" actId="14100"/>
          <ac:spMkLst>
            <pc:docMk/>
            <pc:sldMk cId="2234409311" sldId="263"/>
            <ac:spMk id="29" creationId="{3FCAC090-F7AE-C505-D7EE-0DDE61D1EB7F}"/>
          </ac:spMkLst>
        </pc:spChg>
        <pc:spChg chg="add mod">
          <ac:chgData name="חגית תורג'מן" userId="53f3255f-c3a5-401d-a0c9-dfd4ea4fa378" providerId="ADAL" clId="{BD1F27E5-C715-444C-A4E5-E0E2B3863063}" dt="2026-10-18T16:54:33.389" v="1094" actId="1035"/>
          <ac:spMkLst>
            <pc:docMk/>
            <pc:sldMk cId="2234409311" sldId="263"/>
            <ac:spMk id="31" creationId="{6F312D3D-49AB-EEC6-E814-52BC4547AD9B}"/>
          </ac:spMkLst>
        </pc:spChg>
      </pc:sldChg>
      <pc:sldChg chg="modSp mod">
        <pc:chgData name="חגית תורג'מן" userId="53f3255f-c3a5-401d-a0c9-dfd4ea4fa378" providerId="ADAL" clId="{BD1F27E5-C715-444C-A4E5-E0E2B3863063}" dt="2026-10-18T08:39:05.979" v="35" actId="1076"/>
        <pc:sldMkLst>
          <pc:docMk/>
          <pc:sldMk cId="2091627246" sldId="279"/>
        </pc:sldMkLst>
        <pc:spChg chg="mod">
          <ac:chgData name="חגית תורג'מן" userId="53f3255f-c3a5-401d-a0c9-dfd4ea4fa378" providerId="ADAL" clId="{BD1F27E5-C715-444C-A4E5-E0E2B3863063}" dt="2026-10-18T08:39:05.979" v="35" actId="1076"/>
          <ac:spMkLst>
            <pc:docMk/>
            <pc:sldMk cId="2091627246" sldId="279"/>
            <ac:spMk id="53" creationId="{0DF2BDC0-37CC-9BF4-4038-80B602A17F07}"/>
          </ac:spMkLst>
        </pc:spChg>
      </pc:sldChg>
      <pc:sldChg chg="addSp modSp new mod">
        <pc:chgData name="חגית תורג'מן" userId="53f3255f-c3a5-401d-a0c9-dfd4ea4fa378" providerId="ADAL" clId="{BD1F27E5-C715-444C-A4E5-E0E2B3863063}" dt="2026-10-18T17:03:43.020" v="1118" actId="1076"/>
        <pc:sldMkLst>
          <pc:docMk/>
          <pc:sldMk cId="185351581" sldId="309"/>
        </pc:sldMkLst>
        <pc:spChg chg="mod">
          <ac:chgData name="חגית תורג'מן" userId="53f3255f-c3a5-401d-a0c9-dfd4ea4fa378" providerId="ADAL" clId="{BD1F27E5-C715-444C-A4E5-E0E2B3863063}" dt="2026-10-18T17:03:43.020" v="1118" actId="1076"/>
          <ac:spMkLst>
            <pc:docMk/>
            <pc:sldMk cId="185351581" sldId="309"/>
            <ac:spMk id="2" creationId="{5889785C-6A9F-CE16-8C2A-C1B3DD5D80AB}"/>
          </ac:spMkLst>
        </pc:spChg>
        <pc:spChg chg="mod">
          <ac:chgData name="חגית תורג'מן" userId="53f3255f-c3a5-401d-a0c9-dfd4ea4fa378" providerId="ADAL" clId="{BD1F27E5-C715-444C-A4E5-E0E2B3863063}" dt="2026-10-18T14:01:51.253" v="104" actId="14100"/>
          <ac:spMkLst>
            <pc:docMk/>
            <pc:sldMk cId="185351581" sldId="309"/>
            <ac:spMk id="3" creationId="{6585D542-7050-B857-EAC3-88D8CF544E9C}"/>
          </ac:spMkLst>
        </pc:spChg>
        <pc:spChg chg="add mod">
          <ac:chgData name="חגית תורג'מן" userId="53f3255f-c3a5-401d-a0c9-dfd4ea4fa378" providerId="ADAL" clId="{BD1F27E5-C715-444C-A4E5-E0E2B3863063}" dt="2026-10-18T14:02:29.804" v="116" actId="113"/>
          <ac:spMkLst>
            <pc:docMk/>
            <pc:sldMk cId="185351581" sldId="309"/>
            <ac:spMk id="5" creationId="{0ACCFB57-B3C8-050B-6A90-A43240D08756}"/>
          </ac:spMkLst>
        </pc:spChg>
        <pc:spChg chg="add mod">
          <ac:chgData name="חגית תורג'מן" userId="53f3255f-c3a5-401d-a0c9-dfd4ea4fa378" providerId="ADAL" clId="{BD1F27E5-C715-444C-A4E5-E0E2B3863063}" dt="2026-10-18T14:03:03.267" v="120" actId="1076"/>
          <ac:spMkLst>
            <pc:docMk/>
            <pc:sldMk cId="185351581" sldId="309"/>
            <ac:spMk id="7" creationId="{806855A8-51FA-46FA-7CBC-8A228D0EEB2E}"/>
          </ac:spMkLst>
        </pc:spChg>
        <pc:spChg chg="add mod">
          <ac:chgData name="חגית תורג'מן" userId="53f3255f-c3a5-401d-a0c9-dfd4ea4fa378" providerId="ADAL" clId="{BD1F27E5-C715-444C-A4E5-E0E2B3863063}" dt="2026-10-18T14:03:13.394" v="122" actId="1076"/>
          <ac:spMkLst>
            <pc:docMk/>
            <pc:sldMk cId="185351581" sldId="309"/>
            <ac:spMk id="9" creationId="{C1479FCD-FA2B-5F2B-9C24-273F516EAE52}"/>
          </ac:spMkLst>
        </pc:spChg>
        <pc:spChg chg="add mod">
          <ac:chgData name="חגית תורג'מן" userId="53f3255f-c3a5-401d-a0c9-dfd4ea4fa378" providerId="ADAL" clId="{BD1F27E5-C715-444C-A4E5-E0E2B3863063}" dt="2026-10-18T14:07:23.395" v="152" actId="20577"/>
          <ac:spMkLst>
            <pc:docMk/>
            <pc:sldMk cId="185351581" sldId="309"/>
            <ac:spMk id="10" creationId="{53FF75F4-4402-E128-66E6-23CB045D4DF2}"/>
          </ac:spMkLst>
        </pc:spChg>
        <pc:spChg chg="add mod">
          <ac:chgData name="חגית תורג'מן" userId="53f3255f-c3a5-401d-a0c9-dfd4ea4fa378" providerId="ADAL" clId="{BD1F27E5-C715-444C-A4E5-E0E2B3863063}" dt="2026-10-18T14:07:59.504" v="158" actId="14100"/>
          <ac:spMkLst>
            <pc:docMk/>
            <pc:sldMk cId="185351581" sldId="309"/>
            <ac:spMk id="13" creationId="{B02F972D-F63C-FD85-AAF1-54B6301B6431}"/>
          </ac:spMkLst>
        </pc:spChg>
      </pc:sldChg>
      <pc:sldChg chg="addSp delSp modSp add mod ord">
        <pc:chgData name="חגית תורג'מן" userId="53f3255f-c3a5-401d-a0c9-dfd4ea4fa378" providerId="ADAL" clId="{BD1F27E5-C715-444C-A4E5-E0E2B3863063}" dt="2026-10-18T19:28:14.355" v="1238" actId="207"/>
        <pc:sldMkLst>
          <pc:docMk/>
          <pc:sldMk cId="333755573" sldId="310"/>
        </pc:sldMkLst>
        <pc:spChg chg="mod">
          <ac:chgData name="חגית תורג'מן" userId="53f3255f-c3a5-401d-a0c9-dfd4ea4fa378" providerId="ADAL" clId="{BD1F27E5-C715-444C-A4E5-E0E2B3863063}" dt="2026-10-18T16:52:03.980" v="1058" actId="1076"/>
          <ac:spMkLst>
            <pc:docMk/>
            <pc:sldMk cId="333755573" sldId="310"/>
            <ac:spMk id="2" creationId="{B3073348-2673-34E5-AB7F-3BF5CDA00787}"/>
          </ac:spMkLst>
        </pc:spChg>
        <pc:spChg chg="add mod">
          <ac:chgData name="חגית תורג'מן" userId="53f3255f-c3a5-401d-a0c9-dfd4ea4fa378" providerId="ADAL" clId="{BD1F27E5-C715-444C-A4E5-E0E2B3863063}" dt="2026-10-18T19:23:18.266" v="1171" actId="1076"/>
          <ac:spMkLst>
            <pc:docMk/>
            <pc:sldMk cId="333755573" sldId="310"/>
            <ac:spMk id="4" creationId="{F4DC61B6-1583-44C7-552A-79242E05C93D}"/>
          </ac:spMkLst>
        </pc:spChg>
        <pc:spChg chg="mod">
          <ac:chgData name="חגית תורג'מן" userId="53f3255f-c3a5-401d-a0c9-dfd4ea4fa378" providerId="ADAL" clId="{BD1F27E5-C715-444C-A4E5-E0E2B3863063}" dt="2026-10-18T16:51:54.798" v="1057" actId="1037"/>
          <ac:spMkLst>
            <pc:docMk/>
            <pc:sldMk cId="333755573" sldId="310"/>
            <ac:spMk id="5" creationId="{8617A303-5C9E-0384-F5D5-6AF732324D04}"/>
          </ac:spMkLst>
        </pc:spChg>
        <pc:spChg chg="mod">
          <ac:chgData name="חגית תורג'מן" userId="53f3255f-c3a5-401d-a0c9-dfd4ea4fa378" providerId="ADAL" clId="{BD1F27E5-C715-444C-A4E5-E0E2B3863063}" dt="2026-10-18T19:27:29.559" v="1234" actId="1076"/>
          <ac:spMkLst>
            <pc:docMk/>
            <pc:sldMk cId="333755573" sldId="310"/>
            <ac:spMk id="7" creationId="{A6294A99-CAF9-E749-4147-5DC26B50C604}"/>
          </ac:spMkLst>
        </pc:spChg>
        <pc:spChg chg="mod">
          <ac:chgData name="חגית תורג'מן" userId="53f3255f-c3a5-401d-a0c9-dfd4ea4fa378" providerId="ADAL" clId="{BD1F27E5-C715-444C-A4E5-E0E2B3863063}" dt="2026-10-18T19:28:14.355" v="1238" actId="207"/>
          <ac:spMkLst>
            <pc:docMk/>
            <pc:sldMk cId="333755573" sldId="310"/>
            <ac:spMk id="11" creationId="{29A47534-C9E0-9F65-9814-7ADED964EF51}"/>
          </ac:spMkLst>
        </pc:spChg>
        <pc:spChg chg="mod">
          <ac:chgData name="חגית תורג'מן" userId="53f3255f-c3a5-401d-a0c9-dfd4ea4fa378" providerId="ADAL" clId="{BD1F27E5-C715-444C-A4E5-E0E2B3863063}" dt="2026-10-18T19:27:10.373" v="1233"/>
          <ac:spMkLst>
            <pc:docMk/>
            <pc:sldMk cId="333755573" sldId="310"/>
            <ac:spMk id="17" creationId="{B1A6DA2C-B61E-86CC-D137-0382CFEFCB51}"/>
          </ac:spMkLst>
        </pc:spChg>
        <pc:spChg chg="mod">
          <ac:chgData name="חגית תורג'מן" userId="53f3255f-c3a5-401d-a0c9-dfd4ea4fa378" providerId="ADAL" clId="{BD1F27E5-C715-444C-A4E5-E0E2B3863063}" dt="2026-10-18T19:26:54.228" v="1232" actId="790"/>
          <ac:spMkLst>
            <pc:docMk/>
            <pc:sldMk cId="333755573" sldId="310"/>
            <ac:spMk id="19" creationId="{878B7809-4B07-EBB8-9128-2E5910DBBC7D}"/>
          </ac:spMkLst>
        </pc:spChg>
        <pc:spChg chg="mod">
          <ac:chgData name="חגית תורג'מן" userId="53f3255f-c3a5-401d-a0c9-dfd4ea4fa378" providerId="ADAL" clId="{BD1F27E5-C715-444C-A4E5-E0E2B3863063}" dt="2026-10-18T16:51:54.798" v="1057" actId="1037"/>
          <ac:spMkLst>
            <pc:docMk/>
            <pc:sldMk cId="333755573" sldId="310"/>
            <ac:spMk id="21" creationId="{E678C7EA-DE11-56FB-BE17-749D1CD24DB5}"/>
          </ac:spMkLst>
        </pc:spChg>
        <pc:spChg chg="mod">
          <ac:chgData name="חגית תורג'מן" userId="53f3255f-c3a5-401d-a0c9-dfd4ea4fa378" providerId="ADAL" clId="{BD1F27E5-C715-444C-A4E5-E0E2B3863063}" dt="2026-10-18T19:27:34.767" v="1235" actId="14100"/>
          <ac:spMkLst>
            <pc:docMk/>
            <pc:sldMk cId="333755573" sldId="310"/>
            <ac:spMk id="23" creationId="{5596189D-D5A8-9C5A-39E7-12B8D4DC2F32}"/>
          </ac:spMkLst>
        </pc:spChg>
        <pc:spChg chg="mod">
          <ac:chgData name="חגית תורג'מן" userId="53f3255f-c3a5-401d-a0c9-dfd4ea4fa378" providerId="ADAL" clId="{BD1F27E5-C715-444C-A4E5-E0E2B3863063}" dt="2026-10-18T19:23:21.888" v="1172" actId="14100"/>
          <ac:spMkLst>
            <pc:docMk/>
            <pc:sldMk cId="333755573" sldId="310"/>
            <ac:spMk id="25" creationId="{E4329E24-2094-B01E-3786-D4D2945D3569}"/>
          </ac:spMkLst>
        </pc:spChg>
        <pc:spChg chg="mod">
          <ac:chgData name="חגית תורג'מן" userId="53f3255f-c3a5-401d-a0c9-dfd4ea4fa378" providerId="ADAL" clId="{BD1F27E5-C715-444C-A4E5-E0E2B3863063}" dt="2026-10-18T16:51:54.798" v="1057" actId="1037"/>
          <ac:spMkLst>
            <pc:docMk/>
            <pc:sldMk cId="333755573" sldId="310"/>
            <ac:spMk id="27" creationId="{D42038B1-D520-7140-D83F-5FC0D5805316}"/>
          </ac:spMkLst>
        </pc:spChg>
        <pc:spChg chg="mod">
          <ac:chgData name="חגית תורג'מן" userId="53f3255f-c3a5-401d-a0c9-dfd4ea4fa378" providerId="ADAL" clId="{BD1F27E5-C715-444C-A4E5-E0E2B3863063}" dt="2026-10-18T16:51:54.798" v="1057" actId="1037"/>
          <ac:spMkLst>
            <pc:docMk/>
            <pc:sldMk cId="333755573" sldId="310"/>
            <ac:spMk id="29" creationId="{6C8D8DD0-BBEF-6F52-D110-0035C17C7EE6}"/>
          </ac:spMkLst>
        </pc:spChg>
        <pc:spChg chg="mod">
          <ac:chgData name="חגית תורג'מן" userId="53f3255f-c3a5-401d-a0c9-dfd4ea4fa378" providerId="ADAL" clId="{BD1F27E5-C715-444C-A4E5-E0E2B3863063}" dt="2026-10-18T16:51:54.798" v="1057" actId="1037"/>
          <ac:spMkLst>
            <pc:docMk/>
            <pc:sldMk cId="333755573" sldId="310"/>
            <ac:spMk id="31" creationId="{72535FA1-706D-94B8-2FCC-61663FE4E91C}"/>
          </ac:spMkLst>
        </pc:spChg>
      </pc:sldChg>
    </pc:docChg>
  </pc:docChgLst>
</pc:chgInfo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AppData\Local\Packages\5319275A.WhatsAppDesktop_cv1g1gvanyjgm\LocalState\sessions\232C0D489B4236B6CA15B5CC60B17C51B8A6173C\transfers\2026-42\SQLTeamWorktoteam%20(1).xlsx" TargetMode="Externa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oleObject" Target="file:///C:\Users\User\AppData\Local\Packages\5319275A.WhatsAppDesktop_cv1g1gvanyjgm\LocalState\sessions\232C0D489B4236B6CA15B5CC60B17C51B8A6173C\transfers\2026-42\SQLTeamWorktoteam%20(1).xlsx" TargetMode="External"/></Relationships>
</file>

<file path=ppt/charts/_rels/chart9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10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_rels/chart1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9.xml"/><Relationship Id="rId1" Type="http://schemas.microsoft.com/office/2011/relationships/chartStyle" Target="style9.xml"/></Relationships>
</file>

<file path=ppt/charts/_rels/chart1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8.xlsx"/><Relationship Id="rId2" Type="http://schemas.microsoft.com/office/2011/relationships/chartColorStyle" Target="colors10.xml"/><Relationship Id="rId1" Type="http://schemas.microsoft.com/office/2011/relationships/chartStyle" Target="style10.xml"/><Relationship Id="rId4" Type="http://schemas.openxmlformats.org/officeDocument/2006/relationships/chartUserShapes" Target="../drawings/drawing1.xml"/></Relationships>
</file>

<file path=ppt/charts/_rels/chart1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9.xlsx"/><Relationship Id="rId2" Type="http://schemas.microsoft.com/office/2011/relationships/chartColorStyle" Target="colors11.xml"/><Relationship Id="rId1" Type="http://schemas.microsoft.com/office/2011/relationships/chartStyle" Target="style11.xml"/></Relationships>
</file>

<file path=ppt/charts/_rels/chart1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0.xlsx"/><Relationship Id="rId2" Type="http://schemas.microsoft.com/office/2011/relationships/chartColorStyle" Target="colors12.xml"/><Relationship Id="rId1" Type="http://schemas.microsoft.com/office/2011/relationships/chartStyle" Target="style12.xml"/></Relationships>
</file>

<file path=ppt/charts/_rels/chart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1.xlsx"/><Relationship Id="rId2" Type="http://schemas.microsoft.com/office/2011/relationships/chartColorStyle" Target="colors13.xml"/><Relationship Id="rId1" Type="http://schemas.microsoft.com/office/2011/relationships/chartStyle" Target="style13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6.xml"/><Relationship Id="rId2" Type="http://schemas.microsoft.com/office/2011/relationships/chartStyle" Target="style6.xml"/><Relationship Id="rId1" Type="http://schemas.openxmlformats.org/officeDocument/2006/relationships/oleObject" Target="file:///C:\Users\User\AppData\Local\Packages\5319275A.WhatsAppDesktop_cv1g1gvanyjgm\LocalState\sessions\232C0D489B4236B6CA15B5CC60B17C51B8A6173C\transfers\2026-42\SQLTeamWorktoteam%20(1)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Popularity index</c:v>
          </c:tx>
          <c:spPr>
            <a:ln>
              <a:noFill/>
            </a:ln>
          </c:spPr>
          <c:marker>
            <c:symbol val="circle"/>
            <c:size val="7"/>
            <c:spPr>
              <a:solidFill>
                <a:srgbClr val="1E6685"/>
              </a:solidFill>
              <a:ln>
                <a:solidFill>
                  <a:srgbClr val="FFFFFF"/>
                </a:solidFill>
              </a:ln>
            </c:spPr>
          </c:marker>
          <c:dPt>
            <c:idx val="0"/>
            <c:marker>
              <c:symbol val="circle"/>
              <c:size val="8"/>
              <c:spPr>
                <a:solidFill>
                  <a:srgbClr val="F27430"/>
                </a:solidFill>
                <a:ln>
                  <a:solidFill>
                    <a:srgbClr val="FFFF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0-502F-4767-A07E-8B645025ECAD}"/>
              </c:ext>
            </c:extLst>
          </c:dPt>
          <c:dPt>
            <c:idx val="1"/>
            <c:marker>
              <c:symbol val="circle"/>
              <c:size val="8"/>
              <c:spPr>
                <a:solidFill>
                  <a:srgbClr val="F27430"/>
                </a:solidFill>
                <a:ln>
                  <a:solidFill>
                    <a:srgbClr val="FFFF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1-502F-4767-A07E-8B645025ECAD}"/>
              </c:ext>
            </c:extLst>
          </c:dPt>
          <c:dPt>
            <c:idx val="2"/>
            <c:marker>
              <c:symbol val="circle"/>
              <c:size val="8"/>
              <c:spPr>
                <a:solidFill>
                  <a:srgbClr val="F27430"/>
                </a:solidFill>
                <a:ln>
                  <a:solidFill>
                    <a:srgbClr val="FFFF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2-502F-4767-A07E-8B645025ECAD}"/>
              </c:ext>
            </c:extLst>
          </c:dPt>
          <c:dPt>
            <c:idx val="22"/>
            <c:marker>
              <c:symbol val="circle"/>
              <c:size val="8"/>
              <c:spPr>
                <a:solidFill>
                  <a:srgbClr val="94A3B8"/>
                </a:solidFill>
                <a:ln>
                  <a:solidFill>
                    <a:srgbClr val="FFFF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3-502F-4767-A07E-8B645025ECAD}"/>
              </c:ext>
            </c:extLst>
          </c:dPt>
          <c:dPt>
            <c:idx val="23"/>
            <c:marker>
              <c:symbol val="circle"/>
              <c:size val="8"/>
              <c:spPr>
                <a:solidFill>
                  <a:srgbClr val="94A3B8"/>
                </a:solidFill>
                <a:ln>
                  <a:solidFill>
                    <a:srgbClr val="FFFF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4-502F-4767-A07E-8B645025ECAD}"/>
              </c:ext>
            </c:extLst>
          </c:dPt>
          <c:dPt>
            <c:idx val="24"/>
            <c:marker>
              <c:symbol val="circle"/>
              <c:size val="8"/>
              <c:spPr>
                <a:solidFill>
                  <a:srgbClr val="C2413B"/>
                </a:solidFill>
                <a:ln>
                  <a:solidFill>
                    <a:srgbClr val="FFFFFF"/>
                  </a:solidFill>
                  <a:prstDash val="solid"/>
                </a:ln>
              </c:spPr>
            </c:marker>
            <c:bubble3D val="0"/>
            <c:extLst>
              <c:ext xmlns:c16="http://schemas.microsoft.com/office/drawing/2014/chart" uri="{C3380CC4-5D6E-409C-BE32-E72D297353CC}">
                <c16:uniqueId val="{00000005-502F-4767-A07E-8B645025ECAD}"/>
              </c:ext>
            </c:extLst>
          </c:dPt>
          <c:dLbls>
            <c:dLbl>
              <c:idx val="0"/>
              <c:tx>
                <c:rich>
                  <a:bodyPr/>
                  <a:lstStyle/>
                  <a:p>
                    <a:r>
                      <a:rPr lang="en-US" sz="850"/>
                      <a:t>642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0-502F-4767-A07E-8B645025EC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50"/>
                      <a:t>636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1-502F-4767-A07E-8B645025ECA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50"/>
                      <a:t>630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2-502F-4767-A07E-8B645025ECA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50"/>
                      <a:t>623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6-83D5-44CF-A98E-AA083A56AC1C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50"/>
                      <a:t>618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83D5-44CF-A98E-AA083A56AC1C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850"/>
                      <a:t>615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83D5-44CF-A98E-AA083A56AC1C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850"/>
                      <a:t>613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83D5-44CF-A98E-AA083A56AC1C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850"/>
                      <a:t>613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83D5-44CF-A98E-AA083A56AC1C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850"/>
                      <a:t>606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83D5-44CF-A98E-AA083A56AC1C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850"/>
                      <a:t>603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83D5-44CF-A98E-AA083A56AC1C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850"/>
                      <a:t>601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83D5-44CF-A98E-AA083A56AC1C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850"/>
                      <a:t>598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83D5-44CF-A98E-AA083A56AC1C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850"/>
                      <a:t>596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83D5-44CF-A98E-AA083A56AC1C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850"/>
                      <a:t>586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83D5-44CF-A98E-AA083A56AC1C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850"/>
                      <a:t>583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83D5-44CF-A98E-AA083A56AC1C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850"/>
                      <a:t>581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83D5-44CF-A98E-AA083A56AC1C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850"/>
                      <a:t>578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83D5-44CF-A98E-AA083A56AC1C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850"/>
                      <a:t>562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83D5-44CF-A98E-AA083A56AC1C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 sz="850"/>
                      <a:t>562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83D5-44CF-A98E-AA083A56AC1C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850"/>
                      <a:t>556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83D5-44CF-A98E-AA083A56AC1C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 sz="850"/>
                      <a:t>549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83D5-44CF-A98E-AA083A56AC1C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 sz="850"/>
                      <a:t>545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83D5-44CF-A98E-AA083A56AC1C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 sz="850"/>
                      <a:t>541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3-502F-4767-A07E-8B645025ECAD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850"/>
                      <a:t>537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4-502F-4767-A07E-8B645025ECAD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850"/>
                      <a:t>452</a:t>
                    </a:r>
                  </a:p>
                </c:rich>
              </c:tx>
              <c:dLblPos val="r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5-502F-4767-A07E-8B645025ECAD}"/>
                </c:ext>
              </c:extLst>
            </c:dLbl>
            <c:spPr>
              <a:noFill/>
              <a:ln>
                <a:noFill/>
              </a:ln>
              <a:effectLst/>
            </c:sp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errBars>
            <c:errDir val="x"/>
            <c:errBarType val="minus"/>
            <c:errValType val="cust"/>
            <c:noEndCap val="1"/>
            <c:plus>
              <c:numLit>
                <c:formatCode>0.0</c:formatCode>
                <c:ptCount val="25"/>
                <c:pt idx="0">
                  <c:v>0</c:v>
                </c:pt>
                <c:pt idx="1">
                  <c:v>0</c:v>
                </c:pt>
                <c:pt idx="2">
                  <c:v>0</c:v>
                </c:pt>
                <c:pt idx="3">
                  <c:v>0</c:v>
                </c:pt>
                <c:pt idx="4">
                  <c:v>0</c:v>
                </c:pt>
                <c:pt idx="5">
                  <c:v>0</c:v>
                </c:pt>
                <c:pt idx="6">
                  <c:v>0</c:v>
                </c:pt>
                <c:pt idx="7">
                  <c:v>0</c:v>
                </c:pt>
                <c:pt idx="8">
                  <c:v>0</c:v>
                </c:pt>
                <c:pt idx="9">
                  <c:v>0</c:v>
                </c:pt>
                <c:pt idx="10">
                  <c:v>0</c:v>
                </c:pt>
                <c:pt idx="11">
                  <c:v>0</c:v>
                </c:pt>
                <c:pt idx="12">
                  <c:v>0</c:v>
                </c:pt>
                <c:pt idx="13">
                  <c:v>0</c:v>
                </c:pt>
                <c:pt idx="14">
                  <c:v>0</c:v>
                </c:pt>
                <c:pt idx="15">
                  <c:v>0</c:v>
                </c:pt>
                <c:pt idx="16">
                  <c:v>0</c:v>
                </c:pt>
                <c:pt idx="17">
                  <c:v>0</c:v>
                </c:pt>
                <c:pt idx="18">
                  <c:v>0</c:v>
                </c:pt>
                <c:pt idx="19">
                  <c:v>0</c:v>
                </c:pt>
                <c:pt idx="20">
                  <c:v>0</c:v>
                </c:pt>
                <c:pt idx="21">
                  <c:v>0</c:v>
                </c:pt>
                <c:pt idx="22">
                  <c:v>0</c:v>
                </c:pt>
                <c:pt idx="23">
                  <c:v>0</c:v>
                </c:pt>
                <c:pt idx="24">
                  <c:v>0</c:v>
                </c:pt>
              </c:numLit>
            </c:plus>
            <c:minus>
              <c:numLit>
                <c:formatCode>0.0</c:formatCode>
                <c:ptCount val="25"/>
                <c:pt idx="0">
                  <c:v>642.29999999999995</c:v>
                </c:pt>
                <c:pt idx="1">
                  <c:v>635.9</c:v>
                </c:pt>
                <c:pt idx="2">
                  <c:v>629.9</c:v>
                </c:pt>
                <c:pt idx="3">
                  <c:v>623.29999999999995</c:v>
                </c:pt>
                <c:pt idx="4">
                  <c:v>617.79999999999995</c:v>
                </c:pt>
                <c:pt idx="5">
                  <c:v>614.6</c:v>
                </c:pt>
                <c:pt idx="6">
                  <c:v>613.4</c:v>
                </c:pt>
                <c:pt idx="7">
                  <c:v>613.4</c:v>
                </c:pt>
                <c:pt idx="8">
                  <c:v>605.6</c:v>
                </c:pt>
                <c:pt idx="9">
                  <c:v>602.9</c:v>
                </c:pt>
                <c:pt idx="10">
                  <c:v>600.6</c:v>
                </c:pt>
                <c:pt idx="11">
                  <c:v>597.6</c:v>
                </c:pt>
                <c:pt idx="12">
                  <c:v>596.4</c:v>
                </c:pt>
                <c:pt idx="13">
                  <c:v>586.20000000000005</c:v>
                </c:pt>
                <c:pt idx="14">
                  <c:v>582.70000000000005</c:v>
                </c:pt>
                <c:pt idx="15">
                  <c:v>580.9</c:v>
                </c:pt>
                <c:pt idx="16">
                  <c:v>577.6</c:v>
                </c:pt>
                <c:pt idx="17">
                  <c:v>562.1</c:v>
                </c:pt>
                <c:pt idx="18">
                  <c:v>561.6</c:v>
                </c:pt>
                <c:pt idx="19">
                  <c:v>556.1</c:v>
                </c:pt>
                <c:pt idx="20">
                  <c:v>549</c:v>
                </c:pt>
                <c:pt idx="21">
                  <c:v>544.9</c:v>
                </c:pt>
                <c:pt idx="22">
                  <c:v>541</c:v>
                </c:pt>
                <c:pt idx="23">
                  <c:v>536.6</c:v>
                </c:pt>
                <c:pt idx="24">
                  <c:v>452.4</c:v>
                </c:pt>
              </c:numLit>
            </c:minus>
            <c:spPr>
              <a:ln w="12700">
                <a:solidFill>
                  <a:srgbClr val="CBD5E1"/>
                </a:solidFill>
                <a:prstDash val="solid"/>
              </a:ln>
            </c:spPr>
          </c:errBars>
          <c:xVal>
            <c:numLit>
              <c:formatCode>0.0</c:formatCode>
              <c:ptCount val="25"/>
              <c:pt idx="0">
                <c:v>642.29999999999995</c:v>
              </c:pt>
              <c:pt idx="1">
                <c:v>635.9</c:v>
              </c:pt>
              <c:pt idx="2">
                <c:v>629.9</c:v>
              </c:pt>
              <c:pt idx="3">
                <c:v>623.29999999999995</c:v>
              </c:pt>
              <c:pt idx="4">
                <c:v>617.79999999999995</c:v>
              </c:pt>
              <c:pt idx="5">
                <c:v>614.6</c:v>
              </c:pt>
              <c:pt idx="6">
                <c:v>613.4</c:v>
              </c:pt>
              <c:pt idx="7">
                <c:v>613.4</c:v>
              </c:pt>
              <c:pt idx="8">
                <c:v>605.6</c:v>
              </c:pt>
              <c:pt idx="9">
                <c:v>602.9</c:v>
              </c:pt>
              <c:pt idx="10">
                <c:v>600.6</c:v>
              </c:pt>
              <c:pt idx="11">
                <c:v>597.6</c:v>
              </c:pt>
              <c:pt idx="12">
                <c:v>596.4</c:v>
              </c:pt>
              <c:pt idx="13">
                <c:v>586.20000000000005</c:v>
              </c:pt>
              <c:pt idx="14">
                <c:v>582.70000000000005</c:v>
              </c:pt>
              <c:pt idx="15">
                <c:v>580.9</c:v>
              </c:pt>
              <c:pt idx="16">
                <c:v>577.6</c:v>
              </c:pt>
              <c:pt idx="17">
                <c:v>562.1</c:v>
              </c:pt>
              <c:pt idx="18">
                <c:v>561.6</c:v>
              </c:pt>
              <c:pt idx="19">
                <c:v>556.1</c:v>
              </c:pt>
              <c:pt idx="20">
                <c:v>549</c:v>
              </c:pt>
              <c:pt idx="21">
                <c:v>544.9</c:v>
              </c:pt>
              <c:pt idx="22">
                <c:v>541</c:v>
              </c:pt>
              <c:pt idx="23">
                <c:v>536.6</c:v>
              </c:pt>
              <c:pt idx="24">
                <c:v>452.4</c:v>
              </c:pt>
            </c:numLit>
          </c:xVal>
          <c:yVal>
            <c:numLit>
              <c:formatCode>0.0</c:formatCode>
              <c:ptCount val="25"/>
              <c:pt idx="0">
                <c:v>25</c:v>
              </c:pt>
              <c:pt idx="1">
                <c:v>24</c:v>
              </c:pt>
              <c:pt idx="2">
                <c:v>23</c:v>
              </c:pt>
              <c:pt idx="3">
                <c:v>22</c:v>
              </c:pt>
              <c:pt idx="4">
                <c:v>21</c:v>
              </c:pt>
              <c:pt idx="5">
                <c:v>20</c:v>
              </c:pt>
              <c:pt idx="6">
                <c:v>19</c:v>
              </c:pt>
              <c:pt idx="7">
                <c:v>18</c:v>
              </c:pt>
              <c:pt idx="8">
                <c:v>17</c:v>
              </c:pt>
              <c:pt idx="9">
                <c:v>16</c:v>
              </c:pt>
              <c:pt idx="10">
                <c:v>15</c:v>
              </c:pt>
              <c:pt idx="11">
                <c:v>14</c:v>
              </c:pt>
              <c:pt idx="12">
                <c:v>13</c:v>
              </c:pt>
              <c:pt idx="13">
                <c:v>12</c:v>
              </c:pt>
              <c:pt idx="14">
                <c:v>11</c:v>
              </c:pt>
              <c:pt idx="15">
                <c:v>10</c:v>
              </c:pt>
              <c:pt idx="16">
                <c:v>9</c:v>
              </c:pt>
              <c:pt idx="17">
                <c:v>8</c:v>
              </c:pt>
              <c:pt idx="18">
                <c:v>7</c:v>
              </c:pt>
              <c:pt idx="19">
                <c:v>6</c:v>
              </c:pt>
              <c:pt idx="20">
                <c:v>5</c:v>
              </c:pt>
              <c:pt idx="21">
                <c:v>4</c:v>
              </c:pt>
              <c:pt idx="22">
                <c:v>3</c:v>
              </c:pt>
              <c:pt idx="23">
                <c:v>2</c:v>
              </c:pt>
              <c:pt idx="24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06-502F-4767-A07E-8B645025ECAD}"/>
            </c:ext>
          </c:extLst>
        </c:ser>
        <c:ser>
          <c:idx val="1"/>
          <c:order val="1"/>
          <c:tx>
            <c:v>Products</c:v>
          </c:tx>
          <c:spPr>
            <a:ln>
              <a:noFill/>
            </a:ln>
          </c:spPr>
          <c:marker>
            <c:symbol val="none"/>
          </c:marker>
          <c:dLbls>
            <c:dLbl>
              <c:idx val="0"/>
              <c:tx>
                <c:rich>
                  <a:bodyPr/>
                  <a:lstStyle/>
                  <a:p>
                    <a:r>
                      <a:rPr lang="en-US" sz="850"/>
                      <a:t>Jewelry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7-502F-4767-A07E-8B645025ECAD}"/>
                </c:ext>
              </c:extLst>
            </c:dLbl>
            <c:dLbl>
              <c:idx val="1"/>
              <c:tx>
                <c:rich>
                  <a:bodyPr/>
                  <a:lstStyle/>
                  <a:p>
                    <a:r>
                      <a:rPr lang="en-US" sz="850"/>
                      <a:t>Pants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8-502F-4767-A07E-8B645025ECAD}"/>
                </c:ext>
              </c:extLst>
            </c:dLbl>
            <c:dLbl>
              <c:idx val="2"/>
              <c:tx>
                <c:rich>
                  <a:bodyPr/>
                  <a:lstStyle/>
                  <a:p>
                    <a:r>
                      <a:rPr lang="en-US" sz="850"/>
                      <a:t>Blouse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9-502F-4767-A07E-8B645025ECAD}"/>
                </c:ext>
              </c:extLst>
            </c:dLbl>
            <c:dLbl>
              <c:idx val="3"/>
              <c:tx>
                <c:rich>
                  <a:bodyPr/>
                  <a:lstStyle/>
                  <a:p>
                    <a:r>
                      <a:rPr lang="en-US" sz="850"/>
                      <a:t>Dress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A-502F-4767-A07E-8B645025ECAD}"/>
                </c:ext>
              </c:extLst>
            </c:dLbl>
            <c:dLbl>
              <c:idx val="4"/>
              <c:tx>
                <c:rich>
                  <a:bodyPr/>
                  <a:lstStyle/>
                  <a:p>
                    <a:r>
                      <a:rPr lang="en-US" sz="850"/>
                      <a:t>Sweater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B-502F-4767-A07E-8B645025ECAD}"/>
                </c:ext>
              </c:extLst>
            </c:dLbl>
            <c:dLbl>
              <c:idx val="5"/>
              <c:tx>
                <c:rich>
                  <a:bodyPr/>
                  <a:lstStyle/>
                  <a:p>
                    <a:r>
                      <a:rPr lang="en-US" sz="850"/>
                      <a:t>Sandals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C-502F-4767-A07E-8B645025ECAD}"/>
                </c:ext>
              </c:extLst>
            </c:dLbl>
            <c:dLbl>
              <c:idx val="6"/>
              <c:tx>
                <c:rich>
                  <a:bodyPr/>
                  <a:lstStyle/>
                  <a:p>
                    <a:r>
                      <a:rPr lang="en-US" sz="850"/>
                      <a:t>Jacket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D-502F-4767-A07E-8B645025ECAD}"/>
                </c:ext>
              </c:extLst>
            </c:dLbl>
            <c:dLbl>
              <c:idx val="7"/>
              <c:tx>
                <c:rich>
                  <a:bodyPr/>
                  <a:lstStyle/>
                  <a:p>
                    <a:r>
                      <a:rPr lang="en-US" sz="850"/>
                      <a:t>Shirt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E-502F-4767-A07E-8B645025ECAD}"/>
                </c:ext>
              </c:extLst>
            </c:dLbl>
            <c:dLbl>
              <c:idx val="8"/>
              <c:tx>
                <c:rich>
                  <a:bodyPr/>
                  <a:lstStyle/>
                  <a:p>
                    <a:r>
                      <a:rPr lang="en-US" sz="850"/>
                      <a:t>Belt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0F-502F-4767-A07E-8B645025ECAD}"/>
                </c:ext>
              </c:extLst>
            </c:dLbl>
            <c:dLbl>
              <c:idx val="9"/>
              <c:tx>
                <c:rich>
                  <a:bodyPr/>
                  <a:lstStyle/>
                  <a:p>
                    <a:r>
                      <a:rPr lang="en-US" sz="850"/>
                      <a:t>Sunglasses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0-502F-4767-A07E-8B645025ECAD}"/>
                </c:ext>
              </c:extLst>
            </c:dLbl>
            <c:dLbl>
              <c:idx val="10"/>
              <c:tx>
                <c:rich>
                  <a:bodyPr/>
                  <a:lstStyle/>
                  <a:p>
                    <a:r>
                      <a:rPr lang="en-US" sz="850"/>
                      <a:t>Coat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1-502F-4767-A07E-8B645025ECAD}"/>
                </c:ext>
              </c:extLst>
            </c:dLbl>
            <c:dLbl>
              <c:idx val="11"/>
              <c:tx>
                <c:rich>
                  <a:bodyPr/>
                  <a:lstStyle/>
                  <a:p>
                    <a:r>
                      <a:rPr lang="en-US" sz="850"/>
                      <a:t>Skirt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2-502F-4767-A07E-8B645025ECAD}"/>
                </c:ext>
              </c:extLst>
            </c:dLbl>
            <c:dLbl>
              <c:idx val="12"/>
              <c:tx>
                <c:rich>
                  <a:bodyPr/>
                  <a:lstStyle/>
                  <a:p>
                    <a:r>
                      <a:rPr lang="en-US" sz="850"/>
                      <a:t>Socks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3-502F-4767-A07E-8B645025ECAD}"/>
                </c:ext>
              </c:extLst>
            </c:dLbl>
            <c:dLbl>
              <c:idx val="13"/>
              <c:tx>
                <c:rich>
                  <a:bodyPr/>
                  <a:lstStyle/>
                  <a:p>
                    <a:r>
                      <a:rPr lang="en-US" sz="850"/>
                      <a:t>Hat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4-502F-4767-A07E-8B645025ECAD}"/>
                </c:ext>
              </c:extLst>
            </c:dLbl>
            <c:dLbl>
              <c:idx val="14"/>
              <c:tx>
                <c:rich>
                  <a:bodyPr/>
                  <a:lstStyle/>
                  <a:p>
                    <a:r>
                      <a:rPr lang="en-US" sz="850"/>
                      <a:t>Shorts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5-502F-4767-A07E-8B645025ECAD}"/>
                </c:ext>
              </c:extLst>
            </c:dLbl>
            <c:dLbl>
              <c:idx val="15"/>
              <c:tx>
                <c:rich>
                  <a:bodyPr/>
                  <a:lstStyle/>
                  <a:p>
                    <a:r>
                      <a:rPr lang="en-US" sz="850"/>
                      <a:t>Scarf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6-502F-4767-A07E-8B645025ECAD}"/>
                </c:ext>
              </c:extLst>
            </c:dLbl>
            <c:dLbl>
              <c:idx val="16"/>
              <c:tx>
                <c:rich>
                  <a:bodyPr/>
                  <a:lstStyle/>
                  <a:p>
                    <a:r>
                      <a:rPr lang="en-US" sz="850"/>
                      <a:t>Handbag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7-502F-4767-A07E-8B645025ECAD}"/>
                </c:ext>
              </c:extLst>
            </c:dLbl>
            <c:dLbl>
              <c:idx val="17"/>
              <c:tx>
                <c:rich>
                  <a:bodyPr/>
                  <a:lstStyle/>
                  <a:p>
                    <a:r>
                      <a:rPr lang="en-US" sz="850"/>
                      <a:t>Shoes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8-502F-4767-A07E-8B645025ECAD}"/>
                </c:ext>
              </c:extLst>
            </c:dLbl>
            <c:dLbl>
              <c:idx val="18"/>
              <c:tx>
                <c:rich>
                  <a:bodyPr/>
                  <a:lstStyle/>
                  <a:p>
                    <a:r>
                      <a:rPr lang="en-US" sz="850"/>
                      <a:t>Hoodie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9-502F-4767-A07E-8B645025ECAD}"/>
                </c:ext>
              </c:extLst>
            </c:dLbl>
            <c:dLbl>
              <c:idx val="19"/>
              <c:tx>
                <c:rich>
                  <a:bodyPr/>
                  <a:lstStyle/>
                  <a:p>
                    <a:r>
                      <a:rPr lang="en-US" sz="850"/>
                      <a:t>T-shirt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A-502F-4767-A07E-8B645025ECAD}"/>
                </c:ext>
              </c:extLst>
            </c:dLbl>
            <c:dLbl>
              <c:idx val="20"/>
              <c:tx>
                <c:rich>
                  <a:bodyPr/>
                  <a:lstStyle/>
                  <a:p>
                    <a:r>
                      <a:rPr lang="en-US" sz="850"/>
                      <a:t>Boots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B-502F-4767-A07E-8B645025ECAD}"/>
                </c:ext>
              </c:extLst>
            </c:dLbl>
            <c:dLbl>
              <c:idx val="21"/>
              <c:tx>
                <c:rich>
                  <a:bodyPr/>
                  <a:lstStyle/>
                  <a:p>
                    <a:r>
                      <a:rPr lang="en-US" sz="850"/>
                      <a:t>Sneakers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C-502F-4767-A07E-8B645025ECAD}"/>
                </c:ext>
              </c:extLst>
            </c:dLbl>
            <c:dLbl>
              <c:idx val="22"/>
              <c:tx>
                <c:rich>
                  <a:bodyPr/>
                  <a:lstStyle/>
                  <a:p>
                    <a:r>
                      <a:rPr lang="en-US" sz="850"/>
                      <a:t>Gloves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D-502F-4767-A07E-8B645025ECAD}"/>
                </c:ext>
              </c:extLst>
            </c:dLbl>
            <c:dLbl>
              <c:idx val="23"/>
              <c:tx>
                <c:rich>
                  <a:bodyPr/>
                  <a:lstStyle/>
                  <a:p>
                    <a:r>
                      <a:rPr lang="en-US" sz="850"/>
                      <a:t>Backpack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E-502F-4767-A07E-8B645025ECAD}"/>
                </c:ext>
              </c:extLst>
            </c:dLbl>
            <c:dLbl>
              <c:idx val="24"/>
              <c:tx>
                <c:rich>
                  <a:bodyPr/>
                  <a:lstStyle/>
                  <a:p>
                    <a:r>
                      <a:rPr lang="en-US" sz="850"/>
                      <a:t>Jeans</a:t>
                    </a:r>
                  </a:p>
                </c:rich>
              </c:tx>
              <c:dLblPos val="l"/>
              <c:showLegendKey val="0"/>
              <c:showVal val="0"/>
              <c:showCatName val="0"/>
              <c:showSerName val="0"/>
              <c:showPercent val="1"/>
              <c:showBubbleSize val="1"/>
              <c:extLst>
                <c:ext xmlns:c15="http://schemas.microsoft.com/office/drawing/2012/chart" uri="{CE6537A1-D6FC-4f65-9D91-7224C49458BB}">
                  <c15:showDataLabelsRange val="0"/>
                </c:ext>
                <c:ext xmlns:c16="http://schemas.microsoft.com/office/drawing/2014/chart" uri="{C3380CC4-5D6E-409C-BE32-E72D297353CC}">
                  <c16:uniqueId val="{0000001F-502F-4767-A07E-8B645025ECAD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600"/>
                </a:pPr>
                <a:endParaRPr lang="he-IL"/>
              </a:p>
            </c:txPr>
            <c:showLegendKey val="0"/>
            <c:showVal val="0"/>
            <c:showCatName val="0"/>
            <c:showSerName val="0"/>
            <c:showPercent val="0"/>
            <c:showBubbleSize val="1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xVal>
            <c:numLit>
              <c:formatCode>0.0</c:formatCode>
              <c:ptCount val="25"/>
              <c:pt idx="0">
                <c:v>0</c:v>
              </c:pt>
              <c:pt idx="1">
                <c:v>0</c:v>
              </c:pt>
              <c:pt idx="2">
                <c:v>0</c:v>
              </c:pt>
              <c:pt idx="3">
                <c:v>0</c:v>
              </c:pt>
              <c:pt idx="4">
                <c:v>0</c:v>
              </c:pt>
              <c:pt idx="5">
                <c:v>0</c:v>
              </c:pt>
              <c:pt idx="6">
                <c:v>0</c:v>
              </c:pt>
              <c:pt idx="7">
                <c:v>0</c:v>
              </c:pt>
              <c:pt idx="8">
                <c:v>0</c:v>
              </c:pt>
              <c:pt idx="9">
                <c:v>0</c:v>
              </c:pt>
              <c:pt idx="10">
                <c:v>0</c:v>
              </c:pt>
              <c:pt idx="11">
                <c:v>0</c:v>
              </c:pt>
              <c:pt idx="12">
                <c:v>0</c:v>
              </c:pt>
              <c:pt idx="13">
                <c:v>0</c:v>
              </c:pt>
              <c:pt idx="14">
                <c:v>0</c:v>
              </c:pt>
              <c:pt idx="15">
                <c:v>0</c:v>
              </c:pt>
              <c:pt idx="16">
                <c:v>0</c:v>
              </c:pt>
              <c:pt idx="17">
                <c:v>0</c:v>
              </c:pt>
              <c:pt idx="18">
                <c:v>0</c:v>
              </c:pt>
              <c:pt idx="19">
                <c:v>0</c:v>
              </c:pt>
              <c:pt idx="20">
                <c:v>0</c:v>
              </c:pt>
              <c:pt idx="21">
                <c:v>0</c:v>
              </c:pt>
              <c:pt idx="22">
                <c:v>0</c:v>
              </c:pt>
              <c:pt idx="23">
                <c:v>0</c:v>
              </c:pt>
              <c:pt idx="24">
                <c:v>0</c:v>
              </c:pt>
            </c:numLit>
          </c:xVal>
          <c:yVal>
            <c:numLit>
              <c:formatCode>0.0</c:formatCode>
              <c:ptCount val="25"/>
              <c:pt idx="0">
                <c:v>25</c:v>
              </c:pt>
              <c:pt idx="1">
                <c:v>24</c:v>
              </c:pt>
              <c:pt idx="2">
                <c:v>23</c:v>
              </c:pt>
              <c:pt idx="3">
                <c:v>22</c:v>
              </c:pt>
              <c:pt idx="4">
                <c:v>21</c:v>
              </c:pt>
              <c:pt idx="5">
                <c:v>20</c:v>
              </c:pt>
              <c:pt idx="6">
                <c:v>19</c:v>
              </c:pt>
              <c:pt idx="7">
                <c:v>18</c:v>
              </c:pt>
              <c:pt idx="8">
                <c:v>17</c:v>
              </c:pt>
              <c:pt idx="9">
                <c:v>16</c:v>
              </c:pt>
              <c:pt idx="10">
                <c:v>15</c:v>
              </c:pt>
              <c:pt idx="11">
                <c:v>14</c:v>
              </c:pt>
              <c:pt idx="12">
                <c:v>13</c:v>
              </c:pt>
              <c:pt idx="13">
                <c:v>12</c:v>
              </c:pt>
              <c:pt idx="14">
                <c:v>11</c:v>
              </c:pt>
              <c:pt idx="15">
                <c:v>10</c:v>
              </c:pt>
              <c:pt idx="16">
                <c:v>9</c:v>
              </c:pt>
              <c:pt idx="17">
                <c:v>8</c:v>
              </c:pt>
              <c:pt idx="18">
                <c:v>7</c:v>
              </c:pt>
              <c:pt idx="19">
                <c:v>6</c:v>
              </c:pt>
              <c:pt idx="20">
                <c:v>5</c:v>
              </c:pt>
              <c:pt idx="21">
                <c:v>4</c:v>
              </c:pt>
              <c:pt idx="22">
                <c:v>3</c:v>
              </c:pt>
              <c:pt idx="23">
                <c:v>2</c:v>
              </c:pt>
              <c:pt idx="24">
                <c:v>1</c:v>
              </c:pt>
            </c:numLit>
          </c:yVal>
          <c:smooth val="0"/>
          <c:extLst>
            <c:ext xmlns:c16="http://schemas.microsoft.com/office/drawing/2014/chart" uri="{C3380CC4-5D6E-409C-BE32-E72D297353CC}">
              <c16:uniqueId val="{00000020-502F-4767-A07E-8B645025ECAD}"/>
            </c:ext>
          </c:extLst>
        </c:ser>
        <c:dLbls>
          <c:showLegendKey val="0"/>
          <c:showVal val="0"/>
          <c:showCatName val="1"/>
          <c:showSerName val="1"/>
          <c:showPercent val="1"/>
          <c:showBubbleSize val="1"/>
        </c:dLbls>
        <c:axId val="310001"/>
        <c:axId val="310002"/>
      </c:scatterChart>
      <c:valAx>
        <c:axId val="310001"/>
        <c:scaling>
          <c:orientation val="minMax"/>
          <c:max val="700"/>
          <c:min val="0"/>
        </c:scaling>
        <c:delete val="1"/>
        <c:axPos val="b"/>
        <c:numFmt formatCode="0" sourceLinked="0"/>
        <c:majorTickMark val="none"/>
        <c:minorTickMark val="none"/>
        <c:tickLblPos val="nextTo"/>
        <c:crossAx val="310002"/>
        <c:crosses val="min"/>
        <c:crossBetween val="midCat"/>
        <c:majorUnit val="100"/>
      </c:valAx>
      <c:valAx>
        <c:axId val="310002"/>
        <c:scaling>
          <c:orientation val="minMax"/>
          <c:max val="25.5"/>
          <c:min val="0.5"/>
        </c:scaling>
        <c:delete val="1"/>
        <c:axPos val="l"/>
        <c:numFmt formatCode="0.0" sourceLinked="1"/>
        <c:majorTickMark val="none"/>
        <c:minorTickMark val="none"/>
        <c:tickLblPos val="none"/>
        <c:crossAx val="310001"/>
        <c:crosses val="min"/>
        <c:crossBetween val="midCat"/>
      </c:valAx>
    </c:plotArea>
    <c:plotVisOnly val="1"/>
    <c:dispBlanksAs val="gap"/>
    <c:showDLblsOverMax val="0"/>
  </c:chart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Accessories</a:t>
            </a:r>
            <a:endParaRPr lang="he-I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A267-4ACF-A294-22C66D09E5BC}"/>
              </c:ext>
            </c:extLst>
          </c:dPt>
          <c:cat>
            <c:strRef>
              <c:f>גיליון1!$A$2:$A$9</c:f>
              <c:strCache>
                <c:ptCount val="8"/>
                <c:pt idx="0">
                  <c:v>Jewelry</c:v>
                </c:pt>
                <c:pt idx="1">
                  <c:v>Belt</c:v>
                </c:pt>
                <c:pt idx="2">
                  <c:v>Sunglasses</c:v>
                </c:pt>
                <c:pt idx="3">
                  <c:v>Hat</c:v>
                </c:pt>
                <c:pt idx="4">
                  <c:v>Scarf</c:v>
                </c:pt>
                <c:pt idx="5">
                  <c:v>Handbag</c:v>
                </c:pt>
                <c:pt idx="6">
                  <c:v>Gloves</c:v>
                </c:pt>
                <c:pt idx="7">
                  <c:v>Backpack</c:v>
                </c:pt>
              </c:strCache>
            </c:strRef>
          </c:cat>
          <c:val>
            <c:numRef>
              <c:f>גיליון1!$B$2:$B$9</c:f>
              <c:numCache>
                <c:formatCode>General</c:formatCode>
                <c:ptCount val="8"/>
                <c:pt idx="0">
                  <c:v>642.29999999999973</c:v>
                </c:pt>
                <c:pt idx="1">
                  <c:v>605.5999999999998</c:v>
                </c:pt>
                <c:pt idx="2">
                  <c:v>602.90000000000009</c:v>
                </c:pt>
                <c:pt idx="3">
                  <c:v>586.19999999999982</c:v>
                </c:pt>
                <c:pt idx="4">
                  <c:v>580.9</c:v>
                </c:pt>
                <c:pt idx="5">
                  <c:v>577.6</c:v>
                </c:pt>
                <c:pt idx="6">
                  <c:v>541.00000000000011</c:v>
                </c:pt>
                <c:pt idx="7">
                  <c:v>536.59999999999957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B27-4E9B-B765-70EDFB09B5A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86240320"/>
        <c:axId val="220545808"/>
      </c:barChart>
      <c:catAx>
        <c:axId val="986240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220545808"/>
        <c:crosses val="autoZero"/>
        <c:auto val="1"/>
        <c:lblAlgn val="ctr"/>
        <c:lblOffset val="100"/>
        <c:noMultiLvlLbl val="0"/>
      </c:catAx>
      <c:valAx>
        <c:axId val="220545808"/>
        <c:scaling>
          <c:orientation val="minMax"/>
          <c:max val="800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8624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Clothing</a:t>
            </a:r>
            <a:endParaRPr lang="he-I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1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024D-433D-AF1E-2119A7A900F0}"/>
              </c:ext>
            </c:extLst>
          </c:dPt>
          <c:cat>
            <c:strRef>
              <c:f>גיליון1!$A$2:$A$12</c:f>
              <c:strCache>
                <c:ptCount val="11"/>
                <c:pt idx="0">
                  <c:v>Pants</c:v>
                </c:pt>
                <c:pt idx="1">
                  <c:v>Blouse</c:v>
                </c:pt>
                <c:pt idx="2">
                  <c:v>Dress</c:v>
                </c:pt>
                <c:pt idx="3">
                  <c:v>Sweater</c:v>
                </c:pt>
                <c:pt idx="4">
                  <c:v>Shirt</c:v>
                </c:pt>
                <c:pt idx="5">
                  <c:v>Skirt</c:v>
                </c:pt>
                <c:pt idx="6">
                  <c:v>Socks</c:v>
                </c:pt>
                <c:pt idx="7">
                  <c:v>Shorts</c:v>
                </c:pt>
                <c:pt idx="8">
                  <c:v>Hoodie</c:v>
                </c:pt>
                <c:pt idx="9">
                  <c:v>T-shirt</c:v>
                </c:pt>
                <c:pt idx="10">
                  <c:v>Jeans</c:v>
                </c:pt>
              </c:strCache>
            </c:strRef>
          </c:cat>
          <c:val>
            <c:numRef>
              <c:f>גיליון1!$B$2:$B$12</c:f>
              <c:numCache>
                <c:formatCode>General</c:formatCode>
                <c:ptCount val="11"/>
                <c:pt idx="0">
                  <c:v>635.9</c:v>
                </c:pt>
                <c:pt idx="1">
                  <c:v>629.90000000000055</c:v>
                </c:pt>
                <c:pt idx="2">
                  <c:v>623.30000000000007</c:v>
                </c:pt>
                <c:pt idx="3">
                  <c:v>617.79999999999973</c:v>
                </c:pt>
                <c:pt idx="4">
                  <c:v>613.39999999999986</c:v>
                </c:pt>
                <c:pt idx="5">
                  <c:v>597.5999999999998</c:v>
                </c:pt>
                <c:pt idx="6">
                  <c:v>596.39999999999986</c:v>
                </c:pt>
                <c:pt idx="7">
                  <c:v>582.70000000000005</c:v>
                </c:pt>
                <c:pt idx="8">
                  <c:v>561.59999999999991</c:v>
                </c:pt>
                <c:pt idx="9">
                  <c:v>556.10000000000014</c:v>
                </c:pt>
                <c:pt idx="10">
                  <c:v>452.4000000000002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ACB-419C-9E9B-62F8B24F26E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86240320"/>
        <c:axId val="220545808"/>
      </c:barChart>
      <c:catAx>
        <c:axId val="986240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220545808"/>
        <c:crosses val="autoZero"/>
        <c:auto val="1"/>
        <c:lblAlgn val="ctr"/>
        <c:lblOffset val="100"/>
        <c:noMultiLvlLbl val="0"/>
      </c:catAx>
      <c:valAx>
        <c:axId val="22054580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8624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Footwear</a:t>
            </a:r>
            <a:endParaRPr lang="he-I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0-8122-4DFB-BAD3-B489BC0BC203}"/>
              </c:ext>
            </c:extLst>
          </c:dPt>
          <c:cat>
            <c:strRef>
              <c:f>גיליון1!$A$2:$A$5</c:f>
              <c:strCache>
                <c:ptCount val="4"/>
                <c:pt idx="0">
                  <c:v>Sandals</c:v>
                </c:pt>
                <c:pt idx="1">
                  <c:v>Shoes</c:v>
                </c:pt>
                <c:pt idx="2">
                  <c:v>Boots</c:v>
                </c:pt>
                <c:pt idx="3">
                  <c:v>Sneakers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614.6</c:v>
                </c:pt>
                <c:pt idx="1">
                  <c:v>562.0999999999998</c:v>
                </c:pt>
                <c:pt idx="2">
                  <c:v>549</c:v>
                </c:pt>
                <c:pt idx="3">
                  <c:v>544.89999999999986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415-4ADD-84E9-92703DDD127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86240320"/>
        <c:axId val="220545808"/>
      </c:barChart>
      <c:catAx>
        <c:axId val="986240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220545808"/>
        <c:crosses val="autoZero"/>
        <c:auto val="1"/>
        <c:lblAlgn val="ctr"/>
        <c:lblOffset val="100"/>
        <c:noMultiLvlLbl val="0"/>
      </c:catAx>
      <c:valAx>
        <c:axId val="22054580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8624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00" dirty="0"/>
              <a:t>Outerwear</a:t>
            </a:r>
            <a:endParaRPr lang="he-IL" sz="18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גיליון1!$A$2:$A$3</c:f>
              <c:strCache>
                <c:ptCount val="2"/>
                <c:pt idx="0">
                  <c:v>Jacket</c:v>
                </c:pt>
                <c:pt idx="1">
                  <c:v>Coat</c:v>
                </c:pt>
              </c:strCache>
            </c:strRef>
          </c:cat>
          <c:val>
            <c:numRef>
              <c:f>גיליון1!$B$2:$B$3</c:f>
              <c:numCache>
                <c:formatCode>General</c:formatCode>
                <c:ptCount val="2"/>
                <c:pt idx="0">
                  <c:v>613.4</c:v>
                </c:pt>
                <c:pt idx="1">
                  <c:v>600.6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DA-4366-85F6-3E85A38FF13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-27"/>
        <c:axId val="986240320"/>
        <c:axId val="220545808"/>
      </c:barChart>
      <c:catAx>
        <c:axId val="986240320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220545808"/>
        <c:crosses val="autoZero"/>
        <c:auto val="1"/>
        <c:lblAlgn val="ctr"/>
        <c:lblOffset val="100"/>
        <c:noMultiLvlLbl val="0"/>
      </c:catAx>
      <c:valAx>
        <c:axId val="220545808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986240320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'pop index'!$R$3</c:f>
              <c:strCache>
                <c:ptCount val="1"/>
                <c:pt idx="0">
                  <c:v>Popularity Index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'pop index'!$Q$4:$Q$7</c:f>
              <c:strCache>
                <c:ptCount val="4"/>
                <c:pt idx="0">
                  <c:v>Outerwear</c:v>
                </c:pt>
                <c:pt idx="1">
                  <c:v>Clothing</c:v>
                </c:pt>
                <c:pt idx="2">
                  <c:v>Accessories</c:v>
                </c:pt>
                <c:pt idx="3">
                  <c:v>Footwear</c:v>
                </c:pt>
              </c:strCache>
            </c:strRef>
          </c:cat>
          <c:val>
            <c:numRef>
              <c:f>'pop index'!$R$4:$R$7</c:f>
              <c:numCache>
                <c:formatCode>0</c:formatCode>
                <c:ptCount val="4"/>
                <c:pt idx="0">
                  <c:v>607</c:v>
                </c:pt>
                <c:pt idx="1">
                  <c:v>587.91818181818189</c:v>
                </c:pt>
                <c:pt idx="2">
                  <c:v>584.13749999999982</c:v>
                </c:pt>
                <c:pt idx="3">
                  <c:v>567.64999999999986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7B-43BF-8EA5-47C55D529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912994143"/>
        <c:axId val="1199406447"/>
      </c:barChart>
      <c:lineChart>
        <c:grouping val="standard"/>
        <c:varyColors val="0"/>
        <c:ser>
          <c:idx val="1"/>
          <c:order val="1"/>
          <c:tx>
            <c:strRef>
              <c:f>'pop index'!$S$3</c:f>
              <c:strCache>
                <c:ptCount val="1"/>
                <c:pt idx="0">
                  <c:v>Average Item Sales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strRef>
              <c:f>'pop index'!$Q$4:$Q$7</c:f>
              <c:strCache>
                <c:ptCount val="4"/>
                <c:pt idx="0">
                  <c:v>Outerwear</c:v>
                </c:pt>
                <c:pt idx="1">
                  <c:v>Clothing</c:v>
                </c:pt>
                <c:pt idx="2">
                  <c:v>Accessories</c:v>
                </c:pt>
                <c:pt idx="3">
                  <c:v>Footwear</c:v>
                </c:pt>
              </c:strCache>
            </c:strRef>
          </c:cat>
          <c:val>
            <c:numRef>
              <c:f>'pop index'!$S$4:$S$7</c:f>
              <c:numCache>
                <c:formatCode>0</c:formatCode>
                <c:ptCount val="4"/>
                <c:pt idx="0">
                  <c:v>155</c:v>
                </c:pt>
                <c:pt idx="1">
                  <c:v>157.90909090909091</c:v>
                </c:pt>
                <c:pt idx="2">
                  <c:v>149.75</c:v>
                </c:pt>
                <c:pt idx="3">
                  <c:v>162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F7B-43BF-8EA5-47C55D529C5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912994179"/>
        <c:axId val="1912994160"/>
      </c:lineChart>
      <c:catAx>
        <c:axId val="1912994143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199406447"/>
        <c:crosses val="autoZero"/>
        <c:auto val="1"/>
        <c:lblAlgn val="ctr"/>
        <c:lblOffset val="100"/>
        <c:noMultiLvlLbl val="0"/>
      </c:catAx>
      <c:valAx>
        <c:axId val="1199406447"/>
        <c:scaling>
          <c:orientation val="minMax"/>
          <c:min val="0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912994143"/>
        <c:crosses val="autoZero"/>
        <c:crossBetween val="between"/>
      </c:valAx>
      <c:valAx>
        <c:axId val="1912994160"/>
        <c:scaling>
          <c:orientation val="minMax"/>
          <c:max val="200"/>
          <c:min val="0"/>
        </c:scaling>
        <c:delete val="0"/>
        <c:axPos val="l"/>
        <c:title>
          <c:tx>
            <c:rich>
              <a:bodyPr/>
              <a:lstStyle/>
              <a:p>
                <a:pPr algn="ctr"/>
                <a:r>
                  <a:rPr lang="en-US" sz="1000" b="0"/>
                  <a:t>Average Item Sales</a:t>
                </a:r>
              </a:p>
            </c:rich>
          </c:tx>
          <c:layout>
            <c:manualLayout>
              <c:xMode val="edge"/>
              <c:yMode val="edge"/>
              <c:x val="2.0345876699821901E-2"/>
              <c:y val="0.24905758007073198"/>
            </c:manualLayout>
          </c:layout>
          <c:overlay val="0"/>
        </c:title>
        <c:numFmt formatCode="0" sourceLinked="0"/>
        <c:majorTickMark val="none"/>
        <c:minorTickMark val="none"/>
        <c:tickLblPos val="nextTo"/>
        <c:spPr>
          <a:ln>
            <a:noFill/>
          </a:ln>
        </c:spPr>
        <c:crossAx val="1912994179"/>
        <c:crosses val="autoZero"/>
        <c:crossBetween val="between"/>
        <c:majorUnit val="50"/>
      </c:valAx>
      <c:catAx>
        <c:axId val="1912994179"/>
        <c:scaling>
          <c:orientation val="minMax"/>
        </c:scaling>
        <c:delete val="1"/>
        <c:axPos val="b"/>
        <c:numFmt formatCode="General" sourceLinked="1"/>
        <c:majorTickMark val="none"/>
        <c:minorTickMark val="none"/>
        <c:tickLblPos val="none"/>
        <c:crossAx val="1912994160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600" dirty="0"/>
              <a:t>Revenue Share of each Category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'revenue by cat'!$E$1</c:f>
              <c:strCache>
                <c:ptCount val="1"/>
                <c:pt idx="0">
                  <c:v>Sum of Purchase Amount (USD)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0F20-40E8-BB25-5E4D4C49163B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0F20-40E8-BB25-5E4D4C49163B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0F20-40E8-BB25-5E4D4C49163B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0F20-40E8-BB25-5E4D4C49163B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'revenue by cat'!$A$2:$A$5</c:f>
              <c:strCache>
                <c:ptCount val="4"/>
                <c:pt idx="0">
                  <c:v>Clothing</c:v>
                </c:pt>
                <c:pt idx="1">
                  <c:v>Accessories</c:v>
                </c:pt>
                <c:pt idx="2">
                  <c:v>Footwear</c:v>
                </c:pt>
                <c:pt idx="3">
                  <c:v>Outerwear</c:v>
                </c:pt>
              </c:strCache>
            </c:strRef>
          </c:cat>
          <c:val>
            <c:numRef>
              <c:f>'revenue by cat'!$E$2:$E$5</c:f>
              <c:numCache>
                <c:formatCode>0.00%</c:formatCode>
                <c:ptCount val="4"/>
                <c:pt idx="0">
                  <c:v>0.44732946915449995</c:v>
                </c:pt>
                <c:pt idx="1">
                  <c:v>0.31834426658543596</c:v>
                </c:pt>
                <c:pt idx="2">
                  <c:v>0.15485174681762992</c:v>
                </c:pt>
                <c:pt idx="3">
                  <c:v>7.9474517442434181E-2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0F20-40E8-BB25-5E4D4C49163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36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8.8025085359905234E-2"/>
          <c:y val="2.1480369563838558E-2"/>
          <c:w val="0.88242631175527841"/>
          <c:h val="0.85123956109008647"/>
        </c:manualLayout>
      </c:layout>
      <c:scatterChart>
        <c:scatterStyle val="lineMarker"/>
        <c:varyColors val="0"/>
        <c:ser>
          <c:idx val="0"/>
          <c:order val="0"/>
          <c:tx>
            <c:strRef>
              <c:f>'impact of rating on sales'!$C$1</c:f>
              <c:strCache>
                <c:ptCount val="1"/>
                <c:pt idx="0">
                  <c:v>Count of Item Purchased</c:v>
                </c:pt>
              </c:strCache>
            </c:strRef>
          </c:tx>
          <c:spPr>
            <a:ln w="3810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trendline>
            <c:spPr>
              <a:ln w="25400">
                <a:solidFill>
                  <a:srgbClr val="F37032"/>
                </a:solidFill>
                <a:round/>
              </a:ln>
            </c:spPr>
            <c:trendlineType val="linear"/>
            <c:dispRSqr val="0"/>
            <c:dispEq val="0"/>
          </c:trendline>
          <c:xVal>
            <c:numRef>
              <c:f>'impact of rating on sales'!$B$2:$B$26</c:f>
              <c:numCache>
                <c:formatCode>General</c:formatCode>
                <c:ptCount val="25"/>
                <c:pt idx="0">
                  <c:v>3.7561403508771916</c:v>
                </c:pt>
                <c:pt idx="1">
                  <c:v>3.7187134502923977</c:v>
                </c:pt>
                <c:pt idx="2">
                  <c:v>3.6836257309941551</c:v>
                </c:pt>
                <c:pt idx="3">
                  <c:v>3.6295857988165672</c:v>
                </c:pt>
                <c:pt idx="4">
                  <c:v>3.7548192771084343</c:v>
                </c:pt>
                <c:pt idx="5">
                  <c:v>3.7670731707317056</c:v>
                </c:pt>
                <c:pt idx="6">
                  <c:v>3.7631901840490798</c:v>
                </c:pt>
                <c:pt idx="7">
                  <c:v>3.7614906832298125</c:v>
                </c:pt>
                <c:pt idx="8">
                  <c:v>3.7447204968944106</c:v>
                </c:pt>
                <c:pt idx="9">
                  <c:v>3.7304347826086959</c:v>
                </c:pt>
                <c:pt idx="10">
                  <c:v>3.8412500000000001</c:v>
                </c:pt>
                <c:pt idx="11">
                  <c:v>3.7509433962264143</c:v>
                </c:pt>
                <c:pt idx="12">
                  <c:v>3.7822784810126571</c:v>
                </c:pt>
                <c:pt idx="13">
                  <c:v>3.7114649681528666</c:v>
                </c:pt>
                <c:pt idx="14">
                  <c:v>3.6999999999999997</c:v>
                </c:pt>
                <c:pt idx="15">
                  <c:v>3.8064935064935055</c:v>
                </c:pt>
                <c:pt idx="16">
                  <c:v>3.7751633986928108</c:v>
                </c:pt>
                <c:pt idx="17">
                  <c:v>3.7192052980132444</c:v>
                </c:pt>
                <c:pt idx="18">
                  <c:v>3.7473333333333319</c:v>
                </c:pt>
                <c:pt idx="19">
                  <c:v>3.7829931972789126</c:v>
                </c:pt>
                <c:pt idx="20">
                  <c:v>3.7579310344827577</c:v>
                </c:pt>
                <c:pt idx="21">
                  <c:v>3.8125</c:v>
                </c:pt>
                <c:pt idx="22">
                  <c:v>3.7524475524475496</c:v>
                </c:pt>
                <c:pt idx="23">
                  <c:v>3.8642857142857152</c:v>
                </c:pt>
                <c:pt idx="24">
                  <c:v>3.6483870967741954</c:v>
                </c:pt>
              </c:numCache>
            </c:numRef>
          </c:xVal>
          <c:yVal>
            <c:numRef>
              <c:f>'impact of rating on sales'!$C$2:$C$26</c:f>
              <c:numCache>
                <c:formatCode>General</c:formatCode>
                <c:ptCount val="25"/>
                <c:pt idx="0">
                  <c:v>171</c:v>
                </c:pt>
                <c:pt idx="1">
                  <c:v>171</c:v>
                </c:pt>
                <c:pt idx="2">
                  <c:v>171</c:v>
                </c:pt>
                <c:pt idx="3">
                  <c:v>169</c:v>
                </c:pt>
                <c:pt idx="4">
                  <c:v>166</c:v>
                </c:pt>
                <c:pt idx="5">
                  <c:v>164</c:v>
                </c:pt>
                <c:pt idx="6">
                  <c:v>163</c:v>
                </c:pt>
                <c:pt idx="7">
                  <c:v>161</c:v>
                </c:pt>
                <c:pt idx="8">
                  <c:v>161</c:v>
                </c:pt>
                <c:pt idx="9">
                  <c:v>161</c:v>
                </c:pt>
                <c:pt idx="10">
                  <c:v>160</c:v>
                </c:pt>
                <c:pt idx="11">
                  <c:v>159</c:v>
                </c:pt>
                <c:pt idx="12">
                  <c:v>158</c:v>
                </c:pt>
                <c:pt idx="13">
                  <c:v>157</c:v>
                </c:pt>
                <c:pt idx="14">
                  <c:v>157</c:v>
                </c:pt>
                <c:pt idx="15">
                  <c:v>154</c:v>
                </c:pt>
                <c:pt idx="16">
                  <c:v>153</c:v>
                </c:pt>
                <c:pt idx="17">
                  <c:v>151</c:v>
                </c:pt>
                <c:pt idx="18">
                  <c:v>150</c:v>
                </c:pt>
                <c:pt idx="19">
                  <c:v>147</c:v>
                </c:pt>
                <c:pt idx="20">
                  <c:v>145</c:v>
                </c:pt>
                <c:pt idx="21">
                  <c:v>144</c:v>
                </c:pt>
                <c:pt idx="22">
                  <c:v>143</c:v>
                </c:pt>
                <c:pt idx="23">
                  <c:v>140</c:v>
                </c:pt>
                <c:pt idx="24">
                  <c:v>124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910B-4FBD-875C-C00B4844FE7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120999936"/>
        <c:axId val="1853726736"/>
      </c:scatterChart>
      <c:valAx>
        <c:axId val="212099993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>
                    <a:solidFill>
                      <a:schemeClr val="tx1">
                        <a:lumMod val="65000"/>
                        <a:lumOff val="35000"/>
                      </a:schemeClr>
                    </a:solidFill>
                  </a:defRPr>
                </a:pPr>
                <a:r>
                  <a:rPr lang="en-US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Average Review Rating</a:t>
                </a:r>
                <a:endParaRPr lang="he-IL" b="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53726736"/>
        <c:crosses val="autoZero"/>
        <c:crossBetween val="midCat"/>
      </c:valAx>
      <c:valAx>
        <c:axId val="1853726736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/>
              <a:lstStyle/>
              <a:p>
                <a:pPr>
                  <a:defRPr b="0">
                    <a:solidFill>
                      <a:schemeClr val="tx1">
                        <a:lumMod val="65000"/>
                        <a:lumOff val="35000"/>
                      </a:schemeClr>
                    </a:solidFill>
                  </a:defRPr>
                </a:pPr>
                <a:r>
                  <a:rPr lang="en-US" b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Number</a:t>
                </a:r>
                <a:r>
                  <a:rPr lang="en-US" b="0" baseline="0" dirty="0">
                    <a:solidFill>
                      <a:schemeClr val="tx1">
                        <a:lumMod val="65000"/>
                        <a:lumOff val="35000"/>
                      </a:schemeClr>
                    </a:solidFill>
                  </a:rPr>
                  <a:t> of Item Purchased</a:t>
                </a:r>
                <a:endParaRPr lang="he-IL" b="0" dirty="0">
                  <a:solidFill>
                    <a:schemeClr val="tx1">
                      <a:lumMod val="65000"/>
                      <a:lumOff val="35000"/>
                    </a:schemeClr>
                  </a:solidFill>
                </a:endParaRP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0999936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גיליון1!$B$1</c:f>
              <c:strCache>
                <c:ptCount val="1"/>
                <c:pt idx="0">
                  <c:v>Promotion Exposure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D2B4-4E45-8E64-23729A1D901F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D2B4-4E45-8E64-23729A1D901F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20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גיליון1!$A$2:$A$3</c:f>
              <c:strCache>
                <c:ptCount val="2"/>
                <c:pt idx="0">
                  <c:v>Exposed</c:v>
                </c:pt>
                <c:pt idx="1">
                  <c:v>Not exposed</c:v>
                </c:pt>
              </c:strCache>
            </c:strRef>
          </c:cat>
          <c:val>
            <c:numRef>
              <c:f>גיליון1!$B$2:$B$3</c:f>
              <c:numCache>
                <c:formatCode>0%</c:formatCode>
                <c:ptCount val="2"/>
                <c:pt idx="0">
                  <c:v>0.43</c:v>
                </c:pt>
                <c:pt idx="1">
                  <c:v>0.56999999999999995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BCB2-48E9-A304-FE81680A212E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סידרה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Exposed</c:v>
                </c:pt>
                <c:pt idx="1">
                  <c:v>Not exposed</c:v>
                </c:pt>
              </c:strCache>
            </c:strRef>
          </c:cat>
          <c:val>
            <c:numRef>
              <c:f>גיליון1!$B$2:$B$3</c:f>
              <c:numCache>
                <c:formatCode>General</c:formatCode>
                <c:ptCount val="2"/>
                <c:pt idx="0">
                  <c:v>59.28</c:v>
                </c:pt>
                <c:pt idx="1">
                  <c:v>60.13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F17-46DB-8E8C-A1302582428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00"/>
        <c:axId val="1561473919"/>
        <c:axId val="1900202479"/>
      </c:barChart>
      <c:catAx>
        <c:axId val="156147391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900202479"/>
        <c:crosses val="autoZero"/>
        <c:auto val="1"/>
        <c:lblAlgn val="ctr"/>
        <c:lblOffset val="100"/>
        <c:noMultiLvlLbl val="0"/>
      </c:catAx>
      <c:valAx>
        <c:axId val="1900202479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561473919"/>
        <c:crosses val="autoZero"/>
        <c:crossBetween val="between"/>
        <c:majorUnit val="5"/>
      </c:valAx>
      <c:spPr>
        <a:noFill/>
        <a:ln>
          <a:noFill/>
        </a:ln>
        <a:effectLst/>
      </c:spPr>
    </c:plotArea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percent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Exposed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גיליון1!$B$2:$B$3</c:f>
              <c:numCache>
                <c:formatCode>General</c:formatCode>
                <c:ptCount val="2"/>
                <c:pt idx="0" formatCode="0.00%">
                  <c:v>0.63239999999999996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CC10-4B48-89A6-78B83519704B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Not exposed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400" b="0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male</c:v>
                </c:pt>
                <c:pt idx="1">
                  <c:v>Female</c:v>
                </c:pt>
              </c:strCache>
            </c:strRef>
          </c:cat>
          <c:val>
            <c:numRef>
              <c:f>גיליון1!$C$2:$C$3</c:f>
              <c:numCache>
                <c:formatCode>0%</c:formatCode>
                <c:ptCount val="2"/>
                <c:pt idx="0" formatCode="0.00%">
                  <c:v>0.36759999999999998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CC10-4B48-89A6-78B83519704B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100"/>
        <c:axId val="1312899359"/>
        <c:axId val="1899784111"/>
      </c:barChart>
      <c:catAx>
        <c:axId val="13128993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899784111"/>
        <c:crosses val="autoZero"/>
        <c:auto val="1"/>
        <c:lblAlgn val="ctr"/>
        <c:lblOffset val="100"/>
        <c:noMultiLvlLbl val="0"/>
      </c:catAx>
      <c:valAx>
        <c:axId val="1899784111"/>
        <c:scaling>
          <c:orientation val="minMax"/>
        </c:scaling>
        <c:delete val="1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crossAx val="13128993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Exposed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גיליון1!$A$2:$A$4</c:f>
              <c:strCache>
                <c:ptCount val="3"/>
                <c:pt idx="0">
                  <c:v>Young adults</c:v>
                </c:pt>
                <c:pt idx="1">
                  <c:v>Adults</c:v>
                </c:pt>
                <c:pt idx="2">
                  <c:v>Seniors</c:v>
                </c:pt>
              </c:strCache>
            </c:strRef>
          </c:cat>
          <c:val>
            <c:numRef>
              <c:f>גיליון1!$B$2:$B$4</c:f>
              <c:numCache>
                <c:formatCode>General</c:formatCode>
                <c:ptCount val="3"/>
                <c:pt idx="0">
                  <c:v>41615</c:v>
                </c:pt>
                <c:pt idx="1">
                  <c:v>37457</c:v>
                </c:pt>
                <c:pt idx="2">
                  <c:v>20339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95FC-4312-9942-C1634AA9A5BD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Not exposed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גיליון1!$A$2:$A$4</c:f>
              <c:strCache>
                <c:ptCount val="3"/>
                <c:pt idx="0">
                  <c:v>Young adults</c:v>
                </c:pt>
                <c:pt idx="1">
                  <c:v>Adults</c:v>
                </c:pt>
                <c:pt idx="2">
                  <c:v>Seniors</c:v>
                </c:pt>
              </c:strCache>
            </c:strRef>
          </c:cat>
          <c:val>
            <c:numRef>
              <c:f>גיליון1!$C$2:$C$4</c:f>
              <c:numCache>
                <c:formatCode>General</c:formatCode>
                <c:ptCount val="3"/>
                <c:pt idx="0">
                  <c:v>23834</c:v>
                </c:pt>
                <c:pt idx="1">
                  <c:v>23194</c:v>
                </c:pt>
                <c:pt idx="2">
                  <c:v>11451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95FC-4312-9942-C1634AA9A5B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overlap val="100"/>
        <c:axId val="1335108639"/>
        <c:axId val="1899748111"/>
      </c:barChart>
      <c:catAx>
        <c:axId val="133510863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899748111"/>
        <c:crosses val="autoZero"/>
        <c:auto val="1"/>
        <c:lblAlgn val="ctr"/>
        <c:lblOffset val="100"/>
        <c:noMultiLvlLbl val="0"/>
      </c:catAx>
      <c:valAx>
        <c:axId val="1899748111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sz="1330" b="0" i="0" u="none" strike="noStrike" kern="1200" baseline="0" dirty="0">
                    <a:solidFill>
                      <a:prstClr val="black">
                        <a:lumMod val="65000"/>
                        <a:lumOff val="35000"/>
                      </a:prstClr>
                    </a:solidFill>
                  </a:rPr>
                  <a:t>Purchase amount ($)</a:t>
                </a:r>
                <a:endParaRPr lang="he-IL" sz="1330" b="0" i="0" u="none" strike="noStrike" kern="1200" baseline="0" dirty="0">
                  <a:solidFill>
                    <a:prstClr val="black">
                      <a:lumMod val="65000"/>
                      <a:lumOff val="35000"/>
                    </a:prstClr>
                  </a:solidFill>
                </a:endParaRP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0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33510863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  <c:userShapes r:id="rId4"/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0.10870960792253448"/>
          <c:y val="2.2253826949167829E-2"/>
          <c:w val="0.86362983789717351"/>
          <c:h val="0.79475784243926872"/>
        </c:manualLayout>
      </c:layout>
      <c:barChart>
        <c:barDir val="col"/>
        <c:grouping val="percentStack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Promo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Subscribed</c:v>
                </c:pt>
                <c:pt idx="1">
                  <c:v>Not Subscribed</c:v>
                </c:pt>
              </c:strCache>
            </c:strRef>
          </c:cat>
          <c:val>
            <c:numRef>
              <c:f>גיליון1!$B$2:$B$3</c:f>
              <c:numCache>
                <c:formatCode>General</c:formatCode>
                <c:ptCount val="2"/>
                <c:pt idx="0" formatCode="0%">
                  <c:v>0.78100000000000003</c:v>
                </c:pt>
                <c:pt idx="1">
                  <c:v>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414-4B7C-8D18-F1244A160863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No Promo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dLbls>
            <c:dLbl>
              <c:idx val="1"/>
              <c:layout>
                <c:manualLayout>
                  <c:x val="-8.4517383643308676E-17"/>
                  <c:y val="0"/>
                </c:manualLayout>
              </c:layout>
              <c:dLblPos val="ctr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2399-4CF1-BE87-CA143D47DC1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600" b="1" i="0" u="none" strike="noStrike" kern="1200" baseline="0">
                    <a:solidFill>
                      <a:schemeClr val="bg1"/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גיליון1!$A$2:$A$3</c:f>
              <c:strCache>
                <c:ptCount val="2"/>
                <c:pt idx="0">
                  <c:v>Subscribed</c:v>
                </c:pt>
                <c:pt idx="1">
                  <c:v>Not Subscribed</c:v>
                </c:pt>
              </c:strCache>
            </c:strRef>
          </c:cat>
          <c:val>
            <c:numRef>
              <c:f>גיליון1!$C$2:$C$3</c:f>
              <c:numCache>
                <c:formatCode>0.00%</c:formatCode>
                <c:ptCount val="2"/>
                <c:pt idx="0">
                  <c:v>0.219</c:v>
                </c:pt>
                <c:pt idx="1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414-4B7C-8D18-F1244A160863}"/>
            </c:ext>
          </c:extLst>
        </c:ser>
        <c:dLbls>
          <c:dLblPos val="ctr"/>
          <c:showLegendKey val="0"/>
          <c:showVal val="1"/>
          <c:showCatName val="0"/>
          <c:showSerName val="0"/>
          <c:showPercent val="0"/>
          <c:showBubbleSize val="0"/>
        </c:dLbls>
        <c:gapWidth val="100"/>
        <c:overlap val="100"/>
        <c:axId val="1142559055"/>
        <c:axId val="1899716431"/>
      </c:barChart>
      <c:catAx>
        <c:axId val="114255905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899716431"/>
        <c:crosses val="autoZero"/>
        <c:auto val="1"/>
        <c:lblAlgn val="ctr"/>
        <c:lblOffset val="100"/>
        <c:noMultiLvlLbl val="0"/>
      </c:catAx>
      <c:valAx>
        <c:axId val="1899716431"/>
        <c:scaling>
          <c:orientation val="minMax"/>
        </c:scaling>
        <c:delete val="1"/>
        <c:axPos val="l"/>
        <c:numFmt formatCode="0%" sourceLinked="1"/>
        <c:majorTickMark val="none"/>
        <c:minorTickMark val="none"/>
        <c:tickLblPos val="nextTo"/>
        <c:crossAx val="114255905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Promotion Exposure Rate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Lbl>
              <c:idx val="3"/>
              <c:layout>
                <c:manualLayout>
                  <c:x val="2.415458937197979E-3"/>
                  <c:y val="2.9186424957105147E-3"/>
                </c:manualLayout>
              </c:layout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6-6799-4C44-85C5-24F165CBDAA8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גיליון1!$A$2:$A$5</c:f>
              <c:strCache>
                <c:ptCount val="4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  <c:pt idx="3">
                  <c:v>Winter</c:v>
                </c:pt>
              </c:strCache>
            </c:strRef>
          </c:cat>
          <c:val>
            <c:numRef>
              <c:f>גיליון1!$B$2:$B$5</c:f>
              <c:numCache>
                <c:formatCode>0.00%</c:formatCode>
                <c:ptCount val="4"/>
                <c:pt idx="0">
                  <c:v>0.44</c:v>
                </c:pt>
                <c:pt idx="1">
                  <c:v>0.443</c:v>
                </c:pt>
                <c:pt idx="2">
                  <c:v>0.40699999999999997</c:v>
                </c:pt>
                <c:pt idx="3">
                  <c:v>0.42899999999999999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799-4C44-85C5-24F165CBDAA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100"/>
        <c:axId val="1155501807"/>
        <c:axId val="1899736111"/>
      </c:barChart>
      <c:lineChart>
        <c:grouping val="standard"/>
        <c:varyColors val="0"/>
        <c:ser>
          <c:idx val="1"/>
          <c:order val="1"/>
          <c:tx>
            <c:strRef>
              <c:f>גיליון1!$C$1</c:f>
              <c:strCache>
                <c:ptCount val="1"/>
                <c:pt idx="0">
                  <c:v>Average Purchase ($)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dLbls>
            <c:dLbl>
              <c:idx val="0"/>
              <c:layout>
                <c:manualLayout>
                  <c:x val="-3.1400966183574859E-2"/>
                  <c:y val="-2.626778246139463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0-DBE1-4121-9547-6428EABE90B2}"/>
                </c:ext>
              </c:extLst>
            </c:dLbl>
            <c:dLbl>
              <c:idx val="1"/>
              <c:layout>
                <c:manualLayout>
                  <c:x val="-3.6231884057971016E-2"/>
                  <c:y val="-2.334913996568414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DBE1-4121-9547-6428EABE90B2}"/>
                </c:ext>
              </c:extLst>
            </c:dLbl>
            <c:dLbl>
              <c:idx val="2"/>
              <c:layout>
                <c:manualLayout>
                  <c:x val="-2.6570048309178744E-2"/>
                  <c:y val="-3.7942352444236695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DBE1-4121-9547-6428EABE90B2}"/>
                </c:ext>
              </c:extLst>
            </c:dLbl>
            <c:dLbl>
              <c:idx val="3"/>
              <c:layout>
                <c:manualLayout>
                  <c:x val="-2.7777777777777776E-2"/>
                  <c:y val="-3.5023709948526174E-2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DBE1-4121-9547-6428EABE90B2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he-IL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cat>
            <c:strRef>
              <c:f>גיליון1!$A$2:$A$5</c:f>
              <c:strCache>
                <c:ptCount val="4"/>
                <c:pt idx="0">
                  <c:v>Spring</c:v>
                </c:pt>
                <c:pt idx="1">
                  <c:v>Summer</c:v>
                </c:pt>
                <c:pt idx="2">
                  <c:v>Fall</c:v>
                </c:pt>
                <c:pt idx="3">
                  <c:v>Winter</c:v>
                </c:pt>
              </c:strCache>
            </c:strRef>
          </c:cat>
          <c:val>
            <c:numRef>
              <c:f>גיליון1!$C$2:$C$5</c:f>
              <c:numCache>
                <c:formatCode>General</c:formatCode>
                <c:ptCount val="4"/>
                <c:pt idx="0">
                  <c:v>58.74</c:v>
                </c:pt>
                <c:pt idx="1">
                  <c:v>58.41</c:v>
                </c:pt>
                <c:pt idx="2">
                  <c:v>61.56</c:v>
                </c:pt>
                <c:pt idx="3">
                  <c:v>60.36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6799-4C44-85C5-24F165CBDAA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2978703"/>
        <c:axId val="1899836911"/>
      </c:lineChart>
      <c:catAx>
        <c:axId val="1155501807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899736111"/>
        <c:crosses val="autoZero"/>
        <c:auto val="1"/>
        <c:lblAlgn val="ctr"/>
        <c:lblOffset val="100"/>
        <c:noMultiLvlLbl val="0"/>
      </c:catAx>
      <c:valAx>
        <c:axId val="1899736111"/>
        <c:scaling>
          <c:orientation val="minMax"/>
          <c:max val="0.60000000000000009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155501807"/>
        <c:crosses val="autoZero"/>
        <c:crossBetween val="between"/>
      </c:valAx>
      <c:valAx>
        <c:axId val="1899836911"/>
        <c:scaling>
          <c:orientation val="minMax"/>
          <c:max val="70"/>
          <c:min val="0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312978703"/>
        <c:crosses val="max"/>
        <c:crossBetween val="between"/>
      </c:valAx>
      <c:catAx>
        <c:axId val="1312978703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99836911"/>
        <c:crosses val="autoZero"/>
        <c:auto val="1"/>
        <c:lblAlgn val="ctr"/>
        <c:lblOffset val="100"/>
        <c:noMultiLvlLbl val="0"/>
      </c:cat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גיליון1!$B$1</c:f>
              <c:strCache>
                <c:ptCount val="1"/>
                <c:pt idx="0">
                  <c:v>Exposed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גיליון1!$A$2:$A$5</c:f>
              <c:strCache>
                <c:ptCount val="4"/>
                <c:pt idx="0">
                  <c:v>Accessories</c:v>
                </c:pt>
                <c:pt idx="1">
                  <c:v>Clothing</c:v>
                </c:pt>
                <c:pt idx="2">
                  <c:v>Footwear</c:v>
                </c:pt>
                <c:pt idx="3">
                  <c:v>Outwear</c:v>
                </c:pt>
              </c:strCache>
            </c:strRef>
          </c:cat>
          <c:val>
            <c:numRef>
              <c:f>גיליון1!$B$2:$B$5</c:f>
              <c:numCache>
                <c:formatCode>General</c:formatCode>
                <c:ptCount val="4"/>
                <c:pt idx="0">
                  <c:v>58.49</c:v>
                </c:pt>
                <c:pt idx="1">
                  <c:v>60.22</c:v>
                </c:pt>
                <c:pt idx="2">
                  <c:v>59.08</c:v>
                </c:pt>
                <c:pt idx="3">
                  <c:v>58.66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3C6-4AB9-98C0-5AE392A449EF}"/>
            </c:ext>
          </c:extLst>
        </c:ser>
        <c:ser>
          <c:idx val="1"/>
          <c:order val="1"/>
          <c:tx>
            <c:strRef>
              <c:f>גיליון1!$C$1</c:f>
              <c:strCache>
                <c:ptCount val="1"/>
                <c:pt idx="0">
                  <c:v>Not exposed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גיליון1!$A$2:$A$5</c:f>
              <c:strCache>
                <c:ptCount val="4"/>
                <c:pt idx="0">
                  <c:v>Accessories</c:v>
                </c:pt>
                <c:pt idx="1">
                  <c:v>Clothing</c:v>
                </c:pt>
                <c:pt idx="2">
                  <c:v>Footwear</c:v>
                </c:pt>
                <c:pt idx="3">
                  <c:v>Outwear</c:v>
                </c:pt>
              </c:strCache>
            </c:strRef>
          </c:cat>
          <c:val>
            <c:numRef>
              <c:f>גיליון1!$C$2:$C$5</c:f>
              <c:numCache>
                <c:formatCode>General</c:formatCode>
                <c:ptCount val="4"/>
                <c:pt idx="0">
                  <c:v>60.49</c:v>
                </c:pt>
                <c:pt idx="1">
                  <c:v>59.75</c:v>
                </c:pt>
                <c:pt idx="2">
                  <c:v>61.8</c:v>
                </c:pt>
                <c:pt idx="3">
                  <c:v>55.32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63C6-4AB9-98C0-5AE392A44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axId val="1312896575"/>
        <c:axId val="1899803791"/>
      </c:barChart>
      <c:lineChart>
        <c:grouping val="standard"/>
        <c:varyColors val="0"/>
        <c:ser>
          <c:idx val="2"/>
          <c:order val="2"/>
          <c:tx>
            <c:strRef>
              <c:f>גיליון1!$D$1</c:f>
              <c:strCache>
                <c:ptCount val="1"/>
                <c:pt idx="0">
                  <c:v>Exposure Difference</c:v>
                </c:pt>
              </c:strCache>
            </c:strRef>
          </c:tx>
          <c:spPr>
            <a:ln w="28575" cap="rnd">
              <a:solidFill>
                <a:schemeClr val="accent3"/>
              </a:solidFill>
              <a:round/>
            </a:ln>
            <a:effectLst/>
          </c:spPr>
          <c:marker>
            <c:symbol val="none"/>
          </c:marker>
          <c:cat>
            <c:strRef>
              <c:f>גיליון1!$A$2:$A$5</c:f>
              <c:strCache>
                <c:ptCount val="4"/>
                <c:pt idx="0">
                  <c:v>Accessories</c:v>
                </c:pt>
                <c:pt idx="1">
                  <c:v>Clothing</c:v>
                </c:pt>
                <c:pt idx="2">
                  <c:v>Footwear</c:v>
                </c:pt>
                <c:pt idx="3">
                  <c:v>Outwear</c:v>
                </c:pt>
              </c:strCache>
            </c:strRef>
          </c:cat>
          <c:val>
            <c:numRef>
              <c:f>גיליון1!$D$2:$D$5</c:f>
              <c:numCache>
                <c:formatCode>General</c:formatCode>
                <c:ptCount val="4"/>
                <c:pt idx="0">
                  <c:v>-2.4</c:v>
                </c:pt>
                <c:pt idx="1">
                  <c:v>-0.47</c:v>
                </c:pt>
                <c:pt idx="2">
                  <c:v>2.72</c:v>
                </c:pt>
                <c:pt idx="3">
                  <c:v>-3.34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63C6-4AB9-98C0-5AE392A449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1312968031"/>
        <c:axId val="1899703951"/>
      </c:lineChart>
      <c:catAx>
        <c:axId val="13128965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899803791"/>
        <c:crosses val="autoZero"/>
        <c:auto val="1"/>
        <c:lblAlgn val="ctr"/>
        <c:lblOffset val="100"/>
        <c:noMultiLvlLbl val="0"/>
      </c:catAx>
      <c:valAx>
        <c:axId val="1899803791"/>
        <c:scaling>
          <c:orientation val="minMax"/>
          <c:min val="0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sz="133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US" dirty="0"/>
                  <a:t>Purchase</a:t>
                </a:r>
                <a:r>
                  <a:rPr lang="en-US" baseline="0" dirty="0"/>
                  <a:t> amount ($)</a:t>
                </a:r>
                <a:endParaRPr lang="he-IL" dirty="0"/>
              </a:p>
            </c:rich>
          </c:tx>
          <c:layout>
            <c:manualLayout>
              <c:xMode val="edge"/>
              <c:yMode val="edge"/>
              <c:x val="0.10300925925925926"/>
              <c:y val="0.1723451527157831"/>
            </c:manualLayout>
          </c:layout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sz="133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he-IL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312896575"/>
        <c:crosses val="autoZero"/>
        <c:crossBetween val="between"/>
      </c:valAx>
      <c:valAx>
        <c:axId val="1899703951"/>
        <c:scaling>
          <c:orientation val="minMax"/>
        </c:scaling>
        <c:delete val="0"/>
        <c:axPos val="r"/>
        <c:numFmt formatCode="General" sourceLinked="1"/>
        <c:majorTickMark val="out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  <c:crossAx val="1312968031"/>
        <c:crosses val="max"/>
        <c:crossBetween val="between"/>
      </c:valAx>
      <c:catAx>
        <c:axId val="1312968031"/>
        <c:scaling>
          <c:orientation val="minMax"/>
        </c:scaling>
        <c:delete val="1"/>
        <c:axPos val="b"/>
        <c:numFmt formatCode="General" sourceLinked="1"/>
        <c:majorTickMark val="out"/>
        <c:minorTickMark val="none"/>
        <c:tickLblPos val="nextTo"/>
        <c:crossAx val="1899703951"/>
        <c:crosses val="autoZero"/>
        <c:auto val="1"/>
        <c:lblAlgn val="ctr"/>
        <c:lblOffset val="100"/>
        <c:noMultiLvlLbl val="0"/>
      </c:catAx>
      <c:dTable>
        <c:showHorzBorder val="1"/>
        <c:showVertBorder val="1"/>
        <c:showOutline val="1"/>
        <c:showKeys val="1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0" spcFirstLastPara="1" vertOverflow="ellipsis" vert="horz" wrap="square" anchor="ctr" anchorCtr="1"/>
          <a:lstStyle/>
          <a:p>
            <a:pPr rtl="0"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he-IL"/>
          </a:p>
        </c:txPr>
      </c:dTable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he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he-IL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strDim type="cat">
        <cx:f>'pop index'!$W$4:$W$7</cx:f>
        <cx:lvl ptCount="4">
          <cx:pt idx="0">Clothing</cx:pt>
          <cx:pt idx="1">Outerwear</cx:pt>
          <cx:pt idx="2">Footwear</cx:pt>
          <cx:pt idx="3">Accessories</cx:pt>
        </cx:lvl>
      </cx:strDim>
      <cx:numDim type="val">
        <cx:f>'pop index'!$Z$4:$Z$7</cx:f>
        <cx:lvl ptCount="4" formatCode="0.0">
          <cx:pt idx="0">9478.545454545454</cx:pt>
          <cx:pt idx="1">9275</cx:pt>
          <cx:pt idx="2">9262</cx:pt>
          <cx:pt idx="3">9023.25</cx:pt>
        </cx:lvl>
      </cx:numDim>
    </cx:data>
  </cx:chartData>
  <cx:chart>
    <cx:title pos="t" align="ctr" overlay="0">
      <cx:tx>
        <cx:rich>
          <a:bodyPr spcFirstLastPara="1" vertOverflow="ellipsis" horzOverflow="overflow" wrap="square" lIns="0" tIns="0" rIns="0" bIns="0" anchor="ctr" anchorCtr="1"/>
          <a:lstStyle/>
          <a:p>
            <a:pPr algn="ctr" rtl="0">
              <a:defRPr sz="1600"/>
            </a:pPr>
            <a:r>
              <a:rPr lang="en-US" sz="1600" b="0" i="0" u="none" strike="noStrike" baseline="0" dirty="0">
                <a:solidFill>
                  <a:prstClr val="black">
                    <a:lumMod val="65000"/>
                    <a:lumOff val="35000"/>
                  </a:prstClr>
                </a:solidFill>
                <a:latin typeface="Calibri" panose="02110004020202020204"/>
                <a:ea typeface="Calibri"/>
                <a:cs typeface="Calibri" panose="020F0502020204030204" pitchFamily="34" charset="0"/>
              </a:rPr>
              <a:t>Category Revenue average</a:t>
            </a:r>
            <a:endParaRPr lang="he-IL" sz="1600" b="0" i="0" u="none" strike="noStrike" baseline="0" dirty="0">
              <a:solidFill>
                <a:prstClr val="black">
                  <a:lumMod val="65000"/>
                  <a:lumOff val="35000"/>
                </a:prstClr>
              </a:solidFill>
              <a:latin typeface="Calibri" panose="02110004020202020204"/>
              <a:ea typeface="Calibri"/>
              <a:cs typeface="Calibri" panose="020F0502020204030204" pitchFamily="34" charset="0"/>
            </a:endParaRPr>
          </a:p>
        </cx:rich>
      </cx:tx>
    </cx:title>
    <cx:plotArea>
      <cx:plotAreaRegion>
        <cx:series layoutId="funnel" uniqueId="{20EC5FEB-3B7C-46FE-BA7B-B2106280FE61}">
          <cx:tx>
            <cx:txData>
              <cx:f>'pop index'!$Z$3</cx:f>
              <cx:v>Average Purchases in USD ($)</cx:v>
            </cx:txData>
          </cx:tx>
          <cx:dataLabels>
            <cx:txPr>
              <a:bodyPr spcFirstLastPara="1" vertOverflow="ellipsis" horzOverflow="overflow" wrap="square" lIns="0" tIns="0" rIns="0" bIns="0" anchor="ctr" anchorCtr="1"/>
              <a:lstStyle/>
              <a:p>
                <a:pPr algn="ctr" rtl="0">
                  <a:defRPr sz="1600">
                    <a:solidFill>
                      <a:schemeClr val="bg1"/>
                    </a:solidFill>
                  </a:defRPr>
                </a:pPr>
                <a:endParaRPr lang="he-IL" sz="1600" b="0" i="0" u="none" strike="noStrike" baseline="0">
                  <a:solidFill>
                    <a:schemeClr val="bg1"/>
                  </a:solidFill>
                  <a:latin typeface="Calibri" panose="02110004020202020204"/>
                  <a:ea typeface="Calibri"/>
                  <a:cs typeface="Calibri" panose="020F0502020204030204" pitchFamily="34" charset="0"/>
                </a:endParaRPr>
              </a:p>
            </cx:txPr>
            <cx:visibility seriesName="0" categoryName="0" value="1"/>
          </cx:dataLabels>
          <cx:dataId val="0"/>
        </cx:series>
      </cx:plotAreaRegion>
      <cx:axis id="0">
        <cx:catScaling gapWidth="0.0599999987"/>
        <cx:tickLabels/>
        <cx:txPr>
          <a:bodyPr spcFirstLastPara="1" vertOverflow="ellipsis" horzOverflow="overflow" wrap="square" lIns="0" tIns="0" rIns="0" bIns="0" anchor="ctr" anchorCtr="1"/>
          <a:lstStyle/>
          <a:p>
            <a:pPr algn="ctr" rtl="0">
              <a:defRPr sz="1100"/>
            </a:pPr>
            <a:endParaRPr lang="he-IL" sz="1100" b="0" i="0" u="none" strike="noStrike" baseline="0">
              <a:solidFill>
                <a:prstClr val="black">
                  <a:lumMod val="65000"/>
                  <a:lumOff val="35000"/>
                </a:prstClr>
              </a:solidFill>
              <a:latin typeface="Calibri" panose="02110004020202020204"/>
              <a:ea typeface="Calibri"/>
              <a:cs typeface="Calibri" panose="020F0502020204030204" pitchFamily="34" charset="0"/>
            </a:endParaRPr>
          </a:p>
        </cx:txPr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9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0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1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419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7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9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0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1.xml><?xml version="1.0" encoding="utf-8"?>
<cs:chartStyle xmlns:cs="http://schemas.microsoft.com/office/drawing/2012/chartStyle" xmlns:a="http://schemas.openxmlformats.org/drawingml/2006/main" id="29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1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0.26235</cdr:x>
      <cdr:y>0.22202</cdr:y>
    </cdr:from>
    <cdr:to>
      <cdr:x>0.38493</cdr:x>
      <cdr:y>0.27818</cdr:y>
    </cdr:to>
    <cdr:sp macro="" textlink="">
      <cdr:nvSpPr>
        <cdr:cNvPr id="2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BB18624B-B7E2-63C0-6528-05CEABC45751}"/>
            </a:ext>
          </a:extLst>
        </cdr:cNvPr>
        <cdr:cNvSpPr txBox="1"/>
      </cdr:nvSpPr>
      <cdr:spPr>
        <a:xfrm xmlns:a="http://schemas.openxmlformats.org/drawingml/2006/main">
          <a:off x="1319423" y="746499"/>
          <a:ext cx="616479" cy="188828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vertOverflow="clip" wrap="square" rtlCol="1"/>
        <a:lstStyle xmlns:a="http://schemas.openxmlformats.org/drawingml/2006/main"/>
        <a:p xmlns:a="http://schemas.openxmlformats.org/drawingml/2006/main">
          <a:r>
            <a:rPr lang="he-IL" sz="900" kern="1200" dirty="0">
              <a:solidFill>
                <a:schemeClr val="bg1"/>
              </a:solidFill>
            </a:rPr>
            <a:t>36.14%</a:t>
          </a:r>
        </a:p>
      </cdr:txBody>
    </cdr:sp>
  </cdr:relSizeAnchor>
  <cdr:relSizeAnchor xmlns:cdr="http://schemas.openxmlformats.org/drawingml/2006/chartDrawing">
    <cdr:from>
      <cdr:x>0.26142</cdr:x>
      <cdr:y>0.53541</cdr:y>
    </cdr:from>
    <cdr:to>
      <cdr:x>0.384</cdr:x>
      <cdr:y>0.59157</cdr:y>
    </cdr:to>
    <cdr:sp macro="" textlink="">
      <cdr:nvSpPr>
        <cdr:cNvPr id="3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D35C7B07-B783-9D94-692A-7F76FF035BB0}"/>
            </a:ext>
          </a:extLst>
        </cdr:cNvPr>
        <cdr:cNvSpPr txBox="1"/>
      </cdr:nvSpPr>
      <cdr:spPr>
        <a:xfrm xmlns:a="http://schemas.openxmlformats.org/drawingml/2006/main">
          <a:off x="1314715" y="1800226"/>
          <a:ext cx="616479" cy="188829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he-IL" sz="900" kern="1200" dirty="0">
              <a:solidFill>
                <a:schemeClr val="bg1"/>
              </a:solidFill>
            </a:rPr>
            <a:t>63.86%</a:t>
          </a:r>
        </a:p>
      </cdr:txBody>
    </cdr:sp>
  </cdr:relSizeAnchor>
  <cdr:relSizeAnchor xmlns:cdr="http://schemas.openxmlformats.org/drawingml/2006/chartDrawing">
    <cdr:from>
      <cdr:x>0.52273</cdr:x>
      <cdr:y>0.53541</cdr:y>
    </cdr:from>
    <cdr:to>
      <cdr:x>0.64531</cdr:x>
      <cdr:y>0.59157</cdr:y>
    </cdr:to>
    <cdr:sp macro="" textlink="">
      <cdr:nvSpPr>
        <cdr:cNvPr id="4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D35C7B07-B783-9D94-692A-7F76FF035BB0}"/>
            </a:ext>
          </a:extLst>
        </cdr:cNvPr>
        <cdr:cNvSpPr txBox="1"/>
      </cdr:nvSpPr>
      <cdr:spPr>
        <a:xfrm xmlns:a="http://schemas.openxmlformats.org/drawingml/2006/main">
          <a:off x="2628900" y="1800226"/>
          <a:ext cx="616479" cy="188828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he-IL" sz="900" kern="1200" dirty="0">
              <a:solidFill>
                <a:schemeClr val="bg1"/>
              </a:solidFill>
            </a:rPr>
            <a:t>62.34%</a:t>
          </a:r>
        </a:p>
      </cdr:txBody>
    </cdr:sp>
  </cdr:relSizeAnchor>
  <cdr:relSizeAnchor xmlns:cdr="http://schemas.openxmlformats.org/drawingml/2006/chartDrawing">
    <cdr:from>
      <cdr:x>0.52273</cdr:x>
      <cdr:y>0.25488</cdr:y>
    </cdr:from>
    <cdr:to>
      <cdr:x>0.64531</cdr:x>
      <cdr:y>0.31104</cdr:y>
    </cdr:to>
    <cdr:sp macro="" textlink="">
      <cdr:nvSpPr>
        <cdr:cNvPr id="5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D35C7B07-B783-9D94-692A-7F76FF035BB0}"/>
            </a:ext>
          </a:extLst>
        </cdr:cNvPr>
        <cdr:cNvSpPr txBox="1"/>
      </cdr:nvSpPr>
      <cdr:spPr>
        <a:xfrm xmlns:a="http://schemas.openxmlformats.org/drawingml/2006/main">
          <a:off x="2628900" y="856980"/>
          <a:ext cx="616479" cy="188828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he-IL" sz="900" kern="1200" dirty="0">
              <a:solidFill>
                <a:schemeClr val="bg1"/>
              </a:solidFill>
            </a:rPr>
            <a:t>37.66%</a:t>
          </a:r>
        </a:p>
      </cdr:txBody>
    </cdr:sp>
  </cdr:relSizeAnchor>
  <cdr:relSizeAnchor xmlns:cdr="http://schemas.openxmlformats.org/drawingml/2006/chartDrawing">
    <cdr:from>
      <cdr:x>0.78743</cdr:x>
      <cdr:y>0.4911</cdr:y>
    </cdr:from>
    <cdr:to>
      <cdr:x>0.91001</cdr:x>
      <cdr:y>0.54726</cdr:y>
    </cdr:to>
    <cdr:sp macro="" textlink="">
      <cdr:nvSpPr>
        <cdr:cNvPr id="6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D35C7B07-B783-9D94-692A-7F76FF035BB0}"/>
            </a:ext>
          </a:extLst>
        </cdr:cNvPr>
        <cdr:cNvSpPr txBox="1"/>
      </cdr:nvSpPr>
      <cdr:spPr>
        <a:xfrm xmlns:a="http://schemas.openxmlformats.org/drawingml/2006/main">
          <a:off x="3960150" y="1651242"/>
          <a:ext cx="616479" cy="188828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he-IL" sz="900" kern="1200" dirty="0">
              <a:solidFill>
                <a:schemeClr val="bg1"/>
              </a:solidFill>
            </a:rPr>
            <a:t>36.35%</a:t>
          </a:r>
        </a:p>
      </cdr:txBody>
    </cdr:sp>
  </cdr:relSizeAnchor>
  <cdr:relSizeAnchor xmlns:cdr="http://schemas.openxmlformats.org/drawingml/2006/chartDrawing">
    <cdr:from>
      <cdr:x>0.78552</cdr:x>
      <cdr:y>0.67077</cdr:y>
    </cdr:from>
    <cdr:to>
      <cdr:x>0.90811</cdr:x>
      <cdr:y>0.72693</cdr:y>
    </cdr:to>
    <cdr:sp macro="" textlink="">
      <cdr:nvSpPr>
        <cdr:cNvPr id="7" name="תיבת טקסט 1">
          <a:extLst xmlns:a="http://schemas.openxmlformats.org/drawingml/2006/main">
            <a:ext uri="{FF2B5EF4-FFF2-40B4-BE49-F238E27FC236}">
              <a16:creationId xmlns:a16="http://schemas.microsoft.com/office/drawing/2014/main" id="{D35C7B07-B783-9D94-692A-7F76FF035BB0}"/>
            </a:ext>
          </a:extLst>
        </cdr:cNvPr>
        <cdr:cNvSpPr txBox="1"/>
      </cdr:nvSpPr>
      <cdr:spPr>
        <a:xfrm xmlns:a="http://schemas.openxmlformats.org/drawingml/2006/main">
          <a:off x="3950555" y="2255337"/>
          <a:ext cx="616529" cy="188828"/>
        </a:xfrm>
        <a:prstGeom xmlns:a="http://schemas.openxmlformats.org/drawingml/2006/main" prst="rect">
          <a:avLst/>
        </a:prstGeom>
        <a:ln xmlns:a="http://schemas.openxmlformats.org/drawingml/2006/main">
          <a:noFill/>
        </a:ln>
      </cdr:spPr>
      <cdr:txBody>
        <a:bodyPr xmlns:a="http://schemas.openxmlformats.org/drawingml/2006/main" wrap="square" rtlCol="1"/>
        <a:lstStyle xmlns:a="http://schemas.openxmlformats.org/drawingml/2006/main">
          <a:lvl1pPr marL="0" indent="0">
            <a:defRPr sz="1100">
              <a:latin typeface="+mn-lt"/>
              <a:ea typeface="+mn-ea"/>
              <a:cs typeface="+mn-cs"/>
            </a:defRPr>
          </a:lvl1pPr>
          <a:lvl2pPr marL="457200" indent="0">
            <a:defRPr sz="1100">
              <a:latin typeface="+mn-lt"/>
              <a:ea typeface="+mn-ea"/>
              <a:cs typeface="+mn-cs"/>
            </a:defRPr>
          </a:lvl2pPr>
          <a:lvl3pPr marL="914400" indent="0">
            <a:defRPr sz="1100">
              <a:latin typeface="+mn-lt"/>
              <a:ea typeface="+mn-ea"/>
              <a:cs typeface="+mn-cs"/>
            </a:defRPr>
          </a:lvl3pPr>
          <a:lvl4pPr marL="1371600" indent="0">
            <a:defRPr sz="1100">
              <a:latin typeface="+mn-lt"/>
              <a:ea typeface="+mn-ea"/>
              <a:cs typeface="+mn-cs"/>
            </a:defRPr>
          </a:lvl4pPr>
          <a:lvl5pPr marL="1828800" indent="0">
            <a:defRPr sz="1100">
              <a:latin typeface="+mn-lt"/>
              <a:ea typeface="+mn-ea"/>
              <a:cs typeface="+mn-cs"/>
            </a:defRPr>
          </a:lvl5pPr>
          <a:lvl6pPr marL="2286000" indent="0">
            <a:defRPr sz="1100">
              <a:latin typeface="+mn-lt"/>
              <a:ea typeface="+mn-ea"/>
              <a:cs typeface="+mn-cs"/>
            </a:defRPr>
          </a:lvl6pPr>
          <a:lvl7pPr marL="2743200" indent="0">
            <a:defRPr sz="1100">
              <a:latin typeface="+mn-lt"/>
              <a:ea typeface="+mn-ea"/>
              <a:cs typeface="+mn-cs"/>
            </a:defRPr>
          </a:lvl7pPr>
          <a:lvl8pPr marL="3200400" indent="0">
            <a:defRPr sz="1100">
              <a:latin typeface="+mn-lt"/>
              <a:ea typeface="+mn-ea"/>
              <a:cs typeface="+mn-cs"/>
            </a:defRPr>
          </a:lvl8pPr>
          <a:lvl9pPr marL="3657600" indent="0">
            <a:defRPr sz="1100">
              <a:latin typeface="+mn-lt"/>
              <a:ea typeface="+mn-ea"/>
              <a:cs typeface="+mn-cs"/>
            </a:defRPr>
          </a:lvl9pPr>
        </a:lstStyle>
        <a:p xmlns:a="http://schemas.openxmlformats.org/drawingml/2006/main">
          <a:r>
            <a:rPr lang="he-IL" sz="900" kern="1200" dirty="0">
              <a:solidFill>
                <a:schemeClr val="bg1"/>
              </a:solidFill>
            </a:rPr>
            <a:t>63.65%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8620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88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1"/>
          <a:lstStyle>
            <a:lvl1pPr algn="l">
              <a:defRPr sz="1200"/>
            </a:lvl1pPr>
          </a:lstStyle>
          <a:p>
            <a:fld id="{FFAF625E-D65A-4D73-B1CC-167158647343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1" anchor="ctr"/>
          <a:lstStyle/>
          <a:p>
            <a:endParaRPr lang="he-IL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1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8620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r">
              <a:defRPr sz="1200"/>
            </a:lvl1pPr>
          </a:lstStyle>
          <a:p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88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1" anchor="b"/>
          <a:lstStyle>
            <a:lvl1pPr algn="l">
              <a:defRPr sz="1200"/>
            </a:lvl1pPr>
          </a:lstStyle>
          <a:p>
            <a:fld id="{D2D0D1B1-0096-4AC0-A6DD-D3A46179ACE5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8456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0D1B1-0096-4AC0-A6DD-D3A46179ACE5}" type="slidenum">
              <a:rPr lang="he-IL" smtClean="0"/>
              <a:t>6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546441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2D0D1B1-0096-4AC0-A6DD-D3A46179ACE5}" type="slidenum">
              <a:rPr lang="he-IL" smtClean="0"/>
              <a:t>12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842605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2632177-A6AB-4E05-7C12-C14344B7CE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0AE5AB2-61A9-ACF0-83F4-ADA569252D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995AF6DA-1D5A-6D60-237B-D6AF3AE6BF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8D7B3B1D-BBE1-AA41-7855-C16D5CD365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A87416FB-46C9-7C7D-FBBC-D2244530F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7468829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8EBD512A-7F80-C274-D22C-0075EB5130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8B30F7D-B55D-1F3A-0B1D-06031B30A4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79E09D2-7CB5-89CB-9531-C0225258EB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77BB20A-8219-6B5E-12A3-B47132A46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9EB701CB-5FF1-1C55-E92E-D8E7FE9C2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1229498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410FB32C-7AB7-3D64-41DC-5521D63160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5D70A109-28A6-0899-912B-DB104871A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B4D3EAFC-5C39-7B7C-A154-FEAE29B69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9443A12C-E382-C602-807D-DE504E4F2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9503CCA-79CB-1F56-89F7-C1D5D5BE42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3911488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A136A0-511C-2CB3-F94B-24BBA36337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ED7C3B6D-03F0-06A5-2BAE-DE5FECB707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2BC268B-BD7E-15FE-0771-9D0075BB6F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B7DCCBB-5591-2CE6-EC12-FCA1E32E9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8E7FCDD-1384-46B2-BF54-9A54AB4E99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0C9F99F4-4990-C319-E988-576CE472F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836027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1B1E8A1-76FC-E36D-5A8F-3CBBF44382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2064DBB0-C4DC-2917-B2EB-F7EB7456D6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88FA8EA7-7378-B302-3E09-58B378C45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A08D6C1D-2961-F341-E022-E136F95C91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A5582BD1-35B3-2551-1E46-30A8590CD44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413CD04D-45F3-FC08-3E5A-0B0F12B002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76BD2ED1-4373-6FD4-0E28-7BFFE901B9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46B19A69-0FCC-5158-4011-E044D61A67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38909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0D119A7F-1C61-DCCD-CBCE-2B74127062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6A187474-20B3-ECAF-6989-D157F8A77E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016178E2-2D2D-DC5F-E7A3-90E98DCA6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55331AFE-FB94-25F8-96FF-DCF63392A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4566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AF51A3E9-5A51-36FE-E1E6-68FF32CE9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C2CED31E-9E3C-7D43-B330-5DC72F95B7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AE4D695A-52C0-73AC-CD44-A5C64DB6B8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552021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97C64D34-19DC-4336-C8F8-2902609C1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18E44A6E-8064-544B-1C82-A3C7BE0F9A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15F2D6CB-FFD8-E304-6B69-BB7E774DD1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7821ABB-7420-F43D-45A7-794EE13BAB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76F0542A-FA7A-8A95-73FB-91107A9242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7084369-3EEB-439D-82E5-1B505DE40C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34445041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ED85A68-803B-6F79-39F6-DE695542EF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3B011114-F1B4-CF86-8AE7-EB4993465A0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C8110CCC-6D20-4BA3-969D-68F3A689C3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9DF3190F-7D5C-B5F5-91D2-FD00C289F7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07C116CF-193C-8FE1-650B-9EB1A9BC5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716F0DB6-69E8-CBDB-DF93-D11B422D8D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798249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894F454-3971-CC5E-B81C-6E99509DBD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7615FC9-A30E-332E-076E-DAB29889098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14DA7F86-C58F-6931-0435-A61575919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D50C3F1-B1EE-A918-4FFC-1FE8FA346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DA1233C-1DA6-ACBF-EE8E-1121BBF81C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689067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E5B1C7EA-246D-4DB2-DBCE-0ACA3E8AF19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A6BFBF23-495E-AABA-502B-D576822942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C57FFDA-C0F5-D87D-B580-0BBA626868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5C083A7-FD27-A175-1880-D2B8F3953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CF8753E-38DB-0C41-D81A-8231DE519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4124157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54802FA-9640-B666-00C4-221F420CD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D0AE25C1-87DF-7D3F-4476-AD64E7701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1BD5DB8-8529-39FF-7723-8E3512557B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9CFD2B-A6DE-46ED-9B15-A2EE76CD71D6}" type="datetimeFigureOut">
              <a:rPr lang="he-IL" smtClean="0"/>
              <a:t>ט'/חשון/תשפ"ז</a:t>
            </a:fld>
            <a:endParaRPr lang="he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839BA18-025F-D007-D07E-8C1C103462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he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B2EE46A3-EAF3-98E7-287B-A6B53FE5727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D5E2681-562D-461B-8AB1-E8EFCD3809F2}" type="slidenum">
              <a:rPr lang="he-IL" smtClean="0"/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685933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chart" Target="../charts/chart5.xml"/><Relationship Id="rId5" Type="http://schemas.openxmlformats.org/officeDocument/2006/relationships/chart" Target="../charts/chart4.xml"/><Relationship Id="rId4" Type="http://schemas.openxmlformats.org/officeDocument/2006/relationships/chart" Target="../charts/char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14/relationships/chartEx" Target="../charts/chartEx1.xml"/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0.xml"/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chart" Target="../charts/chart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4AD7FF18-5234-718D-56C9-00BDADFAE41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5333" r="9089" b="1274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17958EE8-AADF-AE19-E05A-362E18845B9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3823086" cy="3204134"/>
          </a:xfrm>
        </p:spPr>
        <p:txBody>
          <a:bodyPr lIns="0" tIns="0" rIns="0" bIns="0" anchor="b">
            <a:normAutofit/>
          </a:bodyPr>
          <a:lstStyle>
            <a:lvl1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4050" b="1">
                <a:solidFill>
                  <a:srgbClr val="0B1F3A"/>
                </a:solidFill>
                <a:latin typeface="Calibri"/>
                <a:ea typeface="Calibri"/>
                <a:cs typeface="Calibri"/>
              </a:defRPr>
            </a:pPr>
            <a:r>
              <a:rPr lang="en-US" sz="4400" b="1" dirty="0">
                <a:latin typeface="Calibri"/>
                <a:ea typeface="Calibri"/>
                <a:cs typeface="Calibri"/>
              </a:rPr>
              <a:t>Customer Shopping Behavior and Promotion Effectiveness</a:t>
            </a:r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CC3CEACD-C588-3530-402D-16846FE608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 lIns="0" tIns="0" rIns="0" bIns="0">
            <a:normAutofit/>
          </a:bodyPr>
          <a:lstStyle>
            <a:lvl1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buNone/>
              <a:defRPr sz="2025">
                <a:solidFill>
                  <a:srgbClr val="F26B2E"/>
                </a:solidFill>
                <a:latin typeface="Calibri"/>
                <a:ea typeface="Calibri"/>
                <a:cs typeface="Calibri"/>
              </a:defRPr>
            </a:pPr>
            <a:r>
              <a:rPr lang="en-US" sz="2000">
                <a:latin typeface="Calibri"/>
                <a:ea typeface="Calibri"/>
                <a:cs typeface="Calibri"/>
              </a:rPr>
              <a:t>SQL and Excel Mini Project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Presenter Names">
            <a:extLst>
              <a:ext uri="{FF2B5EF4-FFF2-40B4-BE49-F238E27FC236}">
                <a16:creationId xmlns:a16="http://schemas.microsoft.com/office/drawing/2014/main" id="{54482CC1-5740-4CC3-B5E7-6A7C60BDB2F6}"/>
              </a:ext>
            </a:extLst>
          </p:cNvPr>
          <p:cNvSpPr>
            <a:spLocks noGrp="1"/>
          </p:cNvSpPr>
          <p:nvPr/>
        </p:nvSpPr>
        <p:spPr>
          <a:xfrm>
            <a:off x="733425" y="5181600"/>
            <a:ext cx="5810250" cy="1114425"/>
          </a:xfrm>
          <a:prstGeom prst="rect">
            <a:avLst/>
          </a:prstGeom>
          <a:noFill/>
          <a:ln w="0">
            <a:noFill/>
          </a:ln>
        </p:spPr>
        <p:txBody>
          <a:bodyPr vert="horz" wrap="square" lIns="0" tIns="0" rIns="0" bIns="0" anchor="ctr">
            <a:noAutofit/>
          </a:bodyPr>
          <a:lstStyle>
            <a:lvl1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lvl9pPr>
          </a:lstStyle>
          <a:p>
            <a:pPr algn="l">
              <a:spcAft>
                <a:spcPts val="600"/>
              </a:spcAft>
              <a:buNone/>
              <a:defRPr sz="1725">
                <a:solidFill>
                  <a:srgbClr val="15324A"/>
                </a:solidFill>
                <a:latin typeface="Calibri"/>
                <a:ea typeface="Calibri"/>
                <a:cs typeface="Calibri"/>
              </a:defRPr>
            </a:pPr>
            <a:r>
              <a:rPr lang="en-US" sz="1725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Shilat Ben Shimol Biton</a:t>
            </a:r>
            <a:br>
              <a:rPr lang="en-US" sz="1725">
                <a:solidFill>
                  <a:srgbClr val="15324A"/>
                </a:solidFill>
                <a:latin typeface="Calibri"/>
                <a:ea typeface="Calibri"/>
                <a:cs typeface="Calibri"/>
              </a:rPr>
            </a:br>
            <a:r>
              <a:rPr lang="en-US" sz="1725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David Zvi Samuel Alter</a:t>
            </a:r>
            <a:br>
              <a:rPr lang="en-US" sz="1725">
                <a:solidFill>
                  <a:srgbClr val="15324A"/>
                </a:solidFill>
                <a:latin typeface="Calibri"/>
                <a:ea typeface="Calibri"/>
                <a:cs typeface="Calibri"/>
              </a:rPr>
            </a:br>
            <a:r>
              <a:rPr lang="en-US" sz="1725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Hagit Turjeman</a:t>
            </a:r>
            <a:endParaRPr lang="en-US" sz="2000">
              <a:solidFill>
                <a:srgbClr val="0B1F3A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153772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889785C-6A9F-CE16-8C2A-C1B3DD5D80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8" y="454434"/>
            <a:ext cx="10515600" cy="1116203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en-US" sz="3600" b="1" noProof="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Our Chosen Topics &amp; Why They Matter</a:t>
            </a:r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6585D542-7050-B857-EAC3-88D8CF544E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40345" y="1720917"/>
            <a:ext cx="4860000" cy="2547364"/>
          </a:xfr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marL="0" indent="0" algn="l" rtl="0"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Best-Selling Products &amp; Consumer Preferences</a:t>
            </a:r>
          </a:p>
          <a:p>
            <a:pPr marL="0" indent="0" algn="l" rtl="0">
              <a:lnSpc>
                <a:spcPct val="114000"/>
              </a:lnSpc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Help us understand which products customers prefer, identify top-performing categories, and support better inventory and product decisions.</a:t>
            </a:r>
          </a:p>
          <a:p>
            <a:pPr marL="0" indent="0" algn="l" rtl="0">
              <a:buNone/>
            </a:pPr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0ACCFB57-B3C8-050B-6A90-A43240D08756}"/>
              </a:ext>
            </a:extLst>
          </p:cNvPr>
          <p:cNvSpPr txBox="1"/>
          <p:nvPr/>
        </p:nvSpPr>
        <p:spPr>
          <a:xfrm>
            <a:off x="6391656" y="1720917"/>
            <a:ext cx="4860000" cy="2547364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vert="horz" lIns="91440" tIns="45720" rIns="91440" bIns="45720" rtlCol="1" anchor="t">
            <a:normAutofit/>
          </a:bodyPr>
          <a:lstStyle>
            <a:lvl1pPr indent="0" algn="l" rtl="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b="1">
                <a:solidFill>
                  <a:schemeClr val="accent1">
                    <a:lumMod val="50000"/>
                  </a:schemeClr>
                </a:solidFill>
              </a:defRPr>
            </a:lvl1pPr>
            <a:lvl2pPr marL="685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lt1"/>
                </a:solidFill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lt1"/>
                </a:solidFill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lt1"/>
                </a:solidFill>
              </a:defRPr>
            </a:lvl9pPr>
          </a:lstStyle>
          <a:p>
            <a:r>
              <a:rPr lang="en-US" dirty="0"/>
              <a:t>Effectiveness of Discounts &amp; Promotions</a:t>
            </a:r>
          </a:p>
          <a:p>
            <a:pPr>
              <a:lnSpc>
                <a:spcPct val="114000"/>
              </a:lnSpc>
            </a:pPr>
            <a:r>
              <a:rPr lang="en-US" sz="2000" b="0" dirty="0"/>
              <a:t>Help us examine how promotions relate to customer purchasing behavior and evaluate whether they are associated with increased spending.</a:t>
            </a: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806855A8-51FA-46FA-7CBC-8A228D0EEB2E}"/>
              </a:ext>
            </a:extLst>
          </p:cNvPr>
          <p:cNvSpPr/>
          <p:nvPr/>
        </p:nvSpPr>
        <p:spPr>
          <a:xfrm>
            <a:off x="940345" y="1720917"/>
            <a:ext cx="4860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C1479FCD-FA2B-5F2B-9C24-273F516EAE52}"/>
              </a:ext>
            </a:extLst>
          </p:cNvPr>
          <p:cNvSpPr/>
          <p:nvPr/>
        </p:nvSpPr>
        <p:spPr>
          <a:xfrm>
            <a:off x="6391655" y="1728117"/>
            <a:ext cx="4860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" name="מציין מיקום תוכן 2">
            <a:extLst>
              <a:ext uri="{FF2B5EF4-FFF2-40B4-BE49-F238E27FC236}">
                <a16:creationId xmlns:a16="http://schemas.microsoft.com/office/drawing/2014/main" id="{53FF75F4-4402-E128-66E6-23CB045D4DF2}"/>
              </a:ext>
            </a:extLst>
          </p:cNvPr>
          <p:cNvSpPr txBox="1">
            <a:spLocks/>
          </p:cNvSpPr>
          <p:nvPr/>
        </p:nvSpPr>
        <p:spPr>
          <a:xfrm>
            <a:off x="940345" y="4507870"/>
            <a:ext cx="10311310" cy="1895696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vert="horz" lIns="91440" tIns="45720" rIns="91440" bIns="45720" rtlCol="1" anchor="t">
            <a:normAutofit/>
          </a:bodyPr>
          <a:lstStyle>
            <a:lvl1pPr marL="228600" indent="-228600" algn="r" defTabSz="914400" rtl="1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685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1143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600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20574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5146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9718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4290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886200" indent="-228600" algn="r" defTabSz="914400" rtl="1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l" rtl="0">
              <a:buFont typeface="Arial" panose="020B0604020202020204" pitchFamily="34" charset="0"/>
              <a:buNone/>
            </a:pPr>
            <a:r>
              <a:rPr lang="en-US" sz="2400" b="1" dirty="0">
                <a:solidFill>
                  <a:schemeClr val="accent1">
                    <a:lumMod val="50000"/>
                  </a:schemeClr>
                </a:solidFill>
              </a:rPr>
              <a:t>About the Dataset</a:t>
            </a:r>
          </a:p>
          <a:p>
            <a:pPr marL="0" indent="0" algn="l" rtl="0">
              <a:lnSpc>
                <a:spcPct val="114000"/>
              </a:lnSpc>
              <a:buFont typeface="Arial" panose="020B0604020202020204" pitchFamily="34" charset="0"/>
              <a:buNone/>
            </a:pPr>
            <a:r>
              <a:rPr lang="en-US" sz="2000" dirty="0">
                <a:solidFill>
                  <a:schemeClr val="accent1">
                    <a:lumMod val="50000"/>
                  </a:schemeClr>
                </a:solidFill>
              </a:rPr>
              <a:t>Our analysis is based on a synthetic dataset of 3,900 customer shopping records, including 20 variables covering customer demographics, purchasing behavior, product categories, seasonal trends, and promotions.</a:t>
            </a:r>
            <a:endParaRPr lang="en-US" sz="18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B02F972D-F63C-FD85-AAF1-54B6301B6431}"/>
              </a:ext>
            </a:extLst>
          </p:cNvPr>
          <p:cNvSpPr/>
          <p:nvPr/>
        </p:nvSpPr>
        <p:spPr>
          <a:xfrm>
            <a:off x="940344" y="4493469"/>
            <a:ext cx="10311309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53515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t="15673" r="9089" b="12404"/>
          <a:stretch>
            <a:fillRect/>
          </a:stretch>
        </p:blipFill>
        <p:spPr>
          <a:xfrm>
            <a:off x="3523488" y="10"/>
            <a:ext cx="8668512" cy="6857990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E6F4A553-11A5-3C26-C595-56A38EAA6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spcAft>
                <a:spcPts val="1200"/>
              </a:spcAft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pPr>
            <a:r>
              <a:rPr lang="en-US" sz="4800" b="1">
                <a:latin typeface="Calibri"/>
                <a:ea typeface="Calibri"/>
                <a:cs typeface="Calibri"/>
              </a:rPr>
              <a:t>Best-Selling Products </a:t>
            </a:r>
            <a:br>
              <a:rPr lang="en-US" sz="4800" b="1">
                <a:latin typeface="Calibri"/>
                <a:ea typeface="Calibri"/>
                <a:cs typeface="Calibri"/>
              </a:rPr>
            </a:br>
            <a:r>
              <a:rPr lang="en-US" sz="4800" b="1">
                <a:latin typeface="Calibri"/>
                <a:ea typeface="Calibri"/>
                <a:cs typeface="Calibri"/>
              </a:rPr>
              <a:t>and Consumer Preferences</a:t>
            </a: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852414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מלבן 24">
            <a:extLst>
              <a:ext uri="{FF2B5EF4-FFF2-40B4-BE49-F238E27FC236}">
                <a16:creationId xmlns:a16="http://schemas.microsoft.com/office/drawing/2014/main" id="{012C0187-EDB8-E61B-FE6A-DFE6BD457BEE}"/>
              </a:ext>
            </a:extLst>
          </p:cNvPr>
          <p:cNvSpPr/>
          <p:nvPr/>
        </p:nvSpPr>
        <p:spPr>
          <a:xfrm>
            <a:off x="6932676" y="1605031"/>
            <a:ext cx="4716780" cy="2682788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6031558D-1B07-28CC-7F9D-9DB07FE606EE}"/>
              </a:ext>
            </a:extLst>
          </p:cNvPr>
          <p:cNvSpPr/>
          <p:nvPr/>
        </p:nvSpPr>
        <p:spPr>
          <a:xfrm>
            <a:off x="850536" y="3786982"/>
            <a:ext cx="5863590" cy="2143895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01155BED-8BC6-92F8-9C16-5D2D97B803D4}"/>
              </a:ext>
            </a:extLst>
          </p:cNvPr>
          <p:cNvSpPr/>
          <p:nvPr/>
        </p:nvSpPr>
        <p:spPr>
          <a:xfrm>
            <a:off x="838200" y="1605031"/>
            <a:ext cx="5736336" cy="1961129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5AB8549-305F-46DC-5D35-1390DAEC19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94457"/>
            <a:ext cx="10515600" cy="96989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en-US" sz="3600" b="1" noProof="0">
                <a:latin typeface="Calibri"/>
                <a:ea typeface="Calibri"/>
                <a:cs typeface="Calibri"/>
              </a:rPr>
              <a:t>Methodology &amp; Key Performance Indicators (KPIs)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C5C7811-A720-4DDD-F50F-0FC5FD32ABFE}"/>
                  </a:ext>
                </a:extLst>
              </p:cNvPr>
              <p:cNvSpPr txBox="1"/>
              <p:nvPr/>
            </p:nvSpPr>
            <p:spPr>
              <a:xfrm>
                <a:off x="1164336" y="3044678"/>
                <a:ext cx="517017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𝑇𝑜𝑡𝑎𝑙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𝑈𝑛𝑖𝑡𝑠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𝑆𝑜𝑙𝑑</m:t>
                      </m:r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𝐴𝑣𝑒𝑟𝑎𝑔𝑒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𝑅𝑒𝑣𝑖𝑒𝑤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𝑅𝑎𝑡𝑖𝑛𝑔</m:t>
                      </m:r>
                    </m:oMath>
                  </m:oMathPara>
                </a14:m>
                <a:endParaRPr lang="en-US" dirty="0"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1C5C7811-A720-4DDD-F50F-0FC5FD32A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336" y="3044678"/>
                <a:ext cx="5170170" cy="369332"/>
              </a:xfrm>
              <a:prstGeom prst="rect">
                <a:avLst/>
              </a:prstGeom>
              <a:blipFill>
                <a:blip r:embed="rId2"/>
                <a:stretch>
                  <a:fillRect b="-13115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95C014DA-912A-7835-39F1-A9F27B8341A6}"/>
                  </a:ext>
                </a:extLst>
              </p:cNvPr>
              <p:cNvSpPr txBox="1"/>
              <p:nvPr/>
            </p:nvSpPr>
            <p:spPr>
              <a:xfrm>
                <a:off x="1475994" y="5210834"/>
                <a:ext cx="4858512" cy="6190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𝑅𝑒𝑣𝑒𝑛𝑢𝑒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𝑓𝑟𝑜𝑚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𝐸𝑎𝑐ℎ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𝐶𝑎𝑡𝑒𝑔𝑜𝑟𝑦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𝑇𝑜𝑡𝑎𝑙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 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  <a:ea typeface="Calibri"/>
                              <a:cs typeface="Calibri"/>
                            </a:rPr>
                            <m:t>𝑅𝑒𝑣𝑒𝑛𝑢𝑒</m:t>
                          </m:r>
                        </m:den>
                      </m:f>
                      <m:r>
                        <a:rPr lang="en-US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</m:t>
                      </m:r>
                      <m:r>
                        <a:rPr lang="en-US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100</m:t>
                      </m:r>
                    </m:oMath>
                  </m:oMathPara>
                </a14:m>
                <a:endParaRPr lang="en-US" sz="2000" dirty="0"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95C014DA-912A-7835-39F1-A9F27B8341A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5994" y="5210834"/>
                <a:ext cx="4858512" cy="6190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453C6C80-3704-3743-36CB-31BD5F139960}"/>
              </a:ext>
            </a:extLst>
          </p:cNvPr>
          <p:cNvSpPr txBox="1"/>
          <p:nvPr/>
        </p:nvSpPr>
        <p:spPr>
          <a:xfrm>
            <a:off x="7019400" y="1643896"/>
            <a:ext cx="4489704" cy="24160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2000" b="1" dirty="0"/>
              <a:t>3. Impact of rating on sales</a:t>
            </a:r>
          </a:p>
          <a:p>
            <a:pPr algn="l" rtl="0">
              <a:spcAft>
                <a:spcPts val="600"/>
              </a:spcAft>
            </a:pPr>
            <a:r>
              <a:rPr lang="en-US" sz="2000" b="1" dirty="0"/>
              <a:t>Purpose: </a:t>
            </a:r>
            <a:r>
              <a:rPr lang="en-US" sz="2000" noProof="0" dirty="0"/>
              <a:t>Examine whether products with higher customer ratings tend to sell more units.</a:t>
            </a:r>
          </a:p>
          <a:p>
            <a:pPr algn="l" rtl="0">
              <a:spcAft>
                <a:spcPts val="600"/>
              </a:spcAft>
            </a:pPr>
            <a:r>
              <a:rPr lang="en-US" sz="2000" b="1" dirty="0"/>
              <a:t>Calculation:</a:t>
            </a:r>
          </a:p>
          <a:p>
            <a:pPr algn="ctr" rtl="0"/>
            <a:r>
              <a:rPr lang="en-US" dirty="0"/>
              <a:t>Pearson Correlation between </a:t>
            </a:r>
          </a:p>
          <a:p>
            <a:pPr algn="ctr" rtl="0"/>
            <a:r>
              <a:rPr lang="en-US" i="1" dirty="0">
                <a:latin typeface="Cambria Math" panose="02040503050406030204" pitchFamily="18" charset="0"/>
                <a:ea typeface="Calibri"/>
                <a:cs typeface="Calibri"/>
              </a:rPr>
              <a:t>Average Review  </a:t>
            </a:r>
            <a:r>
              <a:rPr lang="en-US" dirty="0"/>
              <a:t>and </a:t>
            </a:r>
            <a:r>
              <a:rPr lang="en-US" i="1" dirty="0">
                <a:latin typeface="Cambria Math" panose="02040503050406030204" pitchFamily="18" charset="0"/>
                <a:ea typeface="Calibri"/>
                <a:cs typeface="Calibri"/>
              </a:rPr>
              <a:t>Total units Sold</a:t>
            </a:r>
            <a:endParaRPr lang="he-IL" i="1" dirty="0">
              <a:latin typeface="Cambria Math" panose="02040503050406030204" pitchFamily="18" charset="0"/>
              <a:ea typeface="Calibri"/>
              <a:cs typeface="Calibri"/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5B40D4C4-6800-E1FF-DF1C-6422C6017CB2}"/>
              </a:ext>
            </a:extLst>
          </p:cNvPr>
          <p:cNvSpPr txBox="1"/>
          <p:nvPr/>
        </p:nvSpPr>
        <p:spPr>
          <a:xfrm>
            <a:off x="850536" y="3827757"/>
            <a:ext cx="564870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2000" b="1" dirty="0"/>
              <a:t>2. Revenue contribution by category</a:t>
            </a:r>
          </a:p>
          <a:p>
            <a:pPr algn="l" rtl="0">
              <a:spcAft>
                <a:spcPts val="600"/>
              </a:spcAft>
            </a:pPr>
            <a:r>
              <a:rPr lang="en-US" sz="2000" b="1" dirty="0"/>
              <a:t>Purpose: </a:t>
            </a:r>
            <a:r>
              <a:rPr lang="en-US" sz="2000" noProof="0" dirty="0"/>
              <a:t>Measure how much each product category contributes to total revenue.</a:t>
            </a:r>
            <a:endParaRPr lang="en-US" sz="2000" b="1" dirty="0"/>
          </a:p>
          <a:p>
            <a:pPr algn="l" rtl="0"/>
            <a:r>
              <a:rPr lang="en-US" sz="2000" b="1" dirty="0"/>
              <a:t>Calculation: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E4ACBEAD-AD12-3234-2090-5F4C6896F0BE}"/>
              </a:ext>
            </a:extLst>
          </p:cNvPr>
          <p:cNvSpPr txBox="1"/>
          <p:nvPr/>
        </p:nvSpPr>
        <p:spPr>
          <a:xfrm>
            <a:off x="850536" y="1643896"/>
            <a:ext cx="5496306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2000" b="1" noProof="0" dirty="0"/>
              <a:t>1. Product popularity index</a:t>
            </a:r>
          </a:p>
          <a:p>
            <a:pPr algn="l" rtl="0">
              <a:spcAft>
                <a:spcPts val="600"/>
              </a:spcAft>
            </a:pPr>
            <a:r>
              <a:rPr lang="en-US" sz="2000" b="1" noProof="0" dirty="0"/>
              <a:t>Purpose:</a:t>
            </a:r>
            <a:r>
              <a:rPr lang="en-US" sz="2000" noProof="0" dirty="0"/>
              <a:t> Identify the most popular products by combining sales volume and customer ratings.</a:t>
            </a:r>
          </a:p>
          <a:p>
            <a:pPr algn="l" rtl="0"/>
            <a:r>
              <a:rPr lang="en-US" sz="2000" b="1" dirty="0"/>
              <a:t>Calculation:</a:t>
            </a:r>
          </a:p>
          <a:p>
            <a:pPr algn="l" rtl="0">
              <a:spcAft>
                <a:spcPts val="600"/>
              </a:spcAft>
            </a:pPr>
            <a:endParaRPr lang="en-US" sz="2000" b="1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D5422FBB-3ADD-6583-C09F-54A36787251E}"/>
              </a:ext>
            </a:extLst>
          </p:cNvPr>
          <p:cNvSpPr/>
          <p:nvPr/>
        </p:nvSpPr>
        <p:spPr>
          <a:xfrm>
            <a:off x="842010" y="1600128"/>
            <a:ext cx="5724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3FCAC090-F7AE-C505-D7EE-0DDE61D1EB7F}"/>
              </a:ext>
            </a:extLst>
          </p:cNvPr>
          <p:cNvSpPr/>
          <p:nvPr/>
        </p:nvSpPr>
        <p:spPr>
          <a:xfrm>
            <a:off x="850536" y="3800987"/>
            <a:ext cx="5868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6F312D3D-49AB-EEC6-E814-52BC4547AD9B}"/>
              </a:ext>
            </a:extLst>
          </p:cNvPr>
          <p:cNvSpPr/>
          <p:nvPr/>
        </p:nvSpPr>
        <p:spPr>
          <a:xfrm>
            <a:off x="6932676" y="1616926"/>
            <a:ext cx="4716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2344093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83FE575-23C1-31C6-BBC6-593747FECC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09625"/>
          </a:xfrm>
        </p:spPr>
        <p:txBody>
          <a:bodyPr>
            <a:normAutofit/>
          </a:bodyPr>
          <a:lstStyle/>
          <a:p>
            <a:pPr algn="ctr"/>
            <a:r>
              <a:rPr lang="en-US" sz="3600" b="1" dirty="0">
                <a:latin typeface="Calibri"/>
                <a:ea typeface="Calibri"/>
                <a:cs typeface="Calibri"/>
              </a:rPr>
              <a:t>Product Popularity</a:t>
            </a:r>
            <a:endParaRPr lang="he-IL" sz="3600" b="1" dirty="0"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מציין מיקום תוכן 5">
            <a:extLst>
              <a:ext uri="{FF2B5EF4-FFF2-40B4-BE49-F238E27FC236}">
                <a16:creationId xmlns:a16="http://schemas.microsoft.com/office/drawing/2014/main" id="{497C2D0F-01BC-D343-AA7A-CBCA672FB1A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7445904"/>
              </p:ext>
            </p:extLst>
          </p:nvPr>
        </p:nvGraphicFramePr>
        <p:xfrm>
          <a:off x="838200" y="1834092"/>
          <a:ext cx="7140574" cy="4351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4" name="מלבן 3">
            <a:extLst>
              <a:ext uri="{FF2B5EF4-FFF2-40B4-BE49-F238E27FC236}">
                <a16:creationId xmlns:a16="http://schemas.microsoft.com/office/drawing/2014/main" id="{7EF7F5B8-FD01-428C-9E68-3DAEAB32F0EC}"/>
              </a:ext>
            </a:extLst>
          </p:cNvPr>
          <p:cNvSpPr/>
          <p:nvPr/>
        </p:nvSpPr>
        <p:spPr>
          <a:xfrm>
            <a:off x="8966200" y="1270000"/>
            <a:ext cx="2489200" cy="39370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9C1B22B-3750-449E-853F-C90E2D712ED3}"/>
              </a:ext>
            </a:extLst>
          </p:cNvPr>
          <p:cNvSpPr txBox="1"/>
          <p:nvPr/>
        </p:nvSpPr>
        <p:spPr>
          <a:xfrm>
            <a:off x="9051925" y="1787525"/>
            <a:ext cx="1482724" cy="2540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400" b="1" u="sng" dirty="0">
                <a:solidFill>
                  <a:srgbClr val="6B7C8F"/>
                </a:solidFill>
                <a:latin typeface="Calibri"/>
                <a:ea typeface="Calibri"/>
                <a:cs typeface="Calibri"/>
              </a:rPr>
              <a:t>RANKING SNAPSHOT</a:t>
            </a:r>
            <a:endParaRPr lang="he-IL" sz="1400" b="1" u="sng" dirty="0">
              <a:solidFill>
                <a:srgbClr val="6B7C8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A5E70332-998F-46F5-A1A1-89E19E4D4913}"/>
              </a:ext>
            </a:extLst>
          </p:cNvPr>
          <p:cNvSpPr/>
          <p:nvPr/>
        </p:nvSpPr>
        <p:spPr>
          <a:xfrm>
            <a:off x="8683625" y="2136775"/>
            <a:ext cx="2484000" cy="317500"/>
          </a:xfrm>
          <a:prstGeom prst="rect">
            <a:avLst/>
          </a:prstGeom>
          <a:solidFill>
            <a:srgbClr val="F37032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57E74637-3399-4CF0-B18B-705EC483510A}"/>
              </a:ext>
            </a:extLst>
          </p:cNvPr>
          <p:cNvSpPr txBox="1"/>
          <p:nvPr/>
        </p:nvSpPr>
        <p:spPr>
          <a:xfrm>
            <a:off x="8705849" y="2155825"/>
            <a:ext cx="18288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TOP 3</a:t>
            </a:r>
            <a:endParaRPr lang="he-IL" sz="11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9E9C9C81-3262-4B13-8DF5-4E3471BF9E0A}"/>
              </a:ext>
            </a:extLst>
          </p:cNvPr>
          <p:cNvSpPr txBox="1"/>
          <p:nvPr/>
        </p:nvSpPr>
        <p:spPr>
          <a:xfrm>
            <a:off x="8645525" y="2555875"/>
            <a:ext cx="2540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 b="1" dirty="0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12" name="תיבת טקסט 11">
            <a:extLst>
              <a:ext uri="{FF2B5EF4-FFF2-40B4-BE49-F238E27FC236}">
                <a16:creationId xmlns:a16="http://schemas.microsoft.com/office/drawing/2014/main" id="{27E2DE96-B958-4E3D-B6D3-73078CBF8A3D}"/>
              </a:ext>
            </a:extLst>
          </p:cNvPr>
          <p:cNvSpPr txBox="1"/>
          <p:nvPr/>
        </p:nvSpPr>
        <p:spPr>
          <a:xfrm>
            <a:off x="8829674" y="2555875"/>
            <a:ext cx="10922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200" b="1" dirty="0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Jewelry</a:t>
            </a:r>
            <a:endParaRPr lang="he-IL" sz="1200" b="1" dirty="0">
              <a:solidFill>
                <a:srgbClr val="1532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C944D04A-D4BD-401E-871E-4893831DE217}"/>
              </a:ext>
            </a:extLst>
          </p:cNvPr>
          <p:cNvSpPr txBox="1"/>
          <p:nvPr/>
        </p:nvSpPr>
        <p:spPr>
          <a:xfrm>
            <a:off x="10118725" y="2555875"/>
            <a:ext cx="6096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642</a:t>
            </a:r>
          </a:p>
        </p:txBody>
      </p:sp>
      <p:sp>
        <p:nvSpPr>
          <p:cNvPr id="14" name="מלבן 13">
            <a:extLst>
              <a:ext uri="{FF2B5EF4-FFF2-40B4-BE49-F238E27FC236}">
                <a16:creationId xmlns:a16="http://schemas.microsoft.com/office/drawing/2014/main" id="{30BC6F33-0A35-4B63-B34A-59AE3CD38B0A}"/>
              </a:ext>
            </a:extLst>
          </p:cNvPr>
          <p:cNvSpPr/>
          <p:nvPr/>
        </p:nvSpPr>
        <p:spPr>
          <a:xfrm>
            <a:off x="8899525" y="2855595"/>
            <a:ext cx="2232000" cy="10160"/>
          </a:xfrm>
          <a:prstGeom prst="rect">
            <a:avLst/>
          </a:prstGeom>
          <a:solidFill>
            <a:srgbClr val="DCE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8BA5278A-3A3A-430D-89AB-CFB9B5D945E7}"/>
              </a:ext>
            </a:extLst>
          </p:cNvPr>
          <p:cNvSpPr txBox="1"/>
          <p:nvPr/>
        </p:nvSpPr>
        <p:spPr>
          <a:xfrm>
            <a:off x="8645525" y="2936875"/>
            <a:ext cx="2540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 b="1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7B0A2730-E5CB-4387-9020-42FF3D83FF24}"/>
              </a:ext>
            </a:extLst>
          </p:cNvPr>
          <p:cNvSpPr txBox="1"/>
          <p:nvPr/>
        </p:nvSpPr>
        <p:spPr>
          <a:xfrm>
            <a:off x="8829674" y="2933700"/>
            <a:ext cx="10922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200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Pants</a:t>
            </a:r>
            <a:endParaRPr lang="he-IL" sz="1200">
              <a:solidFill>
                <a:srgbClr val="1532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1D6A72A9-3B9B-4B09-B588-9CF92A047B26}"/>
              </a:ext>
            </a:extLst>
          </p:cNvPr>
          <p:cNvSpPr txBox="1"/>
          <p:nvPr/>
        </p:nvSpPr>
        <p:spPr>
          <a:xfrm>
            <a:off x="10118725" y="2936875"/>
            <a:ext cx="6096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636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3C3CA11D-E6F8-4665-9590-AD1B0693C29D}"/>
              </a:ext>
            </a:extLst>
          </p:cNvPr>
          <p:cNvSpPr/>
          <p:nvPr/>
        </p:nvSpPr>
        <p:spPr>
          <a:xfrm>
            <a:off x="8899525" y="3244533"/>
            <a:ext cx="2232000" cy="10160"/>
          </a:xfrm>
          <a:prstGeom prst="rect">
            <a:avLst/>
          </a:prstGeom>
          <a:solidFill>
            <a:srgbClr val="DCE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749ABC6D-1654-4C66-98C9-A371D33FEA49}"/>
              </a:ext>
            </a:extLst>
          </p:cNvPr>
          <p:cNvSpPr txBox="1"/>
          <p:nvPr/>
        </p:nvSpPr>
        <p:spPr>
          <a:xfrm>
            <a:off x="8645525" y="3317875"/>
            <a:ext cx="2540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 b="1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20" name="תיבת טקסט 19">
            <a:extLst>
              <a:ext uri="{FF2B5EF4-FFF2-40B4-BE49-F238E27FC236}">
                <a16:creationId xmlns:a16="http://schemas.microsoft.com/office/drawing/2014/main" id="{61DA231B-EFC9-4ACA-B20B-42A09AD846FB}"/>
              </a:ext>
            </a:extLst>
          </p:cNvPr>
          <p:cNvSpPr txBox="1"/>
          <p:nvPr/>
        </p:nvSpPr>
        <p:spPr>
          <a:xfrm>
            <a:off x="8829674" y="3317875"/>
            <a:ext cx="10922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Blouse</a:t>
            </a:r>
            <a:endParaRPr lang="he-IL" sz="1200" dirty="0">
              <a:solidFill>
                <a:srgbClr val="1532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1" name="תיבת טקסט 20">
            <a:extLst>
              <a:ext uri="{FF2B5EF4-FFF2-40B4-BE49-F238E27FC236}">
                <a16:creationId xmlns:a16="http://schemas.microsoft.com/office/drawing/2014/main" id="{51BAAF6C-A4FC-4BFC-AEDE-6C468F708D07}"/>
              </a:ext>
            </a:extLst>
          </p:cNvPr>
          <p:cNvSpPr txBox="1"/>
          <p:nvPr/>
        </p:nvSpPr>
        <p:spPr>
          <a:xfrm>
            <a:off x="10118725" y="3317875"/>
            <a:ext cx="6096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630</a:t>
            </a:r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238972D5-4CDA-4BA6-8EBE-4036EFE2944A}"/>
              </a:ext>
            </a:extLst>
          </p:cNvPr>
          <p:cNvSpPr/>
          <p:nvPr/>
        </p:nvSpPr>
        <p:spPr>
          <a:xfrm>
            <a:off x="8683625" y="3800475"/>
            <a:ext cx="2484000" cy="317500"/>
          </a:xfrm>
          <a:prstGeom prst="rect">
            <a:avLst/>
          </a:prstGeom>
          <a:solidFill>
            <a:srgbClr val="C94A3B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97C21621-A163-4B9C-A2CC-50F23298B466}"/>
              </a:ext>
            </a:extLst>
          </p:cNvPr>
          <p:cNvSpPr txBox="1"/>
          <p:nvPr/>
        </p:nvSpPr>
        <p:spPr>
          <a:xfrm>
            <a:off x="8683625" y="3822700"/>
            <a:ext cx="18288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1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BOTTOM 3</a:t>
            </a:r>
            <a:endParaRPr lang="he-IL" sz="1100" b="1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4" name="תיבת טקסט 23">
            <a:extLst>
              <a:ext uri="{FF2B5EF4-FFF2-40B4-BE49-F238E27FC236}">
                <a16:creationId xmlns:a16="http://schemas.microsoft.com/office/drawing/2014/main" id="{9F06569A-3A5D-494B-A85A-09507026F312}"/>
              </a:ext>
            </a:extLst>
          </p:cNvPr>
          <p:cNvSpPr txBox="1"/>
          <p:nvPr/>
        </p:nvSpPr>
        <p:spPr>
          <a:xfrm>
            <a:off x="8645525" y="4232275"/>
            <a:ext cx="2540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 b="1">
                <a:solidFill>
                  <a:srgbClr val="C94A3B"/>
                </a:solidFill>
                <a:latin typeface="Calibri"/>
                <a:ea typeface="Calibri"/>
                <a:cs typeface="Calibri"/>
              </a:rPr>
              <a:t>1</a:t>
            </a:r>
          </a:p>
        </p:txBody>
      </p:sp>
      <p:sp>
        <p:nvSpPr>
          <p:cNvPr id="25" name="תיבת טקסט 24">
            <a:extLst>
              <a:ext uri="{FF2B5EF4-FFF2-40B4-BE49-F238E27FC236}">
                <a16:creationId xmlns:a16="http://schemas.microsoft.com/office/drawing/2014/main" id="{54603CB9-C1CE-4742-B980-B8B63AABD92D}"/>
              </a:ext>
            </a:extLst>
          </p:cNvPr>
          <p:cNvSpPr txBox="1"/>
          <p:nvPr/>
        </p:nvSpPr>
        <p:spPr>
          <a:xfrm>
            <a:off x="8829674" y="4232275"/>
            <a:ext cx="10922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200" b="1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Jeans</a:t>
            </a:r>
            <a:endParaRPr lang="he-IL" sz="1200" b="1">
              <a:solidFill>
                <a:srgbClr val="1532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26" name="תיבת טקסט 25">
            <a:extLst>
              <a:ext uri="{FF2B5EF4-FFF2-40B4-BE49-F238E27FC236}">
                <a16:creationId xmlns:a16="http://schemas.microsoft.com/office/drawing/2014/main" id="{8D6B9D8D-888B-4565-935E-62F9E51A243C}"/>
              </a:ext>
            </a:extLst>
          </p:cNvPr>
          <p:cNvSpPr txBox="1"/>
          <p:nvPr/>
        </p:nvSpPr>
        <p:spPr>
          <a:xfrm>
            <a:off x="10118725" y="4232275"/>
            <a:ext cx="6096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452</a:t>
            </a:r>
          </a:p>
        </p:txBody>
      </p:sp>
      <p:sp>
        <p:nvSpPr>
          <p:cNvPr id="28" name="תיבת טקסט 27">
            <a:extLst>
              <a:ext uri="{FF2B5EF4-FFF2-40B4-BE49-F238E27FC236}">
                <a16:creationId xmlns:a16="http://schemas.microsoft.com/office/drawing/2014/main" id="{D064A3D7-461F-4AC1-82D2-9C032233BEFF}"/>
              </a:ext>
            </a:extLst>
          </p:cNvPr>
          <p:cNvSpPr txBox="1"/>
          <p:nvPr/>
        </p:nvSpPr>
        <p:spPr>
          <a:xfrm>
            <a:off x="8645525" y="4613275"/>
            <a:ext cx="2540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 b="1">
                <a:solidFill>
                  <a:srgbClr val="C94A3B"/>
                </a:solidFill>
                <a:latin typeface="Calibri"/>
                <a:ea typeface="Calibri"/>
                <a:cs typeface="Calibri"/>
              </a:rPr>
              <a:t>2</a:t>
            </a:r>
          </a:p>
        </p:txBody>
      </p:sp>
      <p:sp>
        <p:nvSpPr>
          <p:cNvPr id="29" name="תיבת טקסט 28">
            <a:extLst>
              <a:ext uri="{FF2B5EF4-FFF2-40B4-BE49-F238E27FC236}">
                <a16:creationId xmlns:a16="http://schemas.microsoft.com/office/drawing/2014/main" id="{C5965755-F1BE-4D07-AF86-C7A8B621968B}"/>
              </a:ext>
            </a:extLst>
          </p:cNvPr>
          <p:cNvSpPr txBox="1"/>
          <p:nvPr/>
        </p:nvSpPr>
        <p:spPr>
          <a:xfrm>
            <a:off x="8829674" y="4613275"/>
            <a:ext cx="10922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200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Backpack</a:t>
            </a:r>
            <a:endParaRPr lang="he-IL" sz="1200">
              <a:solidFill>
                <a:srgbClr val="1532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0" name="תיבת טקסט 29">
            <a:extLst>
              <a:ext uri="{FF2B5EF4-FFF2-40B4-BE49-F238E27FC236}">
                <a16:creationId xmlns:a16="http://schemas.microsoft.com/office/drawing/2014/main" id="{17B434F4-843C-4934-AECF-88D6208BB07F}"/>
              </a:ext>
            </a:extLst>
          </p:cNvPr>
          <p:cNvSpPr txBox="1"/>
          <p:nvPr/>
        </p:nvSpPr>
        <p:spPr>
          <a:xfrm>
            <a:off x="10118725" y="4613275"/>
            <a:ext cx="6096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537</a:t>
            </a:r>
          </a:p>
        </p:txBody>
      </p:sp>
      <p:sp>
        <p:nvSpPr>
          <p:cNvPr id="32" name="תיבת טקסט 31">
            <a:extLst>
              <a:ext uri="{FF2B5EF4-FFF2-40B4-BE49-F238E27FC236}">
                <a16:creationId xmlns:a16="http://schemas.microsoft.com/office/drawing/2014/main" id="{9B6AAF49-503C-4E8F-847B-597B7742B6E5}"/>
              </a:ext>
            </a:extLst>
          </p:cNvPr>
          <p:cNvSpPr txBox="1"/>
          <p:nvPr/>
        </p:nvSpPr>
        <p:spPr>
          <a:xfrm>
            <a:off x="8645525" y="4994275"/>
            <a:ext cx="2540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100" b="1" dirty="0">
                <a:solidFill>
                  <a:srgbClr val="C94A3B"/>
                </a:solidFill>
                <a:latin typeface="Calibri"/>
                <a:ea typeface="Calibri"/>
                <a:cs typeface="Calibri"/>
              </a:rPr>
              <a:t>3</a:t>
            </a:r>
          </a:p>
        </p:txBody>
      </p:sp>
      <p:sp>
        <p:nvSpPr>
          <p:cNvPr id="33" name="תיבת טקסט 32">
            <a:extLst>
              <a:ext uri="{FF2B5EF4-FFF2-40B4-BE49-F238E27FC236}">
                <a16:creationId xmlns:a16="http://schemas.microsoft.com/office/drawing/2014/main" id="{F98C400F-956F-45AE-B5CA-7B26343F9038}"/>
              </a:ext>
            </a:extLst>
          </p:cNvPr>
          <p:cNvSpPr txBox="1"/>
          <p:nvPr/>
        </p:nvSpPr>
        <p:spPr>
          <a:xfrm>
            <a:off x="8829674" y="4994275"/>
            <a:ext cx="10922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en-US" sz="1200" dirty="0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Gloves</a:t>
            </a:r>
            <a:endParaRPr lang="he-IL" sz="1200" dirty="0">
              <a:solidFill>
                <a:srgbClr val="1532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34" name="תיבת טקסט 33">
            <a:extLst>
              <a:ext uri="{FF2B5EF4-FFF2-40B4-BE49-F238E27FC236}">
                <a16:creationId xmlns:a16="http://schemas.microsoft.com/office/drawing/2014/main" id="{8897561A-69BE-4951-A4E6-BA20E33C82A7}"/>
              </a:ext>
            </a:extLst>
          </p:cNvPr>
          <p:cNvSpPr txBox="1"/>
          <p:nvPr/>
        </p:nvSpPr>
        <p:spPr>
          <a:xfrm>
            <a:off x="10118725" y="4994275"/>
            <a:ext cx="609600" cy="2794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541</a:t>
            </a:r>
          </a:p>
        </p:txBody>
      </p:sp>
      <p:sp>
        <p:nvSpPr>
          <p:cNvPr id="41" name="מלבן 40">
            <a:extLst>
              <a:ext uri="{FF2B5EF4-FFF2-40B4-BE49-F238E27FC236}">
                <a16:creationId xmlns:a16="http://schemas.microsoft.com/office/drawing/2014/main" id="{7FE50932-D157-306E-09E1-894E3AC40EAE}"/>
              </a:ext>
            </a:extLst>
          </p:cNvPr>
          <p:cNvSpPr/>
          <p:nvPr/>
        </p:nvSpPr>
        <p:spPr>
          <a:xfrm>
            <a:off x="8899525" y="4560570"/>
            <a:ext cx="2232000" cy="10160"/>
          </a:xfrm>
          <a:prstGeom prst="rect">
            <a:avLst/>
          </a:prstGeom>
          <a:solidFill>
            <a:srgbClr val="DCE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43" name="מלבן 42">
            <a:extLst>
              <a:ext uri="{FF2B5EF4-FFF2-40B4-BE49-F238E27FC236}">
                <a16:creationId xmlns:a16="http://schemas.microsoft.com/office/drawing/2014/main" id="{8692A738-B87C-0967-A35A-1E44A07568D7}"/>
              </a:ext>
            </a:extLst>
          </p:cNvPr>
          <p:cNvSpPr/>
          <p:nvPr/>
        </p:nvSpPr>
        <p:spPr>
          <a:xfrm>
            <a:off x="8899525" y="4949508"/>
            <a:ext cx="2232000" cy="10160"/>
          </a:xfrm>
          <a:prstGeom prst="rect">
            <a:avLst/>
          </a:prstGeom>
          <a:solidFill>
            <a:srgbClr val="DCE4EC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47" name="תיבת טקסט 46">
            <a:extLst>
              <a:ext uri="{FF2B5EF4-FFF2-40B4-BE49-F238E27FC236}">
                <a16:creationId xmlns:a16="http://schemas.microsoft.com/office/drawing/2014/main" id="{9E7DE5C3-6FB6-B990-CBE3-75E7B9CB97CA}"/>
              </a:ext>
            </a:extLst>
          </p:cNvPr>
          <p:cNvSpPr txBox="1"/>
          <p:nvPr/>
        </p:nvSpPr>
        <p:spPr>
          <a:xfrm>
            <a:off x="2568575" y="1193026"/>
            <a:ext cx="7029450" cy="276999"/>
          </a:xfrm>
          <a:prstGeom prst="rect">
            <a:avLst/>
          </a:prstGeom>
          <a:noFill/>
        </p:spPr>
        <p:txBody>
          <a:bodyPr wrap="square" lIns="0" tIns="0" rIns="0" bIns="0" rtlCol="1">
            <a:spAutoFit/>
          </a:bodyPr>
          <a:lstStyle/>
          <a:p>
            <a:r>
              <a:rPr lang="en-US" b="1" dirty="0">
                <a:latin typeface="Calibri"/>
                <a:ea typeface="Calibri"/>
                <a:cs typeface="Calibri"/>
              </a:rPr>
              <a:t>Total Unit Sold X Average Review Rating = Product Popularity index </a:t>
            </a:r>
            <a:endParaRPr lang="he-IL" b="1" dirty="0">
              <a:latin typeface="Calibri"/>
              <a:ea typeface="Calibri"/>
              <a:cs typeface="Calibri"/>
            </a:endParaRPr>
          </a:p>
        </p:txBody>
      </p:sp>
      <p:sp>
        <p:nvSpPr>
          <p:cNvPr id="49" name="מלבן 48">
            <a:extLst>
              <a:ext uri="{FF2B5EF4-FFF2-40B4-BE49-F238E27FC236}">
                <a16:creationId xmlns:a16="http://schemas.microsoft.com/office/drawing/2014/main" id="{A0587AAE-D06A-B450-BD23-9F36759E4CB6}"/>
              </a:ext>
            </a:extLst>
          </p:cNvPr>
          <p:cNvSpPr/>
          <p:nvPr/>
        </p:nvSpPr>
        <p:spPr>
          <a:xfrm>
            <a:off x="888849" y="6307301"/>
            <a:ext cx="10291556" cy="338368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3" name="תיבת טקסט 52">
            <a:extLst>
              <a:ext uri="{FF2B5EF4-FFF2-40B4-BE49-F238E27FC236}">
                <a16:creationId xmlns:a16="http://schemas.microsoft.com/office/drawing/2014/main" id="{0DF2BDC0-37CC-9BF4-4038-80B602A17F07}"/>
              </a:ext>
            </a:extLst>
          </p:cNvPr>
          <p:cNvSpPr txBox="1"/>
          <p:nvPr/>
        </p:nvSpPr>
        <p:spPr>
          <a:xfrm>
            <a:off x="736600" y="1619807"/>
            <a:ext cx="3690373" cy="367186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600" b="1" dirty="0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Product Popularity Index</a:t>
            </a:r>
            <a:endParaRPr lang="he-IL" sz="1600" b="1" dirty="0">
              <a:solidFill>
                <a:srgbClr val="F370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5" name="תיבת טקסט 54">
            <a:extLst>
              <a:ext uri="{FF2B5EF4-FFF2-40B4-BE49-F238E27FC236}">
                <a16:creationId xmlns:a16="http://schemas.microsoft.com/office/drawing/2014/main" id="{A0486E96-8E76-0920-302F-9AC2C1E87508}"/>
              </a:ext>
            </a:extLst>
          </p:cNvPr>
          <p:cNvSpPr txBox="1"/>
          <p:nvPr/>
        </p:nvSpPr>
        <p:spPr>
          <a:xfrm>
            <a:off x="906221" y="6317805"/>
            <a:ext cx="10409710" cy="320568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 lnSpcReduction="10000"/>
          </a:bodyPr>
          <a:lstStyle/>
          <a:p>
            <a:pPr algn="l" rtl="0"/>
            <a:r>
              <a:rPr lang="en-US" sz="1600" noProof="0" dirty="0"/>
              <a:t>Most products have similar popularity levels, but Jeans is the clear outlier with 85 points below the next-lowest product</a:t>
            </a:r>
          </a:p>
        </p:txBody>
      </p:sp>
    </p:spTree>
    <p:extLst>
      <p:ext uri="{BB962C8B-B14F-4D97-AF65-F5344CB8AC3E}">
        <p14:creationId xmlns:p14="http://schemas.microsoft.com/office/powerpoint/2010/main" val="2091627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5281205-AAD1-2E4A-B8BA-F755A1FBE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95349"/>
          </a:xfrm>
        </p:spPr>
        <p:txBody>
          <a:bodyPr wrap="none">
            <a:noAutofit/>
          </a:bodyPr>
          <a:lstStyle/>
          <a:p>
            <a:pPr algn="ctr"/>
            <a:r>
              <a:rPr lang="en-US" sz="3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  Product Popularity by Category</a:t>
            </a:r>
            <a:endParaRPr lang="he-IL" sz="3200" b="1" dirty="0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7" name="תרשים 6">
            <a:extLst>
              <a:ext uri="{FF2B5EF4-FFF2-40B4-BE49-F238E27FC236}">
                <a16:creationId xmlns:a16="http://schemas.microsoft.com/office/drawing/2014/main" id="{1DF4440B-5CF1-1856-631A-DB084277BA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23207997"/>
              </p:ext>
            </p:extLst>
          </p:nvPr>
        </p:nvGraphicFramePr>
        <p:xfrm>
          <a:off x="6324600" y="1260475"/>
          <a:ext cx="52578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תרשים 8">
            <a:extLst>
              <a:ext uri="{FF2B5EF4-FFF2-40B4-BE49-F238E27FC236}">
                <a16:creationId xmlns:a16="http://schemas.microsoft.com/office/drawing/2014/main" id="{6815627C-8AE2-9E11-7039-7E46198DC3A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43274990"/>
              </p:ext>
            </p:extLst>
          </p:nvPr>
        </p:nvGraphicFramePr>
        <p:xfrm>
          <a:off x="609600" y="1260475"/>
          <a:ext cx="52578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graphicFrame>
        <p:nvGraphicFramePr>
          <p:cNvPr id="11" name="תרשים 10">
            <a:extLst>
              <a:ext uri="{FF2B5EF4-FFF2-40B4-BE49-F238E27FC236}">
                <a16:creationId xmlns:a16="http://schemas.microsoft.com/office/drawing/2014/main" id="{75C0E830-3EF0-B152-A595-877CA00B2BB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59489407"/>
              </p:ext>
            </p:extLst>
          </p:nvPr>
        </p:nvGraphicFramePr>
        <p:xfrm>
          <a:off x="609600" y="3698875"/>
          <a:ext cx="52578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5"/>
          </a:graphicData>
        </a:graphic>
      </p:graphicFrame>
      <p:graphicFrame>
        <p:nvGraphicFramePr>
          <p:cNvPr id="16" name="תרשים 15">
            <a:extLst>
              <a:ext uri="{FF2B5EF4-FFF2-40B4-BE49-F238E27FC236}">
                <a16:creationId xmlns:a16="http://schemas.microsoft.com/office/drawing/2014/main" id="{97281E64-9FF7-B14D-4E37-59A31884383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17387482"/>
              </p:ext>
            </p:extLst>
          </p:nvPr>
        </p:nvGraphicFramePr>
        <p:xfrm>
          <a:off x="6324600" y="3698875"/>
          <a:ext cx="5257800" cy="2209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6"/>
          </a:graphicData>
        </a:graphic>
      </p:graphicFrame>
      <p:sp>
        <p:nvSpPr>
          <p:cNvPr id="19" name="מלבן 18">
            <a:extLst>
              <a:ext uri="{FF2B5EF4-FFF2-40B4-BE49-F238E27FC236}">
                <a16:creationId xmlns:a16="http://schemas.microsoft.com/office/drawing/2014/main" id="{AFC83060-8F98-442A-B272-6F6ECCBD60D0}"/>
              </a:ext>
            </a:extLst>
          </p:cNvPr>
          <p:cNvSpPr/>
          <p:nvPr/>
        </p:nvSpPr>
        <p:spPr>
          <a:xfrm>
            <a:off x="6096000" y="1235075"/>
            <a:ext cx="12700" cy="46990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20" name="מלבן 19">
            <a:extLst>
              <a:ext uri="{FF2B5EF4-FFF2-40B4-BE49-F238E27FC236}">
                <a16:creationId xmlns:a16="http://schemas.microsoft.com/office/drawing/2014/main" id="{31C317CD-9ED8-49BC-97F4-709DDFE13858}"/>
              </a:ext>
            </a:extLst>
          </p:cNvPr>
          <p:cNvSpPr/>
          <p:nvPr/>
        </p:nvSpPr>
        <p:spPr>
          <a:xfrm>
            <a:off x="609600" y="3571875"/>
            <a:ext cx="10972800" cy="12700"/>
          </a:xfrm>
          <a:prstGeom prst="rect">
            <a:avLst/>
          </a:prstGeom>
          <a:solidFill>
            <a:srgbClr val="DCE3E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>
              <a:latin typeface="Calibri"/>
              <a:ea typeface="Calibri"/>
              <a:cs typeface="Calibri"/>
            </a:endParaRPr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5245B635-4973-4349-AF19-16AA7D5C899D}"/>
              </a:ext>
            </a:extLst>
          </p:cNvPr>
          <p:cNvSpPr/>
          <p:nvPr/>
        </p:nvSpPr>
        <p:spPr>
          <a:xfrm>
            <a:off x="609600" y="6115050"/>
            <a:ext cx="10972800" cy="565150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" name="תיבת טקסט 22">
            <a:extLst>
              <a:ext uri="{FF2B5EF4-FFF2-40B4-BE49-F238E27FC236}">
                <a16:creationId xmlns:a16="http://schemas.microsoft.com/office/drawing/2014/main" id="{D1C57DE7-4F53-436A-BA4D-B99CD19E886D}"/>
              </a:ext>
            </a:extLst>
          </p:cNvPr>
          <p:cNvSpPr txBox="1"/>
          <p:nvPr/>
        </p:nvSpPr>
        <p:spPr>
          <a:xfrm>
            <a:off x="876300" y="6140450"/>
            <a:ext cx="10464800" cy="539749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rmAutofit/>
          </a:bodyPr>
          <a:lstStyle/>
          <a:p>
            <a:pPr algn="ctr"/>
            <a:r>
              <a:rPr lang="en-US" sz="1300" b="1" dirty="0">
                <a:latin typeface="Calibri"/>
                <a:ea typeface="Calibri"/>
                <a:cs typeface="Calibri"/>
              </a:rPr>
              <a:t>Within most categories, product popularity is relatively balanced</a:t>
            </a:r>
            <a:r>
              <a:rPr lang="en-US" sz="13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. </a:t>
            </a:r>
          </a:p>
          <a:p>
            <a:pPr algn="ctr"/>
            <a:r>
              <a:rPr lang="en-US" sz="1300" b="1" dirty="0">
                <a:latin typeface="Calibri"/>
                <a:ea typeface="Calibri"/>
                <a:cs typeface="Calibri"/>
              </a:rPr>
              <a:t>The main exceptions are</a:t>
            </a:r>
            <a:r>
              <a:rPr lang="en-US" sz="13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en-US" sz="1300" b="1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Jeans</a:t>
            </a:r>
            <a:r>
              <a:rPr lang="en-US" sz="13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which significantly lower in Clothing, and </a:t>
            </a:r>
            <a:r>
              <a:rPr lang="en-US" sz="1300" b="1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Sandals</a:t>
            </a:r>
            <a:r>
              <a:rPr lang="en-US" sz="1300" b="1" dirty="0">
                <a:solidFill>
                  <a:schemeClr val="bg1"/>
                </a:solidFill>
                <a:latin typeface="Calibri"/>
                <a:ea typeface="Calibri"/>
                <a:cs typeface="Calibri"/>
              </a:rPr>
              <a:t>, </a:t>
            </a:r>
            <a:r>
              <a:rPr lang="en-US" sz="1300" b="1" dirty="0">
                <a:latin typeface="Calibri"/>
                <a:ea typeface="Calibri"/>
                <a:cs typeface="Calibri"/>
              </a:rPr>
              <a:t>which clearly lead in Footwear</a:t>
            </a:r>
            <a:endParaRPr lang="en-US" sz="900" b="1" dirty="0">
              <a:latin typeface="Calibri"/>
              <a:ea typeface="Calibri"/>
              <a:cs typeface="Calibri"/>
            </a:endParaRPr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564BCBF3-2AF7-D6CF-ED7C-9005CD31FAD0}"/>
              </a:ext>
            </a:extLst>
          </p:cNvPr>
          <p:cNvSpPr/>
          <p:nvPr/>
        </p:nvSpPr>
        <p:spPr>
          <a:xfrm>
            <a:off x="622300" y="6120550"/>
            <a:ext cx="109728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755681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3EBE110-362E-53C8-2DE0-CC674843A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20164"/>
            <a:ext cx="10515600" cy="685800"/>
          </a:xfrm>
        </p:spPr>
        <p:txBody>
          <a:bodyPr wrap="none">
            <a:normAutofit/>
          </a:bodyPr>
          <a:lstStyle/>
          <a:p>
            <a:pPr algn="ctr"/>
            <a:r>
              <a:rPr lang="en-US" sz="36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Category Popularity Index</a:t>
            </a:r>
            <a:endParaRPr lang="he-IL" sz="3600" b="1" dirty="0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5EA74D39-441A-41C2-BE50-BED36DF1BB7C}"/>
              </a:ext>
            </a:extLst>
          </p:cNvPr>
          <p:cNvSpPr/>
          <p:nvPr/>
        </p:nvSpPr>
        <p:spPr>
          <a:xfrm>
            <a:off x="412690" y="2462038"/>
            <a:ext cx="3948800" cy="2039400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DDDF77CC-2D04-4EAC-81B9-784C3E8E19EB}"/>
              </a:ext>
            </a:extLst>
          </p:cNvPr>
          <p:cNvSpPr txBox="1"/>
          <p:nvPr/>
        </p:nvSpPr>
        <p:spPr>
          <a:xfrm>
            <a:off x="438668" y="2600232"/>
            <a:ext cx="3316210" cy="367186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600" b="1" dirty="0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Popularity Index &amp; Per-item View</a:t>
            </a:r>
            <a:endParaRPr lang="he-IL" sz="1600" b="1" dirty="0">
              <a:solidFill>
                <a:srgbClr val="F370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22D2C10E-69A6-4C91-8654-C1F36EB79312}"/>
              </a:ext>
            </a:extLst>
          </p:cNvPr>
          <p:cNvSpPr txBox="1"/>
          <p:nvPr/>
        </p:nvSpPr>
        <p:spPr>
          <a:xfrm>
            <a:off x="464627" y="2960365"/>
            <a:ext cx="3844925" cy="1321975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600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Footwear has the highest average sales per item, while Accessories has the lowest. This shows that a category’s total popularity does not necessarily mean stronger product-level performance.</a:t>
            </a:r>
            <a:endParaRPr lang="he-IL" sz="1600" dirty="0">
              <a:solidFill>
                <a:srgbClr val="263746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3" name="תרשים 2">
            <a:extLst>
              <a:ext uri="{FF2B5EF4-FFF2-40B4-BE49-F238E27FC236}">
                <a16:creationId xmlns:a16="http://schemas.microsoft.com/office/drawing/2014/main" id="{3EAB9AFA-E168-DF0F-66A9-95655697E6FE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372149166"/>
              </p:ext>
            </p:extLst>
          </p:nvPr>
        </p:nvGraphicFramePr>
        <p:xfrm>
          <a:off x="4585150" y="1498332"/>
          <a:ext cx="6242051" cy="386133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מלבן 4">
            <a:extLst>
              <a:ext uri="{FF2B5EF4-FFF2-40B4-BE49-F238E27FC236}">
                <a16:creationId xmlns:a16="http://schemas.microsoft.com/office/drawing/2014/main" id="{8DDF22ED-8323-5D41-CF89-820FC9D954DB}"/>
              </a:ext>
            </a:extLst>
          </p:cNvPr>
          <p:cNvSpPr/>
          <p:nvPr/>
        </p:nvSpPr>
        <p:spPr>
          <a:xfrm>
            <a:off x="420380" y="2462037"/>
            <a:ext cx="3960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10394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3BA4F4-D99C-B948-1814-7FE6FCA812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ED95246-A006-D4F2-E15D-497E0B008D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28600"/>
            <a:ext cx="10515600" cy="685800"/>
          </a:xfrm>
        </p:spPr>
        <p:txBody>
          <a:bodyPr wrap="none">
            <a:normAutofit/>
          </a:bodyPr>
          <a:lstStyle/>
          <a:p>
            <a:r>
              <a:rPr lang="en-US" sz="2700" b="1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Revenue share varies far more than average revenue</a:t>
            </a:r>
            <a:endParaRPr lang="he-IL" sz="2700" b="1" dirty="0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A878FFA0-92A1-30BB-6CB8-CD4118B7C93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597322767"/>
              </p:ext>
            </p:extLst>
          </p:nvPr>
        </p:nvGraphicFramePr>
        <p:xfrm>
          <a:off x="6413500" y="1219200"/>
          <a:ext cx="5003800" cy="3378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7" name="מלבן 6">
            <a:extLst>
              <a:ext uri="{FF2B5EF4-FFF2-40B4-BE49-F238E27FC236}">
                <a16:creationId xmlns:a16="http://schemas.microsoft.com/office/drawing/2014/main" id="{987F5FEC-A44B-5941-A3AF-1B23D2FC8CD9}"/>
              </a:ext>
            </a:extLst>
          </p:cNvPr>
          <p:cNvSpPr/>
          <p:nvPr/>
        </p:nvSpPr>
        <p:spPr>
          <a:xfrm>
            <a:off x="609600" y="5054600"/>
            <a:ext cx="10972800" cy="1651000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8" name="מלבן 7">
            <a:extLst>
              <a:ext uri="{FF2B5EF4-FFF2-40B4-BE49-F238E27FC236}">
                <a16:creationId xmlns:a16="http://schemas.microsoft.com/office/drawing/2014/main" id="{483C5F31-BC44-4321-5CC5-1268DC5B5D31}"/>
              </a:ext>
            </a:extLst>
          </p:cNvPr>
          <p:cNvSpPr/>
          <p:nvPr/>
        </p:nvSpPr>
        <p:spPr>
          <a:xfrm>
            <a:off x="609600" y="5054600"/>
            <a:ext cx="109728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83E22377-3AB8-94F2-CC33-7907D61BD62B}"/>
              </a:ext>
            </a:extLst>
          </p:cNvPr>
          <p:cNvSpPr/>
          <p:nvPr/>
        </p:nvSpPr>
        <p:spPr>
          <a:xfrm>
            <a:off x="6096000" y="5283200"/>
            <a:ext cx="12700" cy="1168400"/>
          </a:xfrm>
          <a:prstGeom prst="rect">
            <a:avLst/>
          </a:prstGeom>
          <a:solidFill>
            <a:srgbClr val="D3DC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mc:AlternateContent xmlns:mc="http://schemas.openxmlformats.org/markup-compatibility/2006" xmlns:cx2="http://schemas.microsoft.com/office/drawing/2015/10/21/chartex">
        <mc:Choice Requires="cx2">
          <p:graphicFrame>
            <p:nvGraphicFramePr>
              <p:cNvPr id="4" name="תרשים 3">
                <a:extLst>
                  <a:ext uri="{FF2B5EF4-FFF2-40B4-BE49-F238E27FC236}">
                    <a16:creationId xmlns:a16="http://schemas.microsoft.com/office/drawing/2014/main" id="{8C6A520F-82F8-F586-AD72-1BF941517583}"/>
                  </a:ext>
                </a:extLst>
              </p:cNvPr>
              <p:cNvGraphicFramePr/>
              <p:nvPr/>
            </p:nvGraphicFramePr>
            <p:xfrm>
              <a:off x="838200" y="1219200"/>
              <a:ext cx="4800600" cy="2997200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3"/>
              </a:graphicData>
            </a:graphic>
          </p:graphicFrame>
        </mc:Choice>
        <mc:Fallback xmlns="">
          <p:pic>
            <p:nvPicPr>
              <p:cNvPr id="4" name="תרשים 3">
                <a:extLst>
                  <a:ext uri="{FF2B5EF4-FFF2-40B4-BE49-F238E27FC236}">
                    <a16:creationId xmlns:a16="http://schemas.microsoft.com/office/drawing/2014/main" id="{8C6A520F-82F8-F586-AD72-1BF941517583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838200" y="1219200"/>
                <a:ext cx="4800600" cy="299720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EB128852-8F40-409D-9446-7C0D3AE88332}"/>
              </a:ext>
            </a:extLst>
          </p:cNvPr>
          <p:cNvSpPr txBox="1"/>
          <p:nvPr/>
        </p:nvSpPr>
        <p:spPr>
          <a:xfrm>
            <a:off x="863600" y="5124449"/>
            <a:ext cx="2286000" cy="363009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dirty="0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Average Revenue</a:t>
            </a:r>
            <a:endParaRPr lang="he-IL" sz="1400" dirty="0">
              <a:solidFill>
                <a:srgbClr val="F370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7A6870D6-1FE9-493A-B615-ADC4BE8E19F2}"/>
              </a:ext>
            </a:extLst>
          </p:cNvPr>
          <p:cNvSpPr txBox="1"/>
          <p:nvPr/>
        </p:nvSpPr>
        <p:spPr>
          <a:xfrm>
            <a:off x="838200" y="5334000"/>
            <a:ext cx="4800600" cy="584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>
              <a:buNone/>
            </a:pPr>
            <a:r>
              <a:rPr lang="en-US" sz="1300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Average revenue is </a:t>
            </a:r>
            <a:r>
              <a:rPr lang="en-US" sz="1300" b="1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tightly clustered</a:t>
            </a:r>
            <a:r>
              <a:rPr lang="en-US" sz="1300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: Clothing leads with $9478, only about 5% above Accessories with $9023.</a:t>
            </a:r>
          </a:p>
        </p:txBody>
      </p:sp>
      <p:sp>
        <p:nvSpPr>
          <p:cNvPr id="16" name="תיבת טקסט 15">
            <a:extLst>
              <a:ext uri="{FF2B5EF4-FFF2-40B4-BE49-F238E27FC236}">
                <a16:creationId xmlns:a16="http://schemas.microsoft.com/office/drawing/2014/main" id="{85D9A2D3-08F6-4DA6-AD0E-2EE883996F5F}"/>
              </a:ext>
            </a:extLst>
          </p:cNvPr>
          <p:cNvSpPr txBox="1"/>
          <p:nvPr/>
        </p:nvSpPr>
        <p:spPr>
          <a:xfrm>
            <a:off x="6413500" y="5124450"/>
            <a:ext cx="2413000" cy="31115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dirty="0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Total Revenue Share</a:t>
            </a:r>
            <a:endParaRPr lang="he-IL" sz="1400" dirty="0">
              <a:solidFill>
                <a:srgbClr val="F37032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8C98AC37-E629-4651-9B99-E8C4E4E0F5C2}"/>
              </a:ext>
            </a:extLst>
          </p:cNvPr>
          <p:cNvSpPr txBox="1"/>
          <p:nvPr/>
        </p:nvSpPr>
        <p:spPr>
          <a:xfrm>
            <a:off x="6413500" y="5384800"/>
            <a:ext cx="4787900" cy="457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 lnSpcReduction="10000"/>
          </a:bodyPr>
          <a:lstStyle/>
          <a:p>
            <a:pPr algn="l">
              <a:buNone/>
            </a:pPr>
            <a:r>
              <a:rPr lang="en-US" sz="1300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Revenue is </a:t>
            </a:r>
            <a:r>
              <a:rPr lang="en-US" sz="1300" b="1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concentrated</a:t>
            </a:r>
            <a:r>
              <a:rPr lang="en-US" sz="1300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: Clothing and Accessories generate 76.6% of the total, while Outerwear contributes only 8.0%.</a:t>
            </a:r>
          </a:p>
        </p:txBody>
      </p:sp>
      <p:sp>
        <p:nvSpPr>
          <p:cNvPr id="18" name="מלבן 17">
            <a:extLst>
              <a:ext uri="{FF2B5EF4-FFF2-40B4-BE49-F238E27FC236}">
                <a16:creationId xmlns:a16="http://schemas.microsoft.com/office/drawing/2014/main" id="{2220AF9A-2B75-477A-92AA-E664DE8CA281}"/>
              </a:ext>
            </a:extLst>
          </p:cNvPr>
          <p:cNvSpPr/>
          <p:nvPr/>
        </p:nvSpPr>
        <p:spPr>
          <a:xfrm>
            <a:off x="609600" y="6121400"/>
            <a:ext cx="10972800" cy="584200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F92632B4-7FB9-4C6A-A7BE-21F16722FB2A}"/>
              </a:ext>
            </a:extLst>
          </p:cNvPr>
          <p:cNvSpPr txBox="1"/>
          <p:nvPr/>
        </p:nvSpPr>
        <p:spPr>
          <a:xfrm>
            <a:off x="771525" y="6102350"/>
            <a:ext cx="10582275" cy="520908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>
              <a:buNone/>
            </a:pPr>
            <a:r>
              <a:rPr lang="en-US" sz="1400" b="1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Revenue share is driven mainly by category size (number of products) and purchase volume and not by major differences in average revenue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308A99C4-FEDF-B2F9-5F9E-88DD23437EA4}"/>
              </a:ext>
            </a:extLst>
          </p:cNvPr>
          <p:cNvSpPr/>
          <p:nvPr/>
        </p:nvSpPr>
        <p:spPr>
          <a:xfrm>
            <a:off x="600075" y="6121400"/>
            <a:ext cx="109728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8295760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AAEE9B8-06DB-4981-65B7-A3E1DDE255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62387"/>
            <a:ext cx="10515600" cy="685800"/>
          </a:xfrm>
        </p:spPr>
        <p:txBody>
          <a:bodyPr vert="horz" wrap="none" lIns="91440" tIns="45720" rIns="91440" bIns="45720" rtlCol="1" anchor="ctr">
            <a:normAutofit/>
          </a:bodyPr>
          <a:lstStyle/>
          <a:p>
            <a:pPr algn="ctr"/>
            <a:r>
              <a:rPr lang="en-US" sz="3200" b="1" dirty="0">
                <a:solidFill>
                  <a:srgbClr val="111827"/>
                </a:solidFill>
                <a:latin typeface="Calibri"/>
                <a:ea typeface="Calibri"/>
                <a:cs typeface="Calibri"/>
              </a:rPr>
              <a:t>Impact of Ratings on Sales</a:t>
            </a:r>
            <a:endParaRPr lang="he-IL" sz="3200" b="1" dirty="0">
              <a:solidFill>
                <a:srgbClr val="111827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4" name="Chart 1">
            <a:extLst>
              <a:ext uri="{FF2B5EF4-FFF2-40B4-BE49-F238E27FC236}">
                <a16:creationId xmlns:a16="http://schemas.microsoft.com/office/drawing/2014/main" id="{8BD98972-BFDA-3E2C-2EF1-36B48C7C88C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012141011"/>
              </p:ext>
            </p:extLst>
          </p:nvPr>
        </p:nvGraphicFramePr>
        <p:xfrm>
          <a:off x="635000" y="1476062"/>
          <a:ext cx="7175500" cy="446033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מלבן 2">
            <a:extLst>
              <a:ext uri="{FF2B5EF4-FFF2-40B4-BE49-F238E27FC236}">
                <a16:creationId xmlns:a16="http://schemas.microsoft.com/office/drawing/2014/main" id="{793AE3DE-ADF3-434B-9ADE-6FCEFB12DA8F}"/>
              </a:ext>
            </a:extLst>
          </p:cNvPr>
          <p:cNvSpPr/>
          <p:nvPr/>
        </p:nvSpPr>
        <p:spPr>
          <a:xfrm>
            <a:off x="8229600" y="1542737"/>
            <a:ext cx="3352800" cy="4048438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4C33D53A-F8B7-4282-9194-D55D1EE71517}"/>
              </a:ext>
            </a:extLst>
          </p:cNvPr>
          <p:cNvSpPr/>
          <p:nvPr/>
        </p:nvSpPr>
        <p:spPr>
          <a:xfrm>
            <a:off x="8229600" y="1548237"/>
            <a:ext cx="33528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C6E52E20-782F-4E77-860C-7DF66BC7AFF0}"/>
              </a:ext>
            </a:extLst>
          </p:cNvPr>
          <p:cNvSpPr txBox="1"/>
          <p:nvPr/>
        </p:nvSpPr>
        <p:spPr>
          <a:xfrm>
            <a:off x="8572500" y="1676399"/>
            <a:ext cx="2667000" cy="304801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 fontScale="85000" lnSpcReduction="20000"/>
          </a:bodyPr>
          <a:lstStyle/>
          <a:p>
            <a:pPr algn="ctr"/>
            <a:r>
              <a:rPr lang="en-US" sz="2000" b="1" dirty="0">
                <a:solidFill>
                  <a:srgbClr val="6B7280"/>
                </a:solidFill>
                <a:latin typeface="Calibri"/>
                <a:ea typeface="Calibri"/>
                <a:cs typeface="Calibri"/>
              </a:rPr>
              <a:t>Correlation</a:t>
            </a:r>
            <a:endParaRPr lang="he-IL" sz="2000" b="1" dirty="0">
              <a:solidFill>
                <a:srgbClr val="6B728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EB6E4843-2692-491C-A9E3-7B8453461B32}"/>
              </a:ext>
            </a:extLst>
          </p:cNvPr>
          <p:cNvSpPr txBox="1"/>
          <p:nvPr/>
        </p:nvSpPr>
        <p:spPr>
          <a:xfrm>
            <a:off x="8572500" y="1981200"/>
            <a:ext cx="2667000" cy="838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>
              <a:buNone/>
            </a:pPr>
            <a:r>
              <a:rPr lang="en-US" sz="3400" b="1" dirty="0">
                <a:solidFill>
                  <a:srgbClr val="F37032"/>
                </a:solidFill>
                <a:latin typeface="Calibri"/>
                <a:ea typeface="Calibri"/>
                <a:cs typeface="Calibri"/>
              </a:rPr>
              <a:t>r = -0.15</a:t>
            </a: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DE10A2C6-864A-463F-9CB1-7E988404FDA5}"/>
              </a:ext>
            </a:extLst>
          </p:cNvPr>
          <p:cNvSpPr txBox="1"/>
          <p:nvPr/>
        </p:nvSpPr>
        <p:spPr>
          <a:xfrm>
            <a:off x="8572500" y="2778974"/>
            <a:ext cx="2641600" cy="786551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/>
            <a:r>
              <a:rPr lang="en-US" b="1" dirty="0">
                <a:solidFill>
                  <a:srgbClr val="15324A"/>
                </a:solidFill>
                <a:latin typeface="Calibri"/>
                <a:ea typeface="Calibri"/>
                <a:cs typeface="Calibri"/>
              </a:rPr>
              <a:t>Very weak negative relationship</a:t>
            </a:r>
            <a:endParaRPr lang="he-IL" b="1" dirty="0">
              <a:solidFill>
                <a:srgbClr val="15324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מלבן 8">
            <a:extLst>
              <a:ext uri="{FF2B5EF4-FFF2-40B4-BE49-F238E27FC236}">
                <a16:creationId xmlns:a16="http://schemas.microsoft.com/office/drawing/2014/main" id="{282FE314-F572-4BEF-9F14-86A09B05F149}"/>
              </a:ext>
            </a:extLst>
          </p:cNvPr>
          <p:cNvSpPr/>
          <p:nvPr/>
        </p:nvSpPr>
        <p:spPr>
          <a:xfrm>
            <a:off x="8534400" y="3781425"/>
            <a:ext cx="2641600" cy="12700"/>
          </a:xfrm>
          <a:prstGeom prst="rect">
            <a:avLst/>
          </a:prstGeom>
          <a:solidFill>
            <a:srgbClr val="D3DCE5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" name="תיבת טקסט 9">
            <a:extLst>
              <a:ext uri="{FF2B5EF4-FFF2-40B4-BE49-F238E27FC236}">
                <a16:creationId xmlns:a16="http://schemas.microsoft.com/office/drawing/2014/main" id="{2FD8D42C-3373-48F6-A2BD-8592755DD3CD}"/>
              </a:ext>
            </a:extLst>
          </p:cNvPr>
          <p:cNvSpPr txBox="1"/>
          <p:nvPr/>
        </p:nvSpPr>
        <p:spPr>
          <a:xfrm>
            <a:off x="8597900" y="3995313"/>
            <a:ext cx="2641600" cy="1279525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/>
            <a:r>
              <a:rPr lang="en-US" dirty="0">
                <a:solidFill>
                  <a:srgbClr val="263746"/>
                </a:solidFill>
                <a:latin typeface="Calibri"/>
                <a:ea typeface="Calibri"/>
                <a:cs typeface="Calibri"/>
              </a:rPr>
              <a:t>Customer ratings are not a strong predictor of how many items are purchased</a:t>
            </a:r>
            <a:endParaRPr lang="he-IL" dirty="0">
              <a:solidFill>
                <a:srgbClr val="263746"/>
              </a:solidFill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4466203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P_SUMMARY_BANNER">
            <a:extLst>
              <a:ext uri="{FF2B5EF4-FFF2-40B4-BE49-F238E27FC236}">
                <a16:creationId xmlns:a16="http://schemas.microsoft.com/office/drawing/2014/main" id="{C1DEE1DC-8BA4-4D7D-BB01-4C140F7ECD75}"/>
              </a:ext>
            </a:extLst>
          </p:cNvPr>
          <p:cNvSpPr/>
          <p:nvPr/>
        </p:nvSpPr>
        <p:spPr>
          <a:xfrm>
            <a:off x="609600" y="1069975"/>
            <a:ext cx="10972800" cy="479425"/>
          </a:xfrm>
          <a:prstGeom prst="rect">
            <a:avLst/>
          </a:prstGeom>
          <a:solidFill>
            <a:srgbClr val="E9F0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b="1" dirty="0"/>
          </a:p>
        </p:txBody>
      </p:sp>
      <p:sp>
        <p:nvSpPr>
          <p:cNvPr id="7" name="BP_SUMMARY_LEFT_PANEL">
            <a:extLst>
              <a:ext uri="{FF2B5EF4-FFF2-40B4-BE49-F238E27FC236}">
                <a16:creationId xmlns:a16="http://schemas.microsoft.com/office/drawing/2014/main" id="{6096FB4D-89B8-403E-999D-F6CF1804CE55}"/>
              </a:ext>
            </a:extLst>
          </p:cNvPr>
          <p:cNvSpPr/>
          <p:nvPr/>
        </p:nvSpPr>
        <p:spPr>
          <a:xfrm>
            <a:off x="609600" y="1784350"/>
            <a:ext cx="5257800" cy="395605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" name="BP_SUMMARY_RIGHT_PANEL">
            <a:extLst>
              <a:ext uri="{FF2B5EF4-FFF2-40B4-BE49-F238E27FC236}">
                <a16:creationId xmlns:a16="http://schemas.microsoft.com/office/drawing/2014/main" id="{0BAA6D7F-57F5-4562-9E9A-8E9166563432}"/>
              </a:ext>
            </a:extLst>
          </p:cNvPr>
          <p:cNvSpPr/>
          <p:nvPr/>
        </p:nvSpPr>
        <p:spPr>
          <a:xfrm>
            <a:off x="6324600" y="1803399"/>
            <a:ext cx="5257800" cy="3940175"/>
          </a:xfrm>
          <a:prstGeom prst="rect">
            <a:avLst/>
          </a:prstGeom>
          <a:solidFill>
            <a:srgbClr val="E9F0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" name="BP_SUMMARY_LEFT_RULE">
            <a:extLst>
              <a:ext uri="{FF2B5EF4-FFF2-40B4-BE49-F238E27FC236}">
                <a16:creationId xmlns:a16="http://schemas.microsoft.com/office/drawing/2014/main" id="{E01AFB66-B2D1-4523-847C-E06CA087D33F}"/>
              </a:ext>
            </a:extLst>
          </p:cNvPr>
          <p:cNvSpPr/>
          <p:nvPr/>
        </p:nvSpPr>
        <p:spPr>
          <a:xfrm>
            <a:off x="609600" y="1784350"/>
            <a:ext cx="5257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BP_SUMMARY_RIGHT_RULE">
            <a:extLst>
              <a:ext uri="{FF2B5EF4-FFF2-40B4-BE49-F238E27FC236}">
                <a16:creationId xmlns:a16="http://schemas.microsoft.com/office/drawing/2014/main" id="{6652E471-4AA9-4E04-BE02-781F82B1B292}"/>
              </a:ext>
            </a:extLst>
          </p:cNvPr>
          <p:cNvSpPr/>
          <p:nvPr/>
        </p:nvSpPr>
        <p:spPr>
          <a:xfrm>
            <a:off x="6324600" y="1784350"/>
            <a:ext cx="5257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" name="BP_SUMMARY_DECISION">
            <a:extLst>
              <a:ext uri="{FF2B5EF4-FFF2-40B4-BE49-F238E27FC236}">
                <a16:creationId xmlns:a16="http://schemas.microsoft.com/office/drawing/2014/main" id="{F81FD92A-F96A-48A7-A830-AEAC8EE114F9}"/>
              </a:ext>
            </a:extLst>
          </p:cNvPr>
          <p:cNvSpPr/>
          <p:nvPr/>
        </p:nvSpPr>
        <p:spPr>
          <a:xfrm>
            <a:off x="609600" y="5943600"/>
            <a:ext cx="10972800" cy="6858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" name="BP_SUMMARY_TITLE">
            <a:extLst>
              <a:ext uri="{FF2B5EF4-FFF2-40B4-BE49-F238E27FC236}">
                <a16:creationId xmlns:a16="http://schemas.microsoft.com/office/drawing/2014/main" id="{83830E4F-138F-4094-A9FF-B827B6E95A7A}"/>
              </a:ext>
            </a:extLst>
          </p:cNvPr>
          <p:cNvSpPr txBox="1"/>
          <p:nvPr/>
        </p:nvSpPr>
        <p:spPr>
          <a:xfrm>
            <a:off x="762000" y="3302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/>
            <a:r>
              <a:rPr lang="en-US" sz="2400" b="1">
                <a:solidFill>
                  <a:srgbClr val="0B1F3A"/>
                </a:solidFill>
              </a:rPr>
              <a:t>Key Insights and Recommendations for Product Preferences</a:t>
            </a:r>
            <a:endParaRPr lang="en-US" sz="2400" b="1" dirty="0">
              <a:solidFill>
                <a:srgbClr val="0B1F3A"/>
              </a:solidFill>
            </a:endParaRPr>
          </a:p>
        </p:txBody>
      </p:sp>
      <p:sp>
        <p:nvSpPr>
          <p:cNvPr id="16" name="BP_SUMMARY_BANNER_TEXT">
            <a:extLst>
              <a:ext uri="{FF2B5EF4-FFF2-40B4-BE49-F238E27FC236}">
                <a16:creationId xmlns:a16="http://schemas.microsoft.com/office/drawing/2014/main" id="{982491EF-D91A-43F9-BC3C-9A54A638DD4C}"/>
              </a:ext>
            </a:extLst>
          </p:cNvPr>
          <p:cNvSpPr txBox="1"/>
          <p:nvPr/>
        </p:nvSpPr>
        <p:spPr>
          <a:xfrm>
            <a:off x="2260600" y="1073149"/>
            <a:ext cx="8813800" cy="457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600" dirty="0">
                <a:solidFill>
                  <a:srgbClr val="0B1F3A"/>
                </a:solidFill>
              </a:rPr>
              <a:t>Customer demand is broadly balanced, with a few clear product winners and underperformers</a:t>
            </a:r>
            <a:endParaRPr lang="he-IL" sz="1600" dirty="0">
              <a:solidFill>
                <a:srgbClr val="0B1F3A"/>
              </a:solidFill>
            </a:endParaRPr>
          </a:p>
        </p:txBody>
      </p:sp>
      <p:sp>
        <p:nvSpPr>
          <p:cNvPr id="17" name="BP_SUMMARY_LEFT_TITLE">
            <a:extLst>
              <a:ext uri="{FF2B5EF4-FFF2-40B4-BE49-F238E27FC236}">
                <a16:creationId xmlns:a16="http://schemas.microsoft.com/office/drawing/2014/main" id="{07FC4951-482F-4152-8574-D00570605106}"/>
              </a:ext>
            </a:extLst>
          </p:cNvPr>
          <p:cNvSpPr txBox="1"/>
          <p:nvPr/>
        </p:nvSpPr>
        <p:spPr>
          <a:xfrm>
            <a:off x="762000" y="1889125"/>
            <a:ext cx="4445000" cy="38735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600" b="1" dirty="0">
                <a:solidFill>
                  <a:srgbClr val="F26B2E"/>
                </a:solidFill>
              </a:rPr>
              <a:t>Outcome Summary</a:t>
            </a:r>
            <a:endParaRPr lang="he-IL" sz="1600" b="1" dirty="0">
              <a:solidFill>
                <a:srgbClr val="F26B2E"/>
              </a:solidFill>
            </a:endParaRPr>
          </a:p>
        </p:txBody>
      </p:sp>
      <p:sp>
        <p:nvSpPr>
          <p:cNvPr id="18" name="BP_SUMMARY_RIGHT_TITLE">
            <a:extLst>
              <a:ext uri="{FF2B5EF4-FFF2-40B4-BE49-F238E27FC236}">
                <a16:creationId xmlns:a16="http://schemas.microsoft.com/office/drawing/2014/main" id="{F92E3F29-1672-4E4C-B242-ACF0729BD358}"/>
              </a:ext>
            </a:extLst>
          </p:cNvPr>
          <p:cNvSpPr txBox="1"/>
          <p:nvPr/>
        </p:nvSpPr>
        <p:spPr>
          <a:xfrm>
            <a:off x="6629400" y="1911352"/>
            <a:ext cx="4445000" cy="346074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600" b="1" dirty="0">
                <a:solidFill>
                  <a:srgbClr val="F26B2E"/>
                </a:solidFill>
              </a:rPr>
              <a:t>Recommendations for Business Owners</a:t>
            </a:r>
            <a:endParaRPr lang="he-IL" sz="1600" b="1" dirty="0">
              <a:solidFill>
                <a:srgbClr val="F26B2E"/>
              </a:solidFill>
            </a:endParaRPr>
          </a:p>
        </p:txBody>
      </p:sp>
      <p:sp>
        <p:nvSpPr>
          <p:cNvPr id="19" name="BP_FINDING_1_NUMBER">
            <a:extLst>
              <a:ext uri="{FF2B5EF4-FFF2-40B4-BE49-F238E27FC236}">
                <a16:creationId xmlns:a16="http://schemas.microsoft.com/office/drawing/2014/main" id="{50171F8E-39BB-4D4A-9390-252DE13995F7}"/>
              </a:ext>
            </a:extLst>
          </p:cNvPr>
          <p:cNvSpPr/>
          <p:nvPr/>
        </p:nvSpPr>
        <p:spPr>
          <a:xfrm>
            <a:off x="914400" y="2479679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BP_FINDING_1_TEXT">
            <a:extLst>
              <a:ext uri="{FF2B5EF4-FFF2-40B4-BE49-F238E27FC236}">
                <a16:creationId xmlns:a16="http://schemas.microsoft.com/office/drawing/2014/main" id="{F8E84154-C241-466A-8177-CE92833B3143}"/>
              </a:ext>
            </a:extLst>
          </p:cNvPr>
          <p:cNvSpPr txBox="1"/>
          <p:nvPr/>
        </p:nvSpPr>
        <p:spPr>
          <a:xfrm>
            <a:off x="1371600" y="2365379"/>
            <a:ext cx="421005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400" dirty="0">
                <a:solidFill>
                  <a:srgbClr val="0B1F3A"/>
                </a:solidFill>
              </a:rPr>
              <a:t>Jewelry, Pants, and Blouse are the most popular products; Jeans is the clear underperformer.</a:t>
            </a:r>
            <a:endParaRPr lang="he-IL" sz="1400" dirty="0">
              <a:solidFill>
                <a:srgbClr val="0B1F3A"/>
              </a:solidFill>
            </a:endParaRPr>
          </a:p>
        </p:txBody>
      </p:sp>
      <p:sp>
        <p:nvSpPr>
          <p:cNvPr id="21" name="BP_FINDING_2_NUMBER">
            <a:extLst>
              <a:ext uri="{FF2B5EF4-FFF2-40B4-BE49-F238E27FC236}">
                <a16:creationId xmlns:a16="http://schemas.microsoft.com/office/drawing/2014/main" id="{0834FFE7-D005-4BC2-9687-0ABB2ED18C41}"/>
              </a:ext>
            </a:extLst>
          </p:cNvPr>
          <p:cNvSpPr/>
          <p:nvPr/>
        </p:nvSpPr>
        <p:spPr>
          <a:xfrm>
            <a:off x="914400" y="3148547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 dirty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BP_FINDING_2_TEXT">
            <a:extLst>
              <a:ext uri="{FF2B5EF4-FFF2-40B4-BE49-F238E27FC236}">
                <a16:creationId xmlns:a16="http://schemas.microsoft.com/office/drawing/2014/main" id="{A0ED2653-A08E-4492-8A9D-AB6AC0112DAF}"/>
              </a:ext>
            </a:extLst>
          </p:cNvPr>
          <p:cNvSpPr txBox="1"/>
          <p:nvPr/>
        </p:nvSpPr>
        <p:spPr>
          <a:xfrm>
            <a:off x="1371599" y="3009900"/>
            <a:ext cx="4190999" cy="6858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400" dirty="0">
                <a:solidFill>
                  <a:srgbClr val="0B1F3A"/>
                </a:solidFill>
              </a:rPr>
              <a:t>Sandals lead Footwear, and Footwear has the highest average sales per product.</a:t>
            </a:r>
            <a:endParaRPr lang="he-IL" sz="1400" dirty="0">
              <a:solidFill>
                <a:srgbClr val="0B1F3A"/>
              </a:solidFill>
            </a:endParaRPr>
          </a:p>
        </p:txBody>
      </p:sp>
      <p:sp>
        <p:nvSpPr>
          <p:cNvPr id="23" name="BP_FINDING_3_NUMBER">
            <a:extLst>
              <a:ext uri="{FF2B5EF4-FFF2-40B4-BE49-F238E27FC236}">
                <a16:creationId xmlns:a16="http://schemas.microsoft.com/office/drawing/2014/main" id="{313AADD9-6F63-4454-AE86-F931C669F907}"/>
              </a:ext>
            </a:extLst>
          </p:cNvPr>
          <p:cNvSpPr/>
          <p:nvPr/>
        </p:nvSpPr>
        <p:spPr>
          <a:xfrm>
            <a:off x="914400" y="3856037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BP_FINDING_3_TEXT">
            <a:extLst>
              <a:ext uri="{FF2B5EF4-FFF2-40B4-BE49-F238E27FC236}">
                <a16:creationId xmlns:a16="http://schemas.microsoft.com/office/drawing/2014/main" id="{0EE7ABC2-67F8-4CD7-8C34-30A2745D5E97}"/>
              </a:ext>
            </a:extLst>
          </p:cNvPr>
          <p:cNvSpPr txBox="1"/>
          <p:nvPr/>
        </p:nvSpPr>
        <p:spPr>
          <a:xfrm>
            <a:off x="1371600" y="3733800"/>
            <a:ext cx="4038600" cy="7620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400" dirty="0">
                <a:solidFill>
                  <a:srgbClr val="0B1F3A"/>
                </a:solidFill>
              </a:rPr>
              <a:t>Clothing and Accessories generate 76.6% of revenue mainly because they include more products; sales per product are similar across categories.</a:t>
            </a:r>
          </a:p>
        </p:txBody>
      </p:sp>
      <p:sp>
        <p:nvSpPr>
          <p:cNvPr id="25" name="BP_FINDING_4_NUMBER">
            <a:extLst>
              <a:ext uri="{FF2B5EF4-FFF2-40B4-BE49-F238E27FC236}">
                <a16:creationId xmlns:a16="http://schemas.microsoft.com/office/drawing/2014/main" id="{D68A6669-20F1-4D82-9044-54978FA129C2}"/>
              </a:ext>
            </a:extLst>
          </p:cNvPr>
          <p:cNvSpPr/>
          <p:nvPr/>
        </p:nvSpPr>
        <p:spPr>
          <a:xfrm>
            <a:off x="914400" y="4715927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BP_FINDING_4_TEXT">
            <a:extLst>
              <a:ext uri="{FF2B5EF4-FFF2-40B4-BE49-F238E27FC236}">
                <a16:creationId xmlns:a16="http://schemas.microsoft.com/office/drawing/2014/main" id="{DF92131A-3126-43EF-93CF-83F841155AFD}"/>
              </a:ext>
            </a:extLst>
          </p:cNvPr>
          <p:cNvSpPr txBox="1"/>
          <p:nvPr/>
        </p:nvSpPr>
        <p:spPr>
          <a:xfrm>
            <a:off x="1371600" y="4625975"/>
            <a:ext cx="403860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400" dirty="0">
                <a:solidFill>
                  <a:srgbClr val="0B1F3A"/>
                </a:solidFill>
              </a:rPr>
              <a:t>Customer ratings have little connection to the number of items purchased.</a:t>
            </a:r>
            <a:endParaRPr lang="he-IL" sz="1400" dirty="0">
              <a:solidFill>
                <a:srgbClr val="0B1F3A"/>
              </a:solidFill>
            </a:endParaRPr>
          </a:p>
        </p:txBody>
      </p:sp>
      <p:sp>
        <p:nvSpPr>
          <p:cNvPr id="27" name="BP_REC_1_NUMBER">
            <a:extLst>
              <a:ext uri="{FF2B5EF4-FFF2-40B4-BE49-F238E27FC236}">
                <a16:creationId xmlns:a16="http://schemas.microsoft.com/office/drawing/2014/main" id="{071E802C-9E9F-4956-BBAE-0FEEEFCBE365}"/>
              </a:ext>
            </a:extLst>
          </p:cNvPr>
          <p:cNvSpPr/>
          <p:nvPr/>
        </p:nvSpPr>
        <p:spPr>
          <a:xfrm>
            <a:off x="6657975" y="2479679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BP_REC_1_TEXT">
            <a:extLst>
              <a:ext uri="{FF2B5EF4-FFF2-40B4-BE49-F238E27FC236}">
                <a16:creationId xmlns:a16="http://schemas.microsoft.com/office/drawing/2014/main" id="{BE01C5F5-AEE2-418B-96E5-67F66DBCC348}"/>
              </a:ext>
            </a:extLst>
          </p:cNvPr>
          <p:cNvSpPr txBox="1"/>
          <p:nvPr/>
        </p:nvSpPr>
        <p:spPr>
          <a:xfrm>
            <a:off x="7086600" y="2365379"/>
            <a:ext cx="419100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400">
                <a:solidFill>
                  <a:srgbClr val="0B1F3A"/>
                </a:solidFill>
              </a:rPr>
              <a:t>Keep the most popular products visible and well stocked, especially Jewelry, Pants, Blouse, and Sandals.</a:t>
            </a:r>
            <a:endParaRPr lang="en-US" sz="1400" dirty="0">
              <a:solidFill>
                <a:srgbClr val="0B1F3A"/>
              </a:solidFill>
            </a:endParaRPr>
          </a:p>
        </p:txBody>
      </p:sp>
      <p:sp>
        <p:nvSpPr>
          <p:cNvPr id="29" name="BP_REC_2_NUMBER">
            <a:extLst>
              <a:ext uri="{FF2B5EF4-FFF2-40B4-BE49-F238E27FC236}">
                <a16:creationId xmlns:a16="http://schemas.microsoft.com/office/drawing/2014/main" id="{AF944CAC-7792-4F5D-AE46-90055F98D5F6}"/>
              </a:ext>
            </a:extLst>
          </p:cNvPr>
          <p:cNvSpPr/>
          <p:nvPr/>
        </p:nvSpPr>
        <p:spPr>
          <a:xfrm>
            <a:off x="6657975" y="3148546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BP_REC_2_TEXT">
            <a:extLst>
              <a:ext uri="{FF2B5EF4-FFF2-40B4-BE49-F238E27FC236}">
                <a16:creationId xmlns:a16="http://schemas.microsoft.com/office/drawing/2014/main" id="{3659FB89-BC23-4BA8-BE05-1D876FA8A364}"/>
              </a:ext>
            </a:extLst>
          </p:cNvPr>
          <p:cNvSpPr txBox="1"/>
          <p:nvPr/>
        </p:nvSpPr>
        <p:spPr>
          <a:xfrm>
            <a:off x="7086598" y="4625975"/>
            <a:ext cx="4190999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400" dirty="0">
                <a:solidFill>
                  <a:srgbClr val="0B1F3A"/>
                </a:solidFill>
              </a:rPr>
              <a:t>Plan inventory and marketing around actual purchase patterns instead of relying mainly on ratings.</a:t>
            </a:r>
            <a:endParaRPr lang="he-IL" sz="1400" dirty="0">
              <a:solidFill>
                <a:srgbClr val="0B1F3A"/>
              </a:solidFill>
            </a:endParaRPr>
          </a:p>
        </p:txBody>
      </p:sp>
      <p:sp>
        <p:nvSpPr>
          <p:cNvPr id="31" name="BP_REC_3_NUMBER">
            <a:extLst>
              <a:ext uri="{FF2B5EF4-FFF2-40B4-BE49-F238E27FC236}">
                <a16:creationId xmlns:a16="http://schemas.microsoft.com/office/drawing/2014/main" id="{25E52989-83A8-4CCA-B20D-28B94C74544C}"/>
              </a:ext>
            </a:extLst>
          </p:cNvPr>
          <p:cNvSpPr/>
          <p:nvPr/>
        </p:nvSpPr>
        <p:spPr>
          <a:xfrm>
            <a:off x="6657975" y="3856036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BP_REC_3_TEXT">
            <a:extLst>
              <a:ext uri="{FF2B5EF4-FFF2-40B4-BE49-F238E27FC236}">
                <a16:creationId xmlns:a16="http://schemas.microsoft.com/office/drawing/2014/main" id="{55DE6B4D-A7FC-4EE1-A9A7-BDAAED23D3C0}"/>
              </a:ext>
            </a:extLst>
          </p:cNvPr>
          <p:cNvSpPr txBox="1"/>
          <p:nvPr/>
        </p:nvSpPr>
        <p:spPr>
          <a:xfrm>
            <a:off x="7086599" y="3733800"/>
            <a:ext cx="4191000" cy="7620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>
            <a:defPPr>
              <a:defRPr lang="he-IL"/>
            </a:defPPr>
            <a:lvl1pPr algn="l">
              <a:defRPr sz="1400">
                <a:solidFill>
                  <a:srgbClr val="0B1F3A"/>
                </a:solidFill>
              </a:defRPr>
            </a:lvl1pPr>
          </a:lstStyle>
          <a:p>
            <a:r>
              <a:rPr lang="en-US" dirty="0"/>
              <a:t>Test a small expansion of Footwear and Outerwear, as they show strong sales and revenue per product despite having fewer items.</a:t>
            </a:r>
          </a:p>
        </p:txBody>
      </p:sp>
      <p:sp>
        <p:nvSpPr>
          <p:cNvPr id="33" name="BP_REC_4_NUMBER">
            <a:extLst>
              <a:ext uri="{FF2B5EF4-FFF2-40B4-BE49-F238E27FC236}">
                <a16:creationId xmlns:a16="http://schemas.microsoft.com/office/drawing/2014/main" id="{3D730089-45AB-4E23-9A8E-773FF7F5594F}"/>
              </a:ext>
            </a:extLst>
          </p:cNvPr>
          <p:cNvSpPr/>
          <p:nvPr/>
        </p:nvSpPr>
        <p:spPr>
          <a:xfrm>
            <a:off x="6667500" y="4715926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BP_REC_4_TEXT">
            <a:extLst>
              <a:ext uri="{FF2B5EF4-FFF2-40B4-BE49-F238E27FC236}">
                <a16:creationId xmlns:a16="http://schemas.microsoft.com/office/drawing/2014/main" id="{203D1DEF-E7BE-4CA2-81DF-843617DBE8F9}"/>
              </a:ext>
            </a:extLst>
          </p:cNvPr>
          <p:cNvSpPr txBox="1"/>
          <p:nvPr/>
        </p:nvSpPr>
        <p:spPr>
          <a:xfrm>
            <a:off x="7086599" y="3009900"/>
            <a:ext cx="4190999" cy="6858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rmAutofit/>
          </a:bodyPr>
          <a:lstStyle/>
          <a:p>
            <a:pPr algn="l"/>
            <a:r>
              <a:rPr lang="en-US" sz="1400" dirty="0">
                <a:solidFill>
                  <a:srgbClr val="0B1F3A"/>
                </a:solidFill>
              </a:rPr>
              <a:t>Review Jeans pricing, design, placement, and customer feedback to understand why its demand is lower.</a:t>
            </a:r>
            <a:endParaRPr lang="he-IL" sz="1400" dirty="0">
              <a:solidFill>
                <a:srgbClr val="0B1F3A"/>
              </a:solidFill>
            </a:endParaRPr>
          </a:p>
        </p:txBody>
      </p:sp>
      <p:sp>
        <p:nvSpPr>
          <p:cNvPr id="36" name="BP_SUMMARY_DECISION_TEXT">
            <a:extLst>
              <a:ext uri="{FF2B5EF4-FFF2-40B4-BE49-F238E27FC236}">
                <a16:creationId xmlns:a16="http://schemas.microsoft.com/office/drawing/2014/main" id="{5FAECBB4-81AB-4964-99C3-FB009BC80511}"/>
              </a:ext>
            </a:extLst>
          </p:cNvPr>
          <p:cNvSpPr txBox="1"/>
          <p:nvPr/>
        </p:nvSpPr>
        <p:spPr>
          <a:xfrm>
            <a:off x="1447800" y="5953125"/>
            <a:ext cx="9448800" cy="65405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/>
            <a:r>
              <a:rPr lang="en-US" sz="1500" b="1" dirty="0">
                <a:solidFill>
                  <a:srgbClr val="FFFFFF"/>
                </a:solidFill>
              </a:rPr>
              <a:t>Prioritize proven product demand, strengthen Footwear winners, and take focused action to improve or replace weak products such as Jeans.</a:t>
            </a:r>
          </a:p>
        </p:txBody>
      </p:sp>
    </p:spTree>
    <p:extLst>
      <p:ext uri="{BB962C8B-B14F-4D97-AF65-F5344CB8AC3E}">
        <p14:creationId xmlns:p14="http://schemas.microsoft.com/office/powerpoint/2010/main" val="40330411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91DC736-0EF8-4F87-9146-EBF1D2EE4D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rcRect l="-1" t="18104" r="4514" b="8151"/>
          <a:stretch>
            <a:fillRect/>
          </a:stretch>
        </p:blipFill>
        <p:spPr>
          <a:xfrm>
            <a:off x="3914855" y="465439"/>
            <a:ext cx="8277145" cy="639256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097CD68E-23E3-4007-8847-CD0944C4F7B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58000">
                <a:schemeClr val="bg1"/>
              </a:gs>
              <a:gs pos="35000">
                <a:schemeClr val="bg1">
                  <a:alpha val="79000"/>
                </a:schemeClr>
              </a:gs>
              <a:gs pos="19000">
                <a:schemeClr val="bg1">
                  <a:alpha val="38000"/>
                </a:schemeClr>
              </a:gs>
              <a:gs pos="0">
                <a:schemeClr val="bg1">
                  <a:alpha val="0"/>
                </a:schemeClr>
              </a:gs>
              <a:gs pos="100000">
                <a:schemeClr val="bg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כותרת 4">
            <a:extLst>
              <a:ext uri="{FF2B5EF4-FFF2-40B4-BE49-F238E27FC236}">
                <a16:creationId xmlns:a16="http://schemas.microsoft.com/office/drawing/2014/main" id="{BEA91FB2-ABA2-795F-D2E3-85E8901B9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</p:spPr>
        <p:txBody>
          <a:bodyPr lIns="0" tIns="0" rIns="0" bIns="0" anchor="b">
            <a:normAutofit/>
          </a:bodyPr>
          <a:lstStyle>
            <a:lvl1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1pPr>
            <a:lvl2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2pPr>
            <a:lvl3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3pPr>
            <a:lvl4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4pPr>
            <a:lvl5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5pPr>
            <a:lvl6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6pPr>
            <a:lvl7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7pPr>
            <a:lvl8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8pPr>
            <a:lvl9pPr algn="l"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lvl9pPr>
          </a:lstStyle>
          <a:p>
            <a:pPr>
              <a:spcAft>
                <a:spcPts val="1200"/>
              </a:spcAft>
              <a:buNone/>
              <a:defRPr sz="4425" b="1">
                <a:solidFill>
                  <a:srgbClr val="0B3041"/>
                </a:solidFill>
                <a:latin typeface="Calibri"/>
                <a:ea typeface="Calibri"/>
                <a:cs typeface="Calibri"/>
              </a:defRPr>
            </a:pPr>
            <a:r>
              <a:rPr lang="en-US" sz="4800" b="1">
                <a:latin typeface="Calibri"/>
                <a:ea typeface="Calibri"/>
                <a:cs typeface="Calibri"/>
              </a:rPr>
              <a:t>Effectiveness of Discounts </a:t>
            </a:r>
            <a:br>
              <a:rPr lang="en-US" sz="4800" b="1">
                <a:latin typeface="Calibri"/>
                <a:ea typeface="Calibri"/>
                <a:cs typeface="Calibri"/>
              </a:rPr>
            </a:br>
            <a:r>
              <a:rPr lang="en-US" sz="4800" b="1">
                <a:latin typeface="Calibri"/>
                <a:ea typeface="Calibri"/>
                <a:cs typeface="Calibri"/>
              </a:rPr>
              <a:t>and Promotions 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929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EA4955-F54B-17C5-13DB-6397A14E6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מלבן 24">
            <a:extLst>
              <a:ext uri="{FF2B5EF4-FFF2-40B4-BE49-F238E27FC236}">
                <a16:creationId xmlns:a16="http://schemas.microsoft.com/office/drawing/2014/main" id="{E4329E24-2094-B01E-3786-D4D2945D3569}"/>
              </a:ext>
            </a:extLst>
          </p:cNvPr>
          <p:cNvSpPr/>
          <p:nvPr/>
        </p:nvSpPr>
        <p:spPr>
          <a:xfrm>
            <a:off x="6905244" y="1623319"/>
            <a:ext cx="4716780" cy="2292257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3" name="מלבן 22">
            <a:extLst>
              <a:ext uri="{FF2B5EF4-FFF2-40B4-BE49-F238E27FC236}">
                <a16:creationId xmlns:a16="http://schemas.microsoft.com/office/drawing/2014/main" id="{5596189D-D5A8-9C5A-39E7-12B8D4DC2F32}"/>
              </a:ext>
            </a:extLst>
          </p:cNvPr>
          <p:cNvSpPr/>
          <p:nvPr/>
        </p:nvSpPr>
        <p:spPr>
          <a:xfrm>
            <a:off x="840057" y="4142780"/>
            <a:ext cx="5894856" cy="2186812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E678C7EA-DE11-56FB-BE17-749D1CD24DB5}"/>
              </a:ext>
            </a:extLst>
          </p:cNvPr>
          <p:cNvSpPr/>
          <p:nvPr/>
        </p:nvSpPr>
        <p:spPr>
          <a:xfrm>
            <a:off x="832866" y="1625616"/>
            <a:ext cx="5909238" cy="2292257"/>
          </a:xfrm>
          <a:prstGeom prst="rect">
            <a:avLst/>
          </a:prstGeom>
          <a:solidFill>
            <a:srgbClr val="F3F6F8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3073348-2673-34E5-AB7F-3BF5CDA007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0913" y="402213"/>
            <a:ext cx="10515600" cy="969899"/>
          </a:xfrm>
        </p:spPr>
        <p:txBody>
          <a:bodyPr vert="horz" lIns="91440" tIns="45720" rIns="91440" bIns="45720" rtlCol="1" anchor="ctr">
            <a:normAutofit/>
          </a:bodyPr>
          <a:lstStyle/>
          <a:p>
            <a:pPr algn="ctr"/>
            <a:r>
              <a:rPr lang="en-US" sz="3600" b="1" noProof="0" dirty="0">
                <a:solidFill>
                  <a:schemeClr val="accent1">
                    <a:lumMod val="50000"/>
                  </a:schemeClr>
                </a:solidFill>
                <a:latin typeface="Calibri"/>
                <a:ea typeface="Calibri"/>
                <a:cs typeface="Calibri"/>
              </a:rPr>
              <a:t>Methodology &amp; Key Performance Indicators (KPIs)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8617A303-5C9E-0384-F5D5-6AF732324D04}"/>
                  </a:ext>
                </a:extLst>
              </p:cNvPr>
              <p:cNvSpPr txBox="1"/>
              <p:nvPr/>
            </p:nvSpPr>
            <p:spPr>
              <a:xfrm>
                <a:off x="810768" y="3016521"/>
                <a:ext cx="6003036" cy="570284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d>
                            <m:dPr>
                              <m:ctrlP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𝑆𝑎𝑙𝑒𝑠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𝑤𝑖𝑡ℎ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𝑃𝑟𝑜𝑚𝑜𝑡𝑖𝑜𝑛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𝑆𝑎𝑙𝑒𝑠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𝑤𝑖𝑡ℎ𝑜𝑢𝑡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 </m:t>
                              </m:r>
                              <m:r>
                                <a:rPr lang="en-US" sz="160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𝑃𝑟𝑜𝑚𝑡𝑖𝑜𝑛</m:t>
                              </m:r>
                            </m:e>
                          </m:d>
                        </m:num>
                        <m:den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𝑆𝑎𝑙𝑒𝑠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𝑤𝑖𝑡ℎ𝑜𝑢𝑡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𝑃𝑟𝑜𝑚𝑡𝑖𝑜𝑛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×100</m:t>
                      </m:r>
                    </m:oMath>
                  </m:oMathPara>
                </a14:m>
                <a:endParaRPr lang="en-US" sz="1600" dirty="0"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5" name="תיבת טקסט 4">
                <a:extLst>
                  <a:ext uri="{FF2B5EF4-FFF2-40B4-BE49-F238E27FC236}">
                    <a16:creationId xmlns:a16="http://schemas.microsoft.com/office/drawing/2014/main" id="{8617A303-5C9E-0384-F5D5-6AF732324D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10768" y="3016521"/>
                <a:ext cx="6003036" cy="570284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A6294A99-CAF9-E749-4147-5DC26B50C604}"/>
                  </a:ext>
                </a:extLst>
              </p:cNvPr>
              <p:cNvSpPr txBox="1"/>
              <p:nvPr/>
            </p:nvSpPr>
            <p:spPr>
              <a:xfrm>
                <a:off x="823722" y="5677624"/>
                <a:ext cx="5746791" cy="57913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l" rtl="0"/>
                <a14:m>
                  <m:oMathPara xmlns:m="http://schemas.openxmlformats.org/officeDocument/2006/math">
                    <m:oMath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𝐴𝑣𝑒𝑟𝑎𝑔𝑒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𝑃𝑢𝑟𝑐ℎ𝑎𝑠𝑒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𝐴𝑚𝑜𝑢𝑛𝑡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𝑤𝑖𝑡ℎ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𝐷𝑖𝑠𝑐𝑜𝑢𝑛𝑡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𝐴𝑣𝑒𝑟𝑎𝑔𝑒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𝑃𝑢𝑟𝑐ℎ𝑎𝑠𝑒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𝐴𝑚𝑜𝑢𝑛𝑡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𝑤𝑖𝑡ℎ𝑜𝑢𝑡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 </m:t>
                      </m:r>
                      <m:r>
                        <a:rPr lang="en-US" sz="1600" i="1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𝐷𝑖𝑠𝑐𝑜𝑢𝑛𝑡</m:t>
                      </m:r>
                    </m:oMath>
                  </m:oMathPara>
                </a14:m>
                <a:endParaRPr lang="en-US" sz="1600" i="1" dirty="0">
                  <a:latin typeface="Cambria Math" panose="02040503050406030204" pitchFamily="18" charset="0"/>
                  <a:ea typeface="Cambria Math" panose="02040503050406030204" pitchFamily="18" charset="0"/>
                  <a:cs typeface="Calibri"/>
                </a:endParaRPr>
              </a:p>
            </p:txBody>
          </p:sp>
        </mc:Choice>
        <mc:Fallback xmlns="">
          <p:sp>
            <p:nvSpPr>
              <p:cNvPr id="7" name="תיבת טקסט 6">
                <a:extLst>
                  <a:ext uri="{FF2B5EF4-FFF2-40B4-BE49-F238E27FC236}">
                    <a16:creationId xmlns:a16="http://schemas.microsoft.com/office/drawing/2014/main" id="{A6294A99-CAF9-E749-4147-5DC26B50C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23722" y="5677624"/>
                <a:ext cx="5746791" cy="579133"/>
              </a:xfrm>
              <a:prstGeom prst="rect">
                <a:avLst/>
              </a:prstGeom>
              <a:blipFill>
                <a:blip r:embed="rId4"/>
                <a:stretch>
                  <a:fillRect b="-7368"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תיבת טקסט 10">
            <a:extLst>
              <a:ext uri="{FF2B5EF4-FFF2-40B4-BE49-F238E27FC236}">
                <a16:creationId xmlns:a16="http://schemas.microsoft.com/office/drawing/2014/main" id="{29A47534-C9E0-9F65-9814-7ADED964EF51}"/>
              </a:ext>
            </a:extLst>
          </p:cNvPr>
          <p:cNvSpPr txBox="1"/>
          <p:nvPr/>
        </p:nvSpPr>
        <p:spPr>
          <a:xfrm>
            <a:off x="7185660" y="1697368"/>
            <a:ext cx="4209288" cy="1862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>
              <a:spcAft>
                <a:spcPts val="600"/>
              </a:spcAft>
            </a:pPr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3. Promo code usage rate</a:t>
            </a:r>
          </a:p>
          <a:p>
            <a:pPr algn="l" rtl="0">
              <a:spcAft>
                <a:spcPts val="600"/>
              </a:spcAft>
            </a:pPr>
            <a:r>
              <a:rPr lang="en-US" sz="2000" b="1" dirty="0"/>
              <a:t>Purpose: </a:t>
            </a:r>
            <a:r>
              <a:rPr lang="en-US" sz="2000" dirty="0"/>
              <a:t>To measure the percentage of transactions involving promo codes</a:t>
            </a:r>
            <a:r>
              <a:rPr lang="en-US" sz="2000" noProof="0" dirty="0"/>
              <a:t>.</a:t>
            </a:r>
          </a:p>
          <a:p>
            <a:pPr algn="l" rtl="0">
              <a:spcAft>
                <a:spcPts val="600"/>
              </a:spcAft>
            </a:pPr>
            <a:r>
              <a:rPr lang="en-US" sz="2000" b="1" dirty="0"/>
              <a:t>Calculation:</a:t>
            </a:r>
          </a:p>
          <a:p>
            <a:pPr algn="l" rtl="0">
              <a:spcAft>
                <a:spcPts val="600"/>
              </a:spcAft>
            </a:pPr>
            <a:endParaRPr lang="en-US" sz="2000" b="1" dirty="0"/>
          </a:p>
        </p:txBody>
      </p:sp>
      <p:sp>
        <p:nvSpPr>
          <p:cNvPr id="17" name="תיבת טקסט 16">
            <a:extLst>
              <a:ext uri="{FF2B5EF4-FFF2-40B4-BE49-F238E27FC236}">
                <a16:creationId xmlns:a16="http://schemas.microsoft.com/office/drawing/2014/main" id="{B1A6DA2C-B61E-86CC-D137-0382CFEFCB51}"/>
              </a:ext>
            </a:extLst>
          </p:cNvPr>
          <p:cNvSpPr txBox="1"/>
          <p:nvPr/>
        </p:nvSpPr>
        <p:spPr>
          <a:xfrm>
            <a:off x="840057" y="4154508"/>
            <a:ext cx="564870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2. Average discount impact on purchase amount</a:t>
            </a:r>
          </a:p>
          <a:p>
            <a:pPr algn="l" rtl="0"/>
            <a:r>
              <a:rPr lang="en-US" sz="2000" b="1" dirty="0"/>
              <a:t>Purpose:</a:t>
            </a:r>
            <a:r>
              <a:rPr lang="en-US" sz="2000" noProof="0" dirty="0"/>
              <a:t>To examine whether discounted purchases have a higher average value than non-discounted purchases.</a:t>
            </a:r>
            <a:endParaRPr lang="en-US" sz="2000" b="1" dirty="0"/>
          </a:p>
          <a:p>
            <a:pPr algn="l" rtl="0"/>
            <a:r>
              <a:rPr lang="en-US" sz="2000" b="1" dirty="0"/>
              <a:t>Calculation:</a:t>
            </a:r>
          </a:p>
        </p:txBody>
      </p:sp>
      <p:sp>
        <p:nvSpPr>
          <p:cNvPr id="19" name="תיבת טקסט 18">
            <a:extLst>
              <a:ext uri="{FF2B5EF4-FFF2-40B4-BE49-F238E27FC236}">
                <a16:creationId xmlns:a16="http://schemas.microsoft.com/office/drawing/2014/main" id="{878B7809-4B07-EBB8-9128-2E5910DBBC7D}"/>
              </a:ext>
            </a:extLst>
          </p:cNvPr>
          <p:cNvSpPr txBox="1"/>
          <p:nvPr/>
        </p:nvSpPr>
        <p:spPr>
          <a:xfrm>
            <a:off x="832866" y="1618416"/>
            <a:ext cx="5842636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 rtl="0"/>
            <a:r>
              <a:rPr lang="en-US" sz="2000" b="1" noProof="0" dirty="0">
                <a:solidFill>
                  <a:schemeClr val="accent1">
                    <a:lumMod val="50000"/>
                  </a:schemeClr>
                </a:solidFill>
              </a:rPr>
              <a:t>1. Promotion effectiveness rate</a:t>
            </a:r>
          </a:p>
          <a:p>
            <a:pPr algn="l" rtl="0">
              <a:spcAft>
                <a:spcPts val="600"/>
              </a:spcAft>
            </a:pPr>
            <a:r>
              <a:rPr lang="en-US" sz="2000" b="1" noProof="0" dirty="0"/>
              <a:t>Purpose:</a:t>
            </a:r>
            <a:r>
              <a:rPr lang="en-US" sz="2000" noProof="0" dirty="0"/>
              <a:t> </a:t>
            </a:r>
            <a:r>
              <a:rPr lang="en-US" sz="2000" dirty="0"/>
              <a:t>To compare sales with and without promotions and evaluate their effectiveness.</a:t>
            </a:r>
            <a:endParaRPr lang="en-US" sz="2000" noProof="0" dirty="0"/>
          </a:p>
          <a:p>
            <a:pPr algn="l" rtl="0"/>
            <a:r>
              <a:rPr lang="en-US" sz="2000" b="1" dirty="0"/>
              <a:t>Calculation:</a:t>
            </a:r>
          </a:p>
          <a:p>
            <a:pPr algn="l" rtl="0">
              <a:spcAft>
                <a:spcPts val="600"/>
              </a:spcAft>
            </a:pPr>
            <a:endParaRPr lang="en-US" sz="2000" b="1" dirty="0"/>
          </a:p>
        </p:txBody>
      </p:sp>
      <p:sp>
        <p:nvSpPr>
          <p:cNvPr id="27" name="מלבן 26">
            <a:extLst>
              <a:ext uri="{FF2B5EF4-FFF2-40B4-BE49-F238E27FC236}">
                <a16:creationId xmlns:a16="http://schemas.microsoft.com/office/drawing/2014/main" id="{D42038B1-D520-7140-D83F-5FC0D5805316}"/>
              </a:ext>
            </a:extLst>
          </p:cNvPr>
          <p:cNvSpPr/>
          <p:nvPr/>
        </p:nvSpPr>
        <p:spPr>
          <a:xfrm>
            <a:off x="823722" y="1618416"/>
            <a:ext cx="5904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9" name="מלבן 28">
            <a:extLst>
              <a:ext uri="{FF2B5EF4-FFF2-40B4-BE49-F238E27FC236}">
                <a16:creationId xmlns:a16="http://schemas.microsoft.com/office/drawing/2014/main" id="{6C8D8DD0-BBEF-6F52-D110-0035C17C7EE6}"/>
              </a:ext>
            </a:extLst>
          </p:cNvPr>
          <p:cNvSpPr/>
          <p:nvPr/>
        </p:nvSpPr>
        <p:spPr>
          <a:xfrm>
            <a:off x="840057" y="4129410"/>
            <a:ext cx="5904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31" name="מלבן 30">
            <a:extLst>
              <a:ext uri="{FF2B5EF4-FFF2-40B4-BE49-F238E27FC236}">
                <a16:creationId xmlns:a16="http://schemas.microsoft.com/office/drawing/2014/main" id="{72535FA1-706D-94B8-2FCC-61663FE4E91C}"/>
              </a:ext>
            </a:extLst>
          </p:cNvPr>
          <p:cNvSpPr/>
          <p:nvPr/>
        </p:nvSpPr>
        <p:spPr>
          <a:xfrm>
            <a:off x="6905244" y="1635214"/>
            <a:ext cx="4716000" cy="7200"/>
          </a:xfrm>
          <a:prstGeom prst="rect">
            <a:avLst/>
          </a:prstGeom>
          <a:solidFill>
            <a:srgbClr val="15324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F4DC61B6-1583-44C7-552A-79242E05C93D}"/>
                  </a:ext>
                </a:extLst>
              </p:cNvPr>
              <p:cNvSpPr txBox="1"/>
              <p:nvPr/>
            </p:nvSpPr>
            <p:spPr>
              <a:xfrm>
                <a:off x="7277100" y="3152284"/>
                <a:ext cx="4209288" cy="560538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algn="ctr" rtl="0"/>
                <a14:m>
                  <m:oMathPara xmlns:m="http://schemas.openxmlformats.org/officeDocument/2006/math">
                    <m:oMath>
                      <m:f>
                        <m:fPr>
                          <m:ctrlP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𝑇𝑟𝑎𝑛𝑠𝑎𝑐𝑡𝑖𝑜𝑛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𝑃𝑟𝑜𝑚𝑜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𝐶𝑜𝑑𝑒</m:t>
                          </m:r>
                        </m:num>
                        <m:den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sz="1600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𝑇𝑟𝑎𝑛𝑠𝑎𝑐𝑡𝑖𝑜𝑛</m:t>
                          </m:r>
                        </m:den>
                      </m:f>
                      <m:r>
                        <a:rPr lang="en-US" sz="1600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libri"/>
                        </a:rPr>
                        <m:t>×100</m:t>
                      </m:r>
                    </m:oMath>
                  </m:oMathPara>
                </a14:m>
                <a:endParaRPr lang="en-US" sz="1600" dirty="0">
                  <a:latin typeface="Calibri"/>
                  <a:ea typeface="Calibri"/>
                  <a:cs typeface="Calibri"/>
                </a:endParaRPr>
              </a:p>
            </p:txBody>
          </p:sp>
        </mc:Choice>
        <mc:Fallback xmlns="">
          <p:sp>
            <p:nvSpPr>
              <p:cNvPr id="4" name="תיבת טקסט 3">
                <a:extLst>
                  <a:ext uri="{FF2B5EF4-FFF2-40B4-BE49-F238E27FC236}">
                    <a16:creationId xmlns:a16="http://schemas.microsoft.com/office/drawing/2014/main" id="{F4DC61B6-1583-44C7-552A-79242E05C9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77100" y="3152284"/>
                <a:ext cx="4209288" cy="560538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he-IL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37555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P_STYLE_S9_FOOTER">
            <a:extLst>
              <a:ext uri="{FF2B5EF4-FFF2-40B4-BE49-F238E27FC236}">
                <a16:creationId xmlns:a16="http://schemas.microsoft.com/office/drawing/2014/main" id="{D4DFADED-F1F2-48C7-B475-923CF2CC2022}"/>
              </a:ext>
            </a:extLst>
          </p:cNvPr>
          <p:cNvSpPr/>
          <p:nvPr/>
        </p:nvSpPr>
        <p:spPr>
          <a:xfrm>
            <a:off x="609600" y="5181600"/>
            <a:ext cx="10972800" cy="78740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" name="BP_STYLE_S9_FINDING">
            <a:extLst>
              <a:ext uri="{FF2B5EF4-FFF2-40B4-BE49-F238E27FC236}">
                <a16:creationId xmlns:a16="http://schemas.microsoft.com/office/drawing/2014/main" id="{3B7BD991-7C45-47DA-8AE8-570E0AA88EDD}"/>
              </a:ext>
            </a:extLst>
          </p:cNvPr>
          <p:cNvSpPr/>
          <p:nvPr/>
        </p:nvSpPr>
        <p:spPr>
          <a:xfrm>
            <a:off x="7518400" y="1625600"/>
            <a:ext cx="4064000" cy="260350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AA3A54B-22D9-6F1B-81AC-B503A794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508000"/>
            <a:ext cx="10515600" cy="68580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 Codes and Discounts Move Together</a:t>
            </a:r>
          </a:p>
        </p:txBody>
      </p:sp>
      <p:graphicFrame>
        <p:nvGraphicFramePr>
          <p:cNvPr id="4" name="טבלה 3">
            <a:extLst>
              <a:ext uri="{FF2B5EF4-FFF2-40B4-BE49-F238E27FC236}">
                <a16:creationId xmlns:a16="http://schemas.microsoft.com/office/drawing/2014/main" id="{971960CD-F5B4-FFA6-5509-CF09285082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237907"/>
              </p:ext>
            </p:extLst>
          </p:nvPr>
        </p:nvGraphicFramePr>
        <p:xfrm>
          <a:off x="666749" y="1625600"/>
          <a:ext cx="6604000" cy="2603500"/>
        </p:xfrm>
        <a:graphic>
          <a:graphicData uri="http://schemas.openxmlformats.org/drawingml/2006/table">
            <a:tbl>
              <a:tblPr rtl="1" firstRow="1" bandRow="1">
                <a:tableStyleId>{5C22544A-7EE6-4342-B048-85BDC9FD1C3A}</a:tableStyleId>
              </a:tblPr>
              <a:tblGrid>
                <a:gridCol w="2376559">
                  <a:extLst>
                    <a:ext uri="{9D8B030D-6E8A-4147-A177-3AD203B41FA5}">
                      <a16:colId xmlns:a16="http://schemas.microsoft.com/office/drawing/2014/main" val="2406290370"/>
                    </a:ext>
                  </a:extLst>
                </a:gridCol>
                <a:gridCol w="2335218">
                  <a:extLst>
                    <a:ext uri="{9D8B030D-6E8A-4147-A177-3AD203B41FA5}">
                      <a16:colId xmlns:a16="http://schemas.microsoft.com/office/drawing/2014/main" val="1419996634"/>
                    </a:ext>
                  </a:extLst>
                </a:gridCol>
                <a:gridCol w="1892223">
                  <a:extLst>
                    <a:ext uri="{9D8B030D-6E8A-4147-A177-3AD203B41FA5}">
                      <a16:colId xmlns:a16="http://schemas.microsoft.com/office/drawing/2014/main" val="2995801166"/>
                    </a:ext>
                  </a:extLst>
                </a:gridCol>
              </a:tblGrid>
              <a:tr h="867833">
                <a:tc>
                  <a:txBody>
                    <a:bodyPr/>
                    <a:lstStyle/>
                    <a:p>
                      <a:pPr marL="0" marR="0" lvl="0" indent="0" algn="ct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Purchase without  Discount</a:t>
                      </a:r>
                    </a:p>
                  </a:txBody>
                  <a:tcPr anchor="ctr">
                    <a:solidFill>
                      <a:srgbClr val="1C678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500" b="1" dirty="0">
                          <a:solidFill>
                            <a:srgbClr val="FFFFFF"/>
                          </a:solidFill>
                        </a:rPr>
                        <a:t>Purchase with  Discount</a:t>
                      </a:r>
                    </a:p>
                  </a:txBody>
                  <a:tcPr anchor="ctr">
                    <a:solidFill>
                      <a:srgbClr val="1C6787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endParaRPr lang="he-IL" sz="1500" b="1">
                        <a:solidFill>
                          <a:srgbClr val="FFFFFF"/>
                        </a:solidFill>
                      </a:endParaRPr>
                    </a:p>
                  </a:txBody>
                  <a:tcPr anchor="ctr">
                    <a:solidFill>
                      <a:srgbClr val="1C678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43719760"/>
                  </a:ext>
                </a:extLst>
              </a:tr>
              <a:tr h="867833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he-IL" sz="1400" b="0" dirty="0">
                        <a:solidFill>
                          <a:srgbClr val="0B1F3A"/>
                        </a:solidFill>
                      </a:endParaRPr>
                    </a:p>
                  </a:txBody>
                  <a:tcPr anchor="ctr">
                    <a:solidFill>
                      <a:srgbClr val="D5DB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500" b="0" dirty="0">
                          <a:solidFill>
                            <a:srgbClr val="0B1F3A"/>
                          </a:solidFill>
                        </a:rPr>
                        <a:t>1,677</a:t>
                      </a:r>
                    </a:p>
                    <a:p>
                      <a:pPr algn="ctr" rtl="1"/>
                      <a:r>
                        <a:rPr lang="en-US" sz="1500" b="0" dirty="0">
                          <a:solidFill>
                            <a:srgbClr val="0B1F3A"/>
                          </a:solidFill>
                        </a:rPr>
                        <a:t>(100%)</a:t>
                      </a:r>
                      <a:endParaRPr lang="he-IL" sz="1500" b="0" dirty="0">
                        <a:solidFill>
                          <a:srgbClr val="0B1F3A"/>
                        </a:solidFill>
                      </a:endParaRPr>
                    </a:p>
                  </a:txBody>
                  <a:tcPr anchor="ctr">
                    <a:solidFill>
                      <a:srgbClr val="D5DBE1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500" b="1" dirty="0">
                          <a:solidFill>
                            <a:srgbClr val="0B1F3A"/>
                          </a:solidFill>
                        </a:rPr>
                        <a:t>Purchase with Promo Code</a:t>
                      </a:r>
                      <a:endParaRPr lang="he-IL" sz="1500" b="1" dirty="0">
                        <a:solidFill>
                          <a:srgbClr val="0B1F3A"/>
                        </a:solidFill>
                      </a:endParaRPr>
                    </a:p>
                  </a:txBody>
                  <a:tcPr anchor="ctr">
                    <a:solidFill>
                      <a:srgbClr val="D5DBE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422985"/>
                  </a:ext>
                </a:extLst>
              </a:tr>
              <a:tr h="867834">
                <a:tc>
                  <a:txBody>
                    <a:bodyPr/>
                    <a:lstStyle/>
                    <a:p>
                      <a:pPr algn="ctr" rtl="1"/>
                      <a:r>
                        <a:rPr lang="en-US" sz="1400" b="0" dirty="0">
                          <a:solidFill>
                            <a:srgbClr val="0B1F3A"/>
                          </a:solidFill>
                        </a:rPr>
                        <a:t>2,223</a:t>
                      </a:r>
                    </a:p>
                    <a:p>
                      <a:pPr algn="ctr" rtl="1"/>
                      <a:r>
                        <a:rPr lang="en-US" sz="1400" b="0" dirty="0">
                          <a:solidFill>
                            <a:srgbClr val="0B1F3A"/>
                          </a:solidFill>
                        </a:rPr>
                        <a:t>(100%)</a:t>
                      </a:r>
                      <a:endParaRPr lang="he-IL" sz="1400" b="0" dirty="0">
                        <a:solidFill>
                          <a:srgbClr val="0B1F3A"/>
                        </a:solidFill>
                      </a:endParaRPr>
                    </a:p>
                  </a:txBody>
                  <a:tcPr anchor="ctr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500" b="0" dirty="0">
                          <a:solidFill>
                            <a:srgbClr val="0B1F3A"/>
                          </a:solidFill>
                        </a:rPr>
                        <a:t>0</a:t>
                      </a:r>
                      <a:endParaRPr lang="he-IL" sz="1500" b="0" dirty="0">
                        <a:solidFill>
                          <a:srgbClr val="0B1F3A"/>
                        </a:solidFill>
                      </a:endParaRPr>
                    </a:p>
                  </a:txBody>
                  <a:tcPr anchor="ctr">
                    <a:solidFill>
                      <a:srgbClr val="E7EBE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en-US" sz="1500" b="1" dirty="0">
                          <a:solidFill>
                            <a:srgbClr val="0B1F3A"/>
                          </a:solidFill>
                        </a:rPr>
                        <a:t>Purchase without Promo Code</a:t>
                      </a:r>
                    </a:p>
                  </a:txBody>
                  <a:tcPr anchor="ctr">
                    <a:solidFill>
                      <a:srgbClr val="E7EB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67941"/>
                  </a:ext>
                </a:extLst>
              </a:tr>
            </a:tbl>
          </a:graphicData>
        </a:graphic>
      </p:graphicFrame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E6859DA1-6437-4CE4-EE9B-69B5C8F2CF9C}"/>
              </a:ext>
            </a:extLst>
          </p:cNvPr>
          <p:cNvSpPr txBox="1"/>
          <p:nvPr/>
        </p:nvSpPr>
        <p:spPr>
          <a:xfrm>
            <a:off x="7823200" y="1917700"/>
            <a:ext cx="3352800" cy="1841500"/>
          </a:xfrm>
          <a:prstGeom prst="rect">
            <a:avLst/>
          </a:prstGeom>
          <a:noFill/>
        </p:spPr>
        <p:txBody>
          <a:bodyPr wrap="square" anchor="t" anchorCtr="0">
            <a:normAutofit/>
          </a:bodyPr>
          <a:lstStyle/>
          <a:p>
            <a:pPr algn="l" rtl="0"/>
            <a:r>
              <a:rPr lang="en-US" sz="1600" b="1" dirty="0">
                <a:solidFill>
                  <a:schemeClr val="accent2"/>
                </a:solidFill>
                <a:latin typeface="Calibri"/>
                <a:ea typeface="Calibri"/>
                <a:cs typeface="Calibri"/>
              </a:rPr>
              <a:t>Key Finding:</a:t>
            </a:r>
          </a:p>
          <a:p>
            <a:pPr algn="l" rtl="0"/>
            <a:r>
              <a:rPr lang="en-US" sz="160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Every transaction with a promo code also includes a discount, and vice versa. The two variables represent the same group of transactions in the dataset.</a:t>
            </a:r>
            <a:endParaRPr lang="he-IL" sz="160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75219A99-2EFF-944D-FB2B-2F0C4B533E7D}"/>
              </a:ext>
            </a:extLst>
          </p:cNvPr>
          <p:cNvSpPr txBox="1"/>
          <p:nvPr/>
        </p:nvSpPr>
        <p:spPr>
          <a:xfrm>
            <a:off x="914400" y="5181600"/>
            <a:ext cx="10363200" cy="838200"/>
          </a:xfrm>
          <a:prstGeom prst="rect">
            <a:avLst/>
          </a:prstGeom>
          <a:noFill/>
        </p:spPr>
        <p:txBody>
          <a:bodyPr wrap="square" anchor="ctr" anchorCtr="0">
            <a:normAutofit/>
          </a:bodyPr>
          <a:lstStyle/>
          <a:p>
            <a:pPr marL="0" indent="0" algn="l" rtl="0">
              <a:buNone/>
            </a:pPr>
            <a:r>
              <a:rPr lang="en-US" sz="140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* The following slides use one combined indicator: Promotion Exposure (promo code and/or discount). Results describe association with this combined indicator and cannot isolate the effect of promo codes from discounts.</a:t>
            </a:r>
            <a:endParaRPr lang="he-IL" sz="140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BP_STYLE_S9_FINDING_RULE">
            <a:extLst>
              <a:ext uri="{FF2B5EF4-FFF2-40B4-BE49-F238E27FC236}">
                <a16:creationId xmlns:a16="http://schemas.microsoft.com/office/drawing/2014/main" id="{64BA4D17-7BE1-4AE7-93D1-6852B72F2E97}"/>
              </a:ext>
            </a:extLst>
          </p:cNvPr>
          <p:cNvSpPr/>
          <p:nvPr/>
        </p:nvSpPr>
        <p:spPr>
          <a:xfrm>
            <a:off x="7518400" y="1625600"/>
            <a:ext cx="40640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" name="BP_STYLE_S9_FOOTER_RULE">
            <a:extLst>
              <a:ext uri="{FF2B5EF4-FFF2-40B4-BE49-F238E27FC236}">
                <a16:creationId xmlns:a16="http://schemas.microsoft.com/office/drawing/2014/main" id="{17094B28-D428-441B-A764-3AA1F91293F4}"/>
              </a:ext>
            </a:extLst>
          </p:cNvPr>
          <p:cNvSpPr/>
          <p:nvPr/>
        </p:nvSpPr>
        <p:spPr>
          <a:xfrm>
            <a:off x="609600" y="5181600"/>
            <a:ext cx="10972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69051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BP_STYLE_S10_FOOTER">
            <a:extLst>
              <a:ext uri="{FF2B5EF4-FFF2-40B4-BE49-F238E27FC236}">
                <a16:creationId xmlns:a16="http://schemas.microsoft.com/office/drawing/2014/main" id="{39085CEB-8339-49B9-A7C5-4FFCB5B5D669}"/>
              </a:ext>
            </a:extLst>
          </p:cNvPr>
          <p:cNvSpPr/>
          <p:nvPr/>
        </p:nvSpPr>
        <p:spPr>
          <a:xfrm>
            <a:off x="622300" y="5715000"/>
            <a:ext cx="10972800" cy="92075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C544E38-1055-09EB-141C-D38B17471D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1307307"/>
            <a:ext cx="5257800" cy="43180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18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Promotion Exposure Rate</a:t>
            </a:r>
          </a:p>
        </p:txBody>
      </p:sp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A8EC598B-EE93-01A6-B879-94EE9D753D3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33471499"/>
              </p:ext>
            </p:extLst>
          </p:nvPr>
        </p:nvGraphicFramePr>
        <p:xfrm>
          <a:off x="609600" y="1840707"/>
          <a:ext cx="5257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תיבת טקסט 7">
            <a:extLst>
              <a:ext uri="{FF2B5EF4-FFF2-40B4-BE49-F238E27FC236}">
                <a16:creationId xmlns:a16="http://schemas.microsoft.com/office/drawing/2014/main" id="{55214661-0C1E-435B-153D-25AB9482AB6A}"/>
              </a:ext>
            </a:extLst>
          </p:cNvPr>
          <p:cNvSpPr txBox="1"/>
          <p:nvPr/>
        </p:nvSpPr>
        <p:spPr>
          <a:xfrm>
            <a:off x="838200" y="5781675"/>
            <a:ext cx="4800600" cy="787400"/>
          </a:xfrm>
          <a:prstGeom prst="rect">
            <a:avLst/>
          </a:prstGeom>
          <a:noFill/>
        </p:spPr>
        <p:txBody>
          <a:bodyPr wrap="square" anchor="ctr" anchorCtr="0">
            <a:normAutofit/>
          </a:bodyPr>
          <a:lstStyle>
            <a:defPPr>
              <a:defRPr lang="he-IL"/>
            </a:defPPr>
            <a:lvl1pPr algn="ctr">
              <a:defRPr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en-US" sz="160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Combined promotion exposure rate: 43%</a:t>
            </a:r>
          </a:p>
          <a:p>
            <a:r>
              <a:rPr lang="en-US" sz="160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measure includes promo codes and discounts</a:t>
            </a:r>
            <a:endParaRPr lang="he-IL" sz="160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9" name="כותרת 1">
            <a:extLst>
              <a:ext uri="{FF2B5EF4-FFF2-40B4-BE49-F238E27FC236}">
                <a16:creationId xmlns:a16="http://schemas.microsoft.com/office/drawing/2014/main" id="{AEEC1902-9174-1718-FA63-F89D5B36C539}"/>
              </a:ext>
            </a:extLst>
          </p:cNvPr>
          <p:cNvSpPr txBox="1">
            <a:spLocks/>
          </p:cNvSpPr>
          <p:nvPr/>
        </p:nvSpPr>
        <p:spPr>
          <a:xfrm>
            <a:off x="6324600" y="1325960"/>
            <a:ext cx="5257800" cy="431800"/>
          </a:xfrm>
          <a:prstGeom prst="rect">
            <a:avLst/>
          </a:prstGeom>
        </p:spPr>
        <p:txBody>
          <a:bodyPr vert="horz" wrap="square" lIns="91440" tIns="45720" rIns="91440" bIns="45720" rtlCol="1" anchor="ctr" anchorCtr="0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noProof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Average Purchase Value by Promotion Exposure</a:t>
            </a:r>
            <a:endParaRPr lang="en-US" sz="1800" b="1" noProof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תרשים 10">
            <a:extLst>
              <a:ext uri="{FF2B5EF4-FFF2-40B4-BE49-F238E27FC236}">
                <a16:creationId xmlns:a16="http://schemas.microsoft.com/office/drawing/2014/main" id="{74E86BED-A109-F801-D7E1-2804C09FD6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51512457"/>
              </p:ext>
            </p:extLst>
          </p:nvPr>
        </p:nvGraphicFramePr>
        <p:xfrm>
          <a:off x="6299200" y="1840707"/>
          <a:ext cx="52578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3" name="תיבת טקסט 12">
            <a:extLst>
              <a:ext uri="{FF2B5EF4-FFF2-40B4-BE49-F238E27FC236}">
                <a16:creationId xmlns:a16="http://schemas.microsoft.com/office/drawing/2014/main" id="{1F8957A6-1B7B-2537-E97D-83CE8E022121}"/>
              </a:ext>
            </a:extLst>
          </p:cNvPr>
          <p:cNvSpPr txBox="1"/>
          <p:nvPr/>
        </p:nvSpPr>
        <p:spPr>
          <a:xfrm>
            <a:off x="6565900" y="5813425"/>
            <a:ext cx="4800600" cy="723900"/>
          </a:xfrm>
          <a:prstGeom prst="rect">
            <a:avLst/>
          </a:prstGeom>
          <a:noFill/>
        </p:spPr>
        <p:txBody>
          <a:bodyPr wrap="square" anchor="ctr" anchorCtr="0">
            <a:normAutofit/>
          </a:bodyPr>
          <a:lstStyle/>
          <a:p>
            <a:pPr algn="l" rtl="0"/>
            <a:r>
              <a:rPr lang="en-US" sz="1600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Promotion-exposed transactions have a slightly lower average purchase value than non-exposed transactions</a:t>
            </a:r>
          </a:p>
        </p:txBody>
      </p:sp>
      <p:sp>
        <p:nvSpPr>
          <p:cNvPr id="7" name="BP_STYLE_S10_DIVIDER">
            <a:extLst>
              <a:ext uri="{FF2B5EF4-FFF2-40B4-BE49-F238E27FC236}">
                <a16:creationId xmlns:a16="http://schemas.microsoft.com/office/drawing/2014/main" id="{3D231E9C-4C99-4199-9935-9CA79AA3473E}"/>
              </a:ext>
            </a:extLst>
          </p:cNvPr>
          <p:cNvSpPr/>
          <p:nvPr/>
        </p:nvSpPr>
        <p:spPr>
          <a:xfrm>
            <a:off x="6096000" y="1739107"/>
            <a:ext cx="12700" cy="3657600"/>
          </a:xfrm>
          <a:prstGeom prst="rect">
            <a:avLst/>
          </a:prstGeom>
          <a:solidFill>
            <a:srgbClr val="C9D0D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BP_STYLE_S10_FOOTER_RULE">
            <a:extLst>
              <a:ext uri="{FF2B5EF4-FFF2-40B4-BE49-F238E27FC236}">
                <a16:creationId xmlns:a16="http://schemas.microsoft.com/office/drawing/2014/main" id="{B20041B5-34C9-41DF-A254-AC36E11D2B91}"/>
              </a:ext>
            </a:extLst>
          </p:cNvPr>
          <p:cNvSpPr/>
          <p:nvPr/>
        </p:nvSpPr>
        <p:spPr>
          <a:xfrm>
            <a:off x="635000" y="5735638"/>
            <a:ext cx="10972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" name="BP_STYLE_S10_FOOTER_DIVIDER">
            <a:extLst>
              <a:ext uri="{FF2B5EF4-FFF2-40B4-BE49-F238E27FC236}">
                <a16:creationId xmlns:a16="http://schemas.microsoft.com/office/drawing/2014/main" id="{82B691C7-BEF9-4677-851F-7E77735BD29C}"/>
              </a:ext>
            </a:extLst>
          </p:cNvPr>
          <p:cNvSpPr/>
          <p:nvPr/>
        </p:nvSpPr>
        <p:spPr>
          <a:xfrm>
            <a:off x="6108700" y="5781675"/>
            <a:ext cx="12700" cy="787400"/>
          </a:xfrm>
          <a:prstGeom prst="rect">
            <a:avLst/>
          </a:prstGeom>
          <a:solidFill>
            <a:srgbClr val="C9D0D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5" name="BP_STYLE_S10_MAIN_TITLE">
            <a:extLst>
              <a:ext uri="{FF2B5EF4-FFF2-40B4-BE49-F238E27FC236}">
                <a16:creationId xmlns:a16="http://schemas.microsoft.com/office/drawing/2014/main" id="{1AB0523D-66E5-4697-8537-65E68A3B503B}"/>
              </a:ext>
            </a:extLst>
          </p:cNvPr>
          <p:cNvSpPr txBox="1"/>
          <p:nvPr/>
        </p:nvSpPr>
        <p:spPr>
          <a:xfrm>
            <a:off x="863600" y="455614"/>
            <a:ext cx="10515600" cy="635000"/>
          </a:xfrm>
          <a:prstGeom prst="rect">
            <a:avLst/>
          </a:prstGeom>
          <a:noFill/>
        </p:spPr>
        <p:txBody>
          <a:bodyPr vertOverflow="overflow" vert="horz" wrap="none" rtlCol="1" anchor="ctr" anchorCtr="0">
            <a:normAutofit/>
          </a:bodyPr>
          <a:lstStyle/>
          <a:p>
            <a:pPr algn="ctr" rtl="0"/>
            <a:r>
              <a:rPr lang="en-US" sz="2800" b="1" dirty="0">
                <a:solidFill>
                  <a:srgbClr val="0B1F3A"/>
                </a:solidFill>
              </a:rPr>
              <a:t>Combined Promotion Exposure effectiveness rate </a:t>
            </a:r>
          </a:p>
        </p:txBody>
      </p:sp>
    </p:spTree>
    <p:extLst>
      <p:ext uri="{BB962C8B-B14F-4D97-AF65-F5344CB8AC3E}">
        <p14:creationId xmlns:p14="http://schemas.microsoft.com/office/powerpoint/2010/main" val="435778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0481CB-6728-0DBB-EC7A-85052731C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BP_STYLE_S11_FOOTER">
            <a:extLst>
              <a:ext uri="{FF2B5EF4-FFF2-40B4-BE49-F238E27FC236}">
                <a16:creationId xmlns:a16="http://schemas.microsoft.com/office/drawing/2014/main" id="{D9A12F0C-5493-4487-A1B9-82626A8F34FC}"/>
              </a:ext>
            </a:extLst>
          </p:cNvPr>
          <p:cNvSpPr/>
          <p:nvPr/>
        </p:nvSpPr>
        <p:spPr>
          <a:xfrm>
            <a:off x="609600" y="5435600"/>
            <a:ext cx="10972800" cy="91440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B7F69F98-00D1-D426-7BD5-135C2836CC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76300" y="508000"/>
            <a:ext cx="10515600" cy="635000"/>
          </a:xfrm>
        </p:spPr>
        <p:txBody>
          <a:bodyPr wrap="square" anchor="ctr" anchorCtr="0">
            <a:normAutofit/>
          </a:bodyPr>
          <a:lstStyle/>
          <a:p>
            <a:pPr algn="ctr" rtl="0"/>
            <a:r>
              <a:rPr lang="en-US" sz="2800" b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Who Is Exposed to Promo code/Discount? A Demographic View</a:t>
            </a:r>
            <a:endParaRPr lang="he-IL" sz="2800" b="1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graphicFrame>
        <p:nvGraphicFramePr>
          <p:cNvPr id="11" name="מציין מיקום תוכן 10">
            <a:extLst>
              <a:ext uri="{FF2B5EF4-FFF2-40B4-BE49-F238E27FC236}">
                <a16:creationId xmlns:a16="http://schemas.microsoft.com/office/drawing/2014/main" id="{A38A7431-4052-5CA4-FE20-D32097629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5381296"/>
              </p:ext>
            </p:extLst>
          </p:nvPr>
        </p:nvGraphicFramePr>
        <p:xfrm>
          <a:off x="6324600" y="1847849"/>
          <a:ext cx="5067300" cy="336232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6" name="תרשים 5">
            <a:extLst>
              <a:ext uri="{FF2B5EF4-FFF2-40B4-BE49-F238E27FC236}">
                <a16:creationId xmlns:a16="http://schemas.microsoft.com/office/drawing/2014/main" id="{FCC6264E-8F8A-3639-651D-E9C6D9D7E6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399858"/>
              </p:ext>
            </p:extLst>
          </p:nvPr>
        </p:nvGraphicFramePr>
        <p:xfrm>
          <a:off x="609600" y="1844675"/>
          <a:ext cx="5029199" cy="33623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תיבת טקסט 1">
            <a:extLst>
              <a:ext uri="{FF2B5EF4-FFF2-40B4-BE49-F238E27FC236}">
                <a16:creationId xmlns:a16="http://schemas.microsoft.com/office/drawing/2014/main" id="{D35C7B07-B783-9D94-692A-7F76FF035BB0}"/>
              </a:ext>
            </a:extLst>
          </p:cNvPr>
          <p:cNvSpPr txBox="1"/>
          <p:nvPr/>
        </p:nvSpPr>
        <p:spPr>
          <a:xfrm>
            <a:off x="50800" y="6350000"/>
            <a:ext cx="533400" cy="228600"/>
          </a:xfrm>
          <a:prstGeom prst="rect">
            <a:avLst/>
          </a:prstGeom>
          <a:ln>
            <a:noFill/>
          </a:ln>
        </p:spPr>
        <p:txBody>
          <a:bodyPr wrap="square" rtlCol="1" anchor="ctr" anchorCtr="0">
            <a:normAutofit fontScale="92500"/>
          </a:bodyPr>
          <a:lstStyle>
            <a:lvl1pPr marL="0" indent="0">
              <a:defRPr sz="1100">
                <a:latin typeface="+mn-lt"/>
                <a:ea typeface="+mn-ea"/>
                <a:cs typeface="+mn-cs"/>
              </a:defRPr>
            </a:lvl1pPr>
            <a:lvl2pPr marL="457200" indent="0">
              <a:defRPr sz="1100">
                <a:latin typeface="+mn-lt"/>
                <a:ea typeface="+mn-ea"/>
                <a:cs typeface="+mn-cs"/>
              </a:defRPr>
            </a:lvl2pPr>
            <a:lvl3pPr marL="914400" indent="0">
              <a:defRPr sz="1100">
                <a:latin typeface="+mn-lt"/>
                <a:ea typeface="+mn-ea"/>
                <a:cs typeface="+mn-cs"/>
              </a:defRPr>
            </a:lvl3pPr>
            <a:lvl4pPr marL="1371600" indent="0">
              <a:defRPr sz="1100">
                <a:latin typeface="+mn-lt"/>
                <a:ea typeface="+mn-ea"/>
                <a:cs typeface="+mn-cs"/>
              </a:defRPr>
            </a:lvl4pPr>
            <a:lvl5pPr marL="1828800" indent="0">
              <a:defRPr sz="1100">
                <a:latin typeface="+mn-lt"/>
                <a:ea typeface="+mn-ea"/>
                <a:cs typeface="+mn-cs"/>
              </a:defRPr>
            </a:lvl5pPr>
            <a:lvl6pPr marL="2286000" indent="0">
              <a:defRPr sz="1100">
                <a:latin typeface="+mn-lt"/>
                <a:ea typeface="+mn-ea"/>
                <a:cs typeface="+mn-cs"/>
              </a:defRPr>
            </a:lvl6pPr>
            <a:lvl7pPr marL="2743200" indent="0">
              <a:defRPr sz="1100">
                <a:latin typeface="+mn-lt"/>
                <a:ea typeface="+mn-ea"/>
                <a:cs typeface="+mn-cs"/>
              </a:defRPr>
            </a:lvl7pPr>
            <a:lvl8pPr marL="3200400" indent="0">
              <a:defRPr sz="1100">
                <a:latin typeface="+mn-lt"/>
                <a:ea typeface="+mn-ea"/>
                <a:cs typeface="+mn-cs"/>
              </a:defRPr>
            </a:lvl8pPr>
            <a:lvl9pPr marL="3657600" indent="0">
              <a:defRPr sz="1100">
                <a:latin typeface="+mn-lt"/>
                <a:ea typeface="+mn-ea"/>
                <a:cs typeface="+mn-cs"/>
              </a:defRPr>
            </a:lvl9pPr>
          </a:lstStyle>
          <a:p>
            <a:r>
              <a:rPr lang="he-IL" sz="1000" kern="12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36.14%</a:t>
            </a:r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80A8097-2025-4BF2-983F-5380F3F39050}"/>
              </a:ext>
            </a:extLst>
          </p:cNvPr>
          <p:cNvSpPr txBox="1"/>
          <p:nvPr/>
        </p:nvSpPr>
        <p:spPr>
          <a:xfrm>
            <a:off x="838199" y="5451475"/>
            <a:ext cx="4921250" cy="914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40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Young Adults generate the highest total revenue, but promotion exposure is nearly identical across age groups. The revenue gap mainly reflects differences in group size within the dataset.</a:t>
            </a:r>
            <a:endParaRPr lang="he-IL" sz="140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תיבת טקסט 3">
            <a:extLst>
              <a:ext uri="{FF2B5EF4-FFF2-40B4-BE49-F238E27FC236}">
                <a16:creationId xmlns:a16="http://schemas.microsoft.com/office/drawing/2014/main" id="{9F0FB95B-4CA5-4169-B8E0-4A89AE04EB37}"/>
              </a:ext>
            </a:extLst>
          </p:cNvPr>
          <p:cNvSpPr txBox="1"/>
          <p:nvPr/>
        </p:nvSpPr>
        <p:spPr>
          <a:xfrm>
            <a:off x="6553199" y="5451475"/>
            <a:ext cx="4800600" cy="914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/>
            <a:r>
              <a:rPr lang="en-US" sz="140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Male customers show 63.24% combined exposure, while female customers show none.</a:t>
            </a:r>
            <a:endParaRPr lang="he-IL" sz="140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BP_STYLE_S11_DIVIDER">
            <a:extLst>
              <a:ext uri="{FF2B5EF4-FFF2-40B4-BE49-F238E27FC236}">
                <a16:creationId xmlns:a16="http://schemas.microsoft.com/office/drawing/2014/main" id="{D209D74C-9C34-420C-A1E6-E5855FE61EA0}"/>
              </a:ext>
            </a:extLst>
          </p:cNvPr>
          <p:cNvSpPr/>
          <p:nvPr/>
        </p:nvSpPr>
        <p:spPr>
          <a:xfrm>
            <a:off x="6118225" y="1473200"/>
            <a:ext cx="12700" cy="3581400"/>
          </a:xfrm>
          <a:prstGeom prst="rect">
            <a:avLst/>
          </a:prstGeom>
          <a:solidFill>
            <a:srgbClr val="C9D0D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" name="BP_STYLE_S11_FOOTER_RULE">
            <a:extLst>
              <a:ext uri="{FF2B5EF4-FFF2-40B4-BE49-F238E27FC236}">
                <a16:creationId xmlns:a16="http://schemas.microsoft.com/office/drawing/2014/main" id="{649EE82D-0FCD-48CF-9EC3-E49C504FDFF1}"/>
              </a:ext>
            </a:extLst>
          </p:cNvPr>
          <p:cNvSpPr/>
          <p:nvPr/>
        </p:nvSpPr>
        <p:spPr>
          <a:xfrm>
            <a:off x="612775" y="5438775"/>
            <a:ext cx="10972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" name="BP_STYLE_S11_FOOTER_DIVIDER">
            <a:extLst>
              <a:ext uri="{FF2B5EF4-FFF2-40B4-BE49-F238E27FC236}">
                <a16:creationId xmlns:a16="http://schemas.microsoft.com/office/drawing/2014/main" id="{F0C12078-43EC-492F-B230-EB3ADE5C4D57}"/>
              </a:ext>
            </a:extLst>
          </p:cNvPr>
          <p:cNvSpPr/>
          <p:nvPr/>
        </p:nvSpPr>
        <p:spPr>
          <a:xfrm>
            <a:off x="6105525" y="5529263"/>
            <a:ext cx="12700" cy="756000"/>
          </a:xfrm>
          <a:prstGeom prst="rect">
            <a:avLst/>
          </a:prstGeom>
          <a:solidFill>
            <a:srgbClr val="C9D0D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כותרת 1">
            <a:extLst>
              <a:ext uri="{FF2B5EF4-FFF2-40B4-BE49-F238E27FC236}">
                <a16:creationId xmlns:a16="http://schemas.microsoft.com/office/drawing/2014/main" id="{10FF8A70-3ADE-425C-FD9F-12F69BD2E7DB}"/>
              </a:ext>
            </a:extLst>
          </p:cNvPr>
          <p:cNvSpPr txBox="1">
            <a:spLocks/>
          </p:cNvSpPr>
          <p:nvPr/>
        </p:nvSpPr>
        <p:spPr>
          <a:xfrm>
            <a:off x="609600" y="1345407"/>
            <a:ext cx="5257800" cy="431800"/>
          </a:xfrm>
          <a:prstGeom prst="rect">
            <a:avLst/>
          </a:prstGeom>
        </p:spPr>
        <p:txBody>
          <a:bodyPr vert="horz" wrap="square" lIns="91440" tIns="45720" rIns="91440" bIns="45720" rtlCol="1" anchor="ctr" anchorCtr="0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Promotion Exposure Rate by Age Group</a:t>
            </a:r>
          </a:p>
        </p:txBody>
      </p:sp>
      <p:sp>
        <p:nvSpPr>
          <p:cNvPr id="13" name="כותרת 1">
            <a:extLst>
              <a:ext uri="{FF2B5EF4-FFF2-40B4-BE49-F238E27FC236}">
                <a16:creationId xmlns:a16="http://schemas.microsoft.com/office/drawing/2014/main" id="{DD62FFDA-0EE9-37DE-33ED-48EAA810A3A5}"/>
              </a:ext>
            </a:extLst>
          </p:cNvPr>
          <p:cNvSpPr txBox="1">
            <a:spLocks/>
          </p:cNvSpPr>
          <p:nvPr/>
        </p:nvSpPr>
        <p:spPr>
          <a:xfrm>
            <a:off x="6324600" y="1364060"/>
            <a:ext cx="5257800" cy="431800"/>
          </a:xfrm>
          <a:prstGeom prst="rect">
            <a:avLst/>
          </a:prstGeom>
        </p:spPr>
        <p:txBody>
          <a:bodyPr vert="horz" wrap="square" lIns="91440" tIns="45720" rIns="91440" bIns="45720" rtlCol="1" anchor="ctr" anchorCtr="0">
            <a:normAutofit/>
          </a:bodyPr>
          <a:lstStyle>
            <a:lvl1pPr algn="r" defTabSz="914400" rtl="1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1800" b="1" dirty="0">
                <a:solidFill>
                  <a:srgbClr val="0B1F3A"/>
                </a:solidFill>
              </a:rPr>
              <a:t>Promotion Exposure Rate by Gender</a:t>
            </a:r>
          </a:p>
        </p:txBody>
      </p:sp>
    </p:spTree>
    <p:extLst>
      <p:ext uri="{BB962C8B-B14F-4D97-AF65-F5344CB8AC3E}">
        <p14:creationId xmlns:p14="http://schemas.microsoft.com/office/powerpoint/2010/main" val="9541131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217507-6991-669F-1486-2CF298AE56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P_STYLE_S12_FOOTER">
            <a:extLst>
              <a:ext uri="{FF2B5EF4-FFF2-40B4-BE49-F238E27FC236}">
                <a16:creationId xmlns:a16="http://schemas.microsoft.com/office/drawing/2014/main" id="{07BB270A-268A-4D13-BCEF-921F3A17B01F}"/>
              </a:ext>
            </a:extLst>
          </p:cNvPr>
          <p:cNvSpPr/>
          <p:nvPr/>
        </p:nvSpPr>
        <p:spPr>
          <a:xfrm>
            <a:off x="609600" y="5480050"/>
            <a:ext cx="10972800" cy="97155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9" name="כותרת 8">
            <a:extLst>
              <a:ext uri="{FF2B5EF4-FFF2-40B4-BE49-F238E27FC236}">
                <a16:creationId xmlns:a16="http://schemas.microsoft.com/office/drawing/2014/main" id="{590CCE1C-EE49-C1DB-879F-701D4FB181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498475"/>
            <a:ext cx="10515600" cy="63500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Promotion Exposure by Subscription Status</a:t>
            </a:r>
          </a:p>
        </p:txBody>
      </p:sp>
      <p:graphicFrame>
        <p:nvGraphicFramePr>
          <p:cNvPr id="12" name="תרשים 11">
            <a:extLst>
              <a:ext uri="{FF2B5EF4-FFF2-40B4-BE49-F238E27FC236}">
                <a16:creationId xmlns:a16="http://schemas.microsoft.com/office/drawing/2014/main" id="{776EFBE2-EEEC-9527-561F-56DC9772B1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56726405"/>
              </p:ext>
            </p:extLst>
          </p:nvPr>
        </p:nvGraphicFramePr>
        <p:xfrm>
          <a:off x="2676525" y="1377950"/>
          <a:ext cx="6858000" cy="3937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4" name="תיבת טקסט 13">
            <a:extLst>
              <a:ext uri="{FF2B5EF4-FFF2-40B4-BE49-F238E27FC236}">
                <a16:creationId xmlns:a16="http://schemas.microsoft.com/office/drawing/2014/main" id="{08F97253-EC6F-7352-AE79-E8B2E89E6600}"/>
              </a:ext>
            </a:extLst>
          </p:cNvPr>
          <p:cNvSpPr txBox="1"/>
          <p:nvPr/>
        </p:nvSpPr>
        <p:spPr>
          <a:xfrm>
            <a:off x="1066800" y="5572125"/>
            <a:ext cx="10058400" cy="787400"/>
          </a:xfrm>
          <a:prstGeom prst="rect">
            <a:avLst/>
          </a:prstGeom>
          <a:noFill/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1400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Subscription status is strongly associated with the combined indicator: 78% of subscribers used promo code/discount, compared with 0% of non-subscribers. Promo-code use and discounts can not be isolated.</a:t>
            </a:r>
          </a:p>
        </p:txBody>
      </p:sp>
      <p:sp>
        <p:nvSpPr>
          <p:cNvPr id="4" name="BP_STYLE_S12_FOOTER_RULE">
            <a:extLst>
              <a:ext uri="{FF2B5EF4-FFF2-40B4-BE49-F238E27FC236}">
                <a16:creationId xmlns:a16="http://schemas.microsoft.com/office/drawing/2014/main" id="{B522B73D-95F8-4438-9508-E2B47819C18F}"/>
              </a:ext>
            </a:extLst>
          </p:cNvPr>
          <p:cNvSpPr/>
          <p:nvPr/>
        </p:nvSpPr>
        <p:spPr>
          <a:xfrm>
            <a:off x="619125" y="5467350"/>
            <a:ext cx="10972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252864553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P_STYLE_S13_INSIGHT">
            <a:extLst>
              <a:ext uri="{FF2B5EF4-FFF2-40B4-BE49-F238E27FC236}">
                <a16:creationId xmlns:a16="http://schemas.microsoft.com/office/drawing/2014/main" id="{1986A263-8833-4448-8AC9-71D4512B5AEC}"/>
              </a:ext>
            </a:extLst>
          </p:cNvPr>
          <p:cNvSpPr/>
          <p:nvPr/>
        </p:nvSpPr>
        <p:spPr>
          <a:xfrm>
            <a:off x="8524875" y="2365375"/>
            <a:ext cx="3352800" cy="257810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0E6A0990-BE3E-6C5D-F300-A0C0DC76CC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609600"/>
            <a:ext cx="10515600" cy="63500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When Are Customers More Exposed to Promotions? A Seasonal View</a:t>
            </a:r>
          </a:p>
        </p:txBody>
      </p:sp>
      <p:graphicFrame>
        <p:nvGraphicFramePr>
          <p:cNvPr id="13" name="מציין מיקום תוכן 12">
            <a:extLst>
              <a:ext uri="{FF2B5EF4-FFF2-40B4-BE49-F238E27FC236}">
                <a16:creationId xmlns:a16="http://schemas.microsoft.com/office/drawing/2014/main" id="{03725A93-86FE-BDE5-09DB-C01BDBF8D32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91259984"/>
              </p:ext>
            </p:extLst>
          </p:nvPr>
        </p:nvGraphicFramePr>
        <p:xfrm>
          <a:off x="885825" y="1670050"/>
          <a:ext cx="7277100" cy="4191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5" name="תיבת טקסט 14">
            <a:extLst>
              <a:ext uri="{FF2B5EF4-FFF2-40B4-BE49-F238E27FC236}">
                <a16:creationId xmlns:a16="http://schemas.microsoft.com/office/drawing/2014/main" id="{004FDA16-587C-BD75-D7BF-EEC8AF041F7A}"/>
              </a:ext>
            </a:extLst>
          </p:cNvPr>
          <p:cNvSpPr txBox="1"/>
          <p:nvPr/>
        </p:nvSpPr>
        <p:spPr>
          <a:xfrm>
            <a:off x="8829675" y="2847975"/>
            <a:ext cx="2743200" cy="1952625"/>
          </a:xfrm>
          <a:prstGeom prst="rect">
            <a:avLst/>
          </a:prstGeom>
          <a:noFill/>
        </p:spPr>
        <p:txBody>
          <a:bodyPr wrap="square" anchor="ctr" anchorCtr="0">
            <a:normAutofit/>
          </a:bodyPr>
          <a:lstStyle/>
          <a:p>
            <a:pPr algn="l"/>
            <a:r>
              <a:rPr lang="en-US" sz="160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Fall has the highest average purchase value despite the lowest combined promotion exposure, suggesting stronger seasonal demand may reduce reliance on promotional incentives.</a:t>
            </a:r>
            <a:endParaRPr lang="he-IL" sz="160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4" name="BP_STYLE_S13_INSIGHT_RULE">
            <a:extLst>
              <a:ext uri="{FF2B5EF4-FFF2-40B4-BE49-F238E27FC236}">
                <a16:creationId xmlns:a16="http://schemas.microsoft.com/office/drawing/2014/main" id="{B88C6FC6-DC7D-49AB-A254-B0FDCB30F9D6}"/>
              </a:ext>
            </a:extLst>
          </p:cNvPr>
          <p:cNvSpPr/>
          <p:nvPr/>
        </p:nvSpPr>
        <p:spPr>
          <a:xfrm>
            <a:off x="8524875" y="2365375"/>
            <a:ext cx="3352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5" name="BP_STYLE_S13_LABEL">
            <a:extLst>
              <a:ext uri="{FF2B5EF4-FFF2-40B4-BE49-F238E27FC236}">
                <a16:creationId xmlns:a16="http://schemas.microsoft.com/office/drawing/2014/main" id="{EB59566B-35B1-4A12-BAC9-7327FAE0CB2C}"/>
              </a:ext>
            </a:extLst>
          </p:cNvPr>
          <p:cNvSpPr txBox="1"/>
          <p:nvPr/>
        </p:nvSpPr>
        <p:spPr>
          <a:xfrm>
            <a:off x="8829675" y="2568575"/>
            <a:ext cx="2743200" cy="2794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 lnSpcReduction="10000"/>
          </a:bodyPr>
          <a:lstStyle/>
          <a:p>
            <a:pPr algn="l"/>
            <a:r>
              <a:rPr lang="en-US" sz="1300" b="1">
                <a:solidFill>
                  <a:srgbClr val="F26B2E"/>
                </a:solidFill>
              </a:rPr>
              <a:t>KEY FINDING</a:t>
            </a:r>
            <a:endParaRPr lang="he-IL" sz="1300" b="1">
              <a:solidFill>
                <a:srgbClr val="F26B2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490966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P_STYLE_S14_FOOTER">
            <a:extLst>
              <a:ext uri="{FF2B5EF4-FFF2-40B4-BE49-F238E27FC236}">
                <a16:creationId xmlns:a16="http://schemas.microsoft.com/office/drawing/2014/main" id="{5B62253A-9945-4097-BEB9-AF4BFCE0B626}"/>
              </a:ext>
            </a:extLst>
          </p:cNvPr>
          <p:cNvSpPr/>
          <p:nvPr/>
        </p:nvSpPr>
        <p:spPr>
          <a:xfrm>
            <a:off x="709612" y="5581650"/>
            <a:ext cx="10972800" cy="86995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101F2CF-D7CA-07C6-6DA5-F57458CFA1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52450"/>
            <a:ext cx="10515600" cy="63500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Which Product Categories Have Higher Promotion Exposure?</a:t>
            </a:r>
          </a:p>
        </p:txBody>
      </p:sp>
      <p:graphicFrame>
        <p:nvGraphicFramePr>
          <p:cNvPr id="8" name="מציין מיקום תוכן 7">
            <a:extLst>
              <a:ext uri="{FF2B5EF4-FFF2-40B4-BE49-F238E27FC236}">
                <a16:creationId xmlns:a16="http://schemas.microsoft.com/office/drawing/2014/main" id="{DFC24D7D-0510-6848-B9EA-E3DA2525CD9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80374285"/>
              </p:ext>
            </p:extLst>
          </p:nvPr>
        </p:nvGraphicFramePr>
        <p:xfrm>
          <a:off x="609600" y="1435100"/>
          <a:ext cx="10972800" cy="3987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5" name="תיבת טקסט 4">
            <a:extLst>
              <a:ext uri="{FF2B5EF4-FFF2-40B4-BE49-F238E27FC236}">
                <a16:creationId xmlns:a16="http://schemas.microsoft.com/office/drawing/2014/main" id="{C8EC6E35-ED6B-6395-3DA3-EA8BDC92CDB7}"/>
              </a:ext>
            </a:extLst>
          </p:cNvPr>
          <p:cNvSpPr txBox="1"/>
          <p:nvPr/>
        </p:nvSpPr>
        <p:spPr>
          <a:xfrm>
            <a:off x="1014412" y="5572125"/>
            <a:ext cx="10363200" cy="889000"/>
          </a:xfrm>
          <a:prstGeom prst="rect">
            <a:avLst/>
          </a:prstGeom>
          <a:noFill/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1400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The pattern differs by product category. In Footwear, promotion-exposed purchases have a higher average value. In Accessories and Outerwear, they have a lower average value.</a:t>
            </a:r>
          </a:p>
        </p:txBody>
      </p:sp>
      <p:sp>
        <p:nvSpPr>
          <p:cNvPr id="4" name="BP_STYLE_S14_FOOTER_RULE">
            <a:extLst>
              <a:ext uri="{FF2B5EF4-FFF2-40B4-BE49-F238E27FC236}">
                <a16:creationId xmlns:a16="http://schemas.microsoft.com/office/drawing/2014/main" id="{DC8DF6EC-EDC8-499B-A5B2-C384C5D0DBFC}"/>
              </a:ext>
            </a:extLst>
          </p:cNvPr>
          <p:cNvSpPr/>
          <p:nvPr/>
        </p:nvSpPr>
        <p:spPr>
          <a:xfrm>
            <a:off x="709612" y="5559425"/>
            <a:ext cx="10972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8804726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BP_STYLE_S15_INSIGHT">
            <a:extLst>
              <a:ext uri="{FF2B5EF4-FFF2-40B4-BE49-F238E27FC236}">
                <a16:creationId xmlns:a16="http://schemas.microsoft.com/office/drawing/2014/main" id="{A83FAC9E-F302-4F34-B1DB-A467B8788C11}"/>
              </a:ext>
            </a:extLst>
          </p:cNvPr>
          <p:cNvSpPr/>
          <p:nvPr/>
        </p:nvSpPr>
        <p:spPr>
          <a:xfrm>
            <a:off x="609600" y="4752182"/>
            <a:ext cx="10972800" cy="1534318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69AA40DB-CEF5-B736-A234-28DD7C2B1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71500"/>
            <a:ext cx="10515600" cy="635000"/>
          </a:xfrm>
        </p:spPr>
        <p:txBody>
          <a:bodyPr wrap="square" anchor="ctr" anchorCtr="0">
            <a:normAutofit/>
          </a:bodyPr>
          <a:lstStyle/>
          <a:p>
            <a:pPr algn="ctr"/>
            <a:r>
              <a:rPr lang="en-US" sz="28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How Does Promotion Exposure Vary by Product Category and Season?</a:t>
            </a:r>
          </a:p>
        </p:txBody>
      </p:sp>
      <p:sp>
        <p:nvSpPr>
          <p:cNvPr id="9" name="תיבת טקסט 8">
            <a:extLst>
              <a:ext uri="{FF2B5EF4-FFF2-40B4-BE49-F238E27FC236}">
                <a16:creationId xmlns:a16="http://schemas.microsoft.com/office/drawing/2014/main" id="{1696CE18-FD8B-1F10-B083-30118C409C4C}"/>
              </a:ext>
            </a:extLst>
          </p:cNvPr>
          <p:cNvSpPr txBox="1"/>
          <p:nvPr/>
        </p:nvSpPr>
        <p:spPr>
          <a:xfrm>
            <a:off x="904875" y="4815681"/>
            <a:ext cx="10058400" cy="1343026"/>
          </a:xfrm>
          <a:prstGeom prst="rect">
            <a:avLst/>
          </a:prstGeom>
          <a:noFill/>
        </p:spPr>
        <p:txBody>
          <a:bodyPr wrap="square" anchor="ctr" anchorCtr="0">
            <a:normAutofit/>
          </a:bodyPr>
          <a:lstStyle/>
          <a:p>
            <a:pPr lvl="0" algn="l" rtl="0">
              <a:spcAft>
                <a:spcPts val="600"/>
              </a:spcAft>
            </a:pPr>
            <a:r>
              <a:rPr lang="en-US" sz="1600" dirty="0">
                <a:solidFill>
                  <a:srgbClr val="0B1F3A"/>
                </a:solidFill>
              </a:rPr>
              <a:t>Exposure to a promo code and/or discount varies by category and season: </a:t>
            </a:r>
          </a:p>
          <a:p>
            <a:pPr lvl="0" algn="l" rtl="0"/>
            <a:r>
              <a:rPr lang="en-US" sz="16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Highest combined exposure: </a:t>
            </a:r>
            <a:r>
              <a:rPr lang="en-US" sz="1600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Footwear in Fall (49.3%) &amp; Outerwear in Winter (47.5%)</a:t>
            </a:r>
          </a:p>
          <a:p>
            <a:pPr lvl="0" algn="l" rtl="0">
              <a:spcAft>
                <a:spcPts val="600"/>
              </a:spcAft>
            </a:pPr>
            <a:r>
              <a:rPr lang="en-US" sz="1600" b="1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Lowest combined exposure: </a:t>
            </a:r>
            <a:r>
              <a:rPr lang="en-US" sz="1600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Clothing in Fall (35.6%)</a:t>
            </a:r>
          </a:p>
          <a:p>
            <a:pPr lvl="0" algn="l" rtl="0"/>
            <a:r>
              <a:rPr lang="en-US" sz="1600" noProof="0" dirty="0">
                <a:solidFill>
                  <a:srgbClr val="0B1F3A"/>
                </a:solidFill>
                <a:latin typeface="Calibri"/>
                <a:ea typeface="Calibri"/>
                <a:cs typeface="Calibri"/>
              </a:rPr>
              <a:t>Promotional activity should be targeted rather than distributed uniformly</a:t>
            </a:r>
            <a:r>
              <a:rPr lang="en-US" sz="1600" dirty="0">
                <a:solidFill>
                  <a:srgbClr val="0B1F3A"/>
                </a:solidFill>
              </a:rPr>
              <a:t> </a:t>
            </a:r>
            <a:endParaRPr lang="en-US" sz="1600" noProof="0" dirty="0">
              <a:solidFill>
                <a:srgbClr val="0B1F3A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5" name="BP_STYLE_S15_INSIGHT_RULE">
            <a:extLst>
              <a:ext uri="{FF2B5EF4-FFF2-40B4-BE49-F238E27FC236}">
                <a16:creationId xmlns:a16="http://schemas.microsoft.com/office/drawing/2014/main" id="{7B6006BE-1341-4A28-9F1D-F17CF1BE05BA}"/>
              </a:ext>
            </a:extLst>
          </p:cNvPr>
          <p:cNvSpPr/>
          <p:nvPr/>
        </p:nvSpPr>
        <p:spPr>
          <a:xfrm>
            <a:off x="609600" y="4739482"/>
            <a:ext cx="10972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graphicFrame>
        <p:nvGraphicFramePr>
          <p:cNvPr id="8" name="טבלה 7">
            <a:extLst>
              <a:ext uri="{FF2B5EF4-FFF2-40B4-BE49-F238E27FC236}">
                <a16:creationId xmlns:a16="http://schemas.microsoft.com/office/drawing/2014/main" id="{7E364257-E8FA-55CF-A1BB-21A84B22D2F9}"/>
              </a:ext>
            </a:extLst>
          </p:cNvPr>
          <p:cNvGraphicFramePr>
            <a:graphicFrameLocks noGrp="1"/>
          </p:cNvGraphicFramePr>
          <p:nvPr/>
        </p:nvGraphicFramePr>
        <p:xfrm>
          <a:off x="2728913" y="1677195"/>
          <a:ext cx="6410324" cy="2451100"/>
        </p:xfrm>
        <a:graphic>
          <a:graphicData uri="http://schemas.openxmlformats.org/drawingml/2006/table">
            <a:tbl>
              <a:tblPr rtl="1"/>
              <a:tblGrid>
                <a:gridCol w="1134943">
                  <a:extLst>
                    <a:ext uri="{9D8B030D-6E8A-4147-A177-3AD203B41FA5}">
                      <a16:colId xmlns:a16="http://schemas.microsoft.com/office/drawing/2014/main" val="3700099361"/>
                    </a:ext>
                  </a:extLst>
                </a:gridCol>
                <a:gridCol w="1134943">
                  <a:extLst>
                    <a:ext uri="{9D8B030D-6E8A-4147-A177-3AD203B41FA5}">
                      <a16:colId xmlns:a16="http://schemas.microsoft.com/office/drawing/2014/main" val="4091889809"/>
                    </a:ext>
                  </a:extLst>
                </a:gridCol>
                <a:gridCol w="1294880">
                  <a:extLst>
                    <a:ext uri="{9D8B030D-6E8A-4147-A177-3AD203B41FA5}">
                      <a16:colId xmlns:a16="http://schemas.microsoft.com/office/drawing/2014/main" val="4158820760"/>
                    </a:ext>
                  </a:extLst>
                </a:gridCol>
                <a:gridCol w="1219525">
                  <a:extLst>
                    <a:ext uri="{9D8B030D-6E8A-4147-A177-3AD203B41FA5}">
                      <a16:colId xmlns:a16="http://schemas.microsoft.com/office/drawing/2014/main" val="2550760109"/>
                    </a:ext>
                  </a:extLst>
                </a:gridCol>
                <a:gridCol w="1626033">
                  <a:extLst>
                    <a:ext uri="{9D8B030D-6E8A-4147-A177-3AD203B41FA5}">
                      <a16:colId xmlns:a16="http://schemas.microsoft.com/office/drawing/2014/main" val="1589392652"/>
                    </a:ext>
                  </a:extLst>
                </a:gridCol>
              </a:tblGrid>
              <a:tr h="4902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Winter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Fall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Summer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Spring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Category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60941641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43.6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A4D389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0D6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0D6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46.5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3C982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Accessories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4764355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42.6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B0D68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FFEF9C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93CE86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44.9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96CE86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Clothing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1131105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DE09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49.3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63BE7B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ECC84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38.7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DCE495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Footwear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5985984"/>
                  </a:ext>
                </a:extLst>
              </a:tr>
              <a:tr h="490220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47.5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78C580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8FCC85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A0D188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40.7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C5DD90"/>
                    </a:solidFill>
                  </a:tcPr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16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Outwear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dot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2883117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7147047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BP_SUMMARY_BANNER">
            <a:extLst>
              <a:ext uri="{FF2B5EF4-FFF2-40B4-BE49-F238E27FC236}">
                <a16:creationId xmlns:a16="http://schemas.microsoft.com/office/drawing/2014/main" id="{C1DEE1DC-8BA4-4D7D-BB01-4C140F7ECD75}"/>
              </a:ext>
            </a:extLst>
          </p:cNvPr>
          <p:cNvSpPr/>
          <p:nvPr/>
        </p:nvSpPr>
        <p:spPr>
          <a:xfrm>
            <a:off x="609600" y="1069975"/>
            <a:ext cx="10972800" cy="479425"/>
          </a:xfrm>
          <a:prstGeom prst="rect">
            <a:avLst/>
          </a:prstGeom>
          <a:solidFill>
            <a:srgbClr val="E9F0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 b="1" dirty="0"/>
          </a:p>
        </p:txBody>
      </p:sp>
      <p:sp>
        <p:nvSpPr>
          <p:cNvPr id="7" name="BP_SUMMARY_LEFT_PANEL">
            <a:extLst>
              <a:ext uri="{FF2B5EF4-FFF2-40B4-BE49-F238E27FC236}">
                <a16:creationId xmlns:a16="http://schemas.microsoft.com/office/drawing/2014/main" id="{6096FB4D-89B8-403E-999D-F6CF1804CE55}"/>
              </a:ext>
            </a:extLst>
          </p:cNvPr>
          <p:cNvSpPr/>
          <p:nvPr/>
        </p:nvSpPr>
        <p:spPr>
          <a:xfrm>
            <a:off x="609600" y="1784350"/>
            <a:ext cx="5257800" cy="3956050"/>
          </a:xfrm>
          <a:prstGeom prst="rect">
            <a:avLst/>
          </a:prstGeom>
          <a:solidFill>
            <a:srgbClr val="F1F4F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0" name="BP_SUMMARY_RIGHT_PANEL">
            <a:extLst>
              <a:ext uri="{FF2B5EF4-FFF2-40B4-BE49-F238E27FC236}">
                <a16:creationId xmlns:a16="http://schemas.microsoft.com/office/drawing/2014/main" id="{0BAA6D7F-57F5-4562-9E9A-8E9166563432}"/>
              </a:ext>
            </a:extLst>
          </p:cNvPr>
          <p:cNvSpPr/>
          <p:nvPr/>
        </p:nvSpPr>
        <p:spPr>
          <a:xfrm>
            <a:off x="6324600" y="1803399"/>
            <a:ext cx="5257800" cy="3940175"/>
          </a:xfrm>
          <a:prstGeom prst="rect">
            <a:avLst/>
          </a:prstGeom>
          <a:solidFill>
            <a:srgbClr val="E9F0F4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1" name="BP_SUMMARY_LEFT_RULE">
            <a:extLst>
              <a:ext uri="{FF2B5EF4-FFF2-40B4-BE49-F238E27FC236}">
                <a16:creationId xmlns:a16="http://schemas.microsoft.com/office/drawing/2014/main" id="{E01AFB66-B2D1-4523-847C-E06CA087D33F}"/>
              </a:ext>
            </a:extLst>
          </p:cNvPr>
          <p:cNvSpPr/>
          <p:nvPr/>
        </p:nvSpPr>
        <p:spPr>
          <a:xfrm>
            <a:off x="609600" y="1784350"/>
            <a:ext cx="5257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2" name="BP_SUMMARY_RIGHT_RULE">
            <a:extLst>
              <a:ext uri="{FF2B5EF4-FFF2-40B4-BE49-F238E27FC236}">
                <a16:creationId xmlns:a16="http://schemas.microsoft.com/office/drawing/2014/main" id="{6652E471-4AA9-4E04-BE02-781F82B1B292}"/>
              </a:ext>
            </a:extLst>
          </p:cNvPr>
          <p:cNvSpPr/>
          <p:nvPr/>
        </p:nvSpPr>
        <p:spPr>
          <a:xfrm>
            <a:off x="6324600" y="1784350"/>
            <a:ext cx="5257800" cy="127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3" name="BP_SUMMARY_DECISION">
            <a:extLst>
              <a:ext uri="{FF2B5EF4-FFF2-40B4-BE49-F238E27FC236}">
                <a16:creationId xmlns:a16="http://schemas.microsoft.com/office/drawing/2014/main" id="{F81FD92A-F96A-48A7-A830-AEAC8EE114F9}"/>
              </a:ext>
            </a:extLst>
          </p:cNvPr>
          <p:cNvSpPr/>
          <p:nvPr/>
        </p:nvSpPr>
        <p:spPr>
          <a:xfrm>
            <a:off x="609600" y="5943600"/>
            <a:ext cx="10972800" cy="685800"/>
          </a:xfrm>
          <a:prstGeom prst="rect">
            <a:avLst/>
          </a:prstGeom>
          <a:solidFill>
            <a:srgbClr val="0B1F3A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t"/>
          <a:lstStyle/>
          <a:p>
            <a:pPr algn="l"/>
            <a:endParaRPr lang="he-IL"/>
          </a:p>
        </p:txBody>
      </p:sp>
      <p:sp>
        <p:nvSpPr>
          <p:cNvPr id="14" name="BP_SUMMARY_TITLE">
            <a:extLst>
              <a:ext uri="{FF2B5EF4-FFF2-40B4-BE49-F238E27FC236}">
                <a16:creationId xmlns:a16="http://schemas.microsoft.com/office/drawing/2014/main" id="{83830E4F-138F-4094-A9FF-B827B6E95A7A}"/>
              </a:ext>
            </a:extLst>
          </p:cNvPr>
          <p:cNvSpPr txBox="1"/>
          <p:nvPr/>
        </p:nvSpPr>
        <p:spPr>
          <a:xfrm>
            <a:off x="762000" y="330200"/>
            <a:ext cx="10668000" cy="6096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/>
            <a:r>
              <a:rPr lang="en-US" sz="2800" b="1" dirty="0">
                <a:solidFill>
                  <a:srgbClr val="0B1F3A"/>
                </a:solidFill>
              </a:rPr>
              <a:t>Key Insights and Recommendations for Promotion Strategy</a:t>
            </a:r>
          </a:p>
        </p:txBody>
      </p:sp>
      <p:sp>
        <p:nvSpPr>
          <p:cNvPr id="16" name="BP_SUMMARY_BANNER_TEXT">
            <a:extLst>
              <a:ext uri="{FF2B5EF4-FFF2-40B4-BE49-F238E27FC236}">
                <a16:creationId xmlns:a16="http://schemas.microsoft.com/office/drawing/2014/main" id="{982491EF-D91A-43F9-BC3C-9A54A638DD4C}"/>
              </a:ext>
            </a:extLst>
          </p:cNvPr>
          <p:cNvSpPr txBox="1"/>
          <p:nvPr/>
        </p:nvSpPr>
        <p:spPr>
          <a:xfrm>
            <a:off x="2260600" y="1073149"/>
            <a:ext cx="8813800" cy="45720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2000" dirty="0">
                <a:solidFill>
                  <a:srgbClr val="0B1F3A"/>
                </a:solidFill>
              </a:rPr>
              <a:t>Promotions Are Widely Used, but Their Incremental Value Is Unclear</a:t>
            </a:r>
            <a:endParaRPr lang="he-IL" sz="2000" dirty="0">
              <a:solidFill>
                <a:srgbClr val="0B1F3A"/>
              </a:solidFill>
            </a:endParaRPr>
          </a:p>
        </p:txBody>
      </p:sp>
      <p:sp>
        <p:nvSpPr>
          <p:cNvPr id="17" name="BP_SUMMARY_LEFT_TITLE">
            <a:extLst>
              <a:ext uri="{FF2B5EF4-FFF2-40B4-BE49-F238E27FC236}">
                <a16:creationId xmlns:a16="http://schemas.microsoft.com/office/drawing/2014/main" id="{07FC4951-482F-4152-8574-D00570605106}"/>
              </a:ext>
            </a:extLst>
          </p:cNvPr>
          <p:cNvSpPr txBox="1"/>
          <p:nvPr/>
        </p:nvSpPr>
        <p:spPr>
          <a:xfrm>
            <a:off x="762000" y="1889125"/>
            <a:ext cx="4445000" cy="38735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600" b="1" dirty="0">
                <a:solidFill>
                  <a:srgbClr val="F26B2E"/>
                </a:solidFill>
              </a:rPr>
              <a:t>Outcome Summery</a:t>
            </a:r>
            <a:endParaRPr lang="he-IL" sz="1600" b="1" dirty="0">
              <a:solidFill>
                <a:srgbClr val="F26B2E"/>
              </a:solidFill>
            </a:endParaRPr>
          </a:p>
        </p:txBody>
      </p:sp>
      <p:sp>
        <p:nvSpPr>
          <p:cNvPr id="18" name="BP_SUMMARY_RIGHT_TITLE">
            <a:extLst>
              <a:ext uri="{FF2B5EF4-FFF2-40B4-BE49-F238E27FC236}">
                <a16:creationId xmlns:a16="http://schemas.microsoft.com/office/drawing/2014/main" id="{F92E3F29-1672-4E4C-B242-ACF0729BD358}"/>
              </a:ext>
            </a:extLst>
          </p:cNvPr>
          <p:cNvSpPr txBox="1"/>
          <p:nvPr/>
        </p:nvSpPr>
        <p:spPr>
          <a:xfrm>
            <a:off x="6629400" y="1911352"/>
            <a:ext cx="4445000" cy="346074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l"/>
            <a:r>
              <a:rPr lang="en-US" sz="1600" b="1" dirty="0">
                <a:solidFill>
                  <a:srgbClr val="F26B2E"/>
                </a:solidFill>
              </a:rPr>
              <a:t>Recommendations For Business Owners</a:t>
            </a:r>
            <a:endParaRPr lang="he-IL" sz="1600" b="1" dirty="0">
              <a:solidFill>
                <a:srgbClr val="F26B2E"/>
              </a:solidFill>
            </a:endParaRPr>
          </a:p>
        </p:txBody>
      </p:sp>
      <p:sp>
        <p:nvSpPr>
          <p:cNvPr id="19" name="BP_FINDING_1_NUMBER">
            <a:extLst>
              <a:ext uri="{FF2B5EF4-FFF2-40B4-BE49-F238E27FC236}">
                <a16:creationId xmlns:a16="http://schemas.microsoft.com/office/drawing/2014/main" id="{50171F8E-39BB-4D4A-9390-252DE13995F7}"/>
              </a:ext>
            </a:extLst>
          </p:cNvPr>
          <p:cNvSpPr/>
          <p:nvPr/>
        </p:nvSpPr>
        <p:spPr>
          <a:xfrm>
            <a:off x="914400" y="2479679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0" name="BP_FINDING_1_TEXT">
            <a:extLst>
              <a:ext uri="{FF2B5EF4-FFF2-40B4-BE49-F238E27FC236}">
                <a16:creationId xmlns:a16="http://schemas.microsoft.com/office/drawing/2014/main" id="{F8E84154-C241-466A-8177-CE92833B3143}"/>
              </a:ext>
            </a:extLst>
          </p:cNvPr>
          <p:cNvSpPr txBox="1"/>
          <p:nvPr/>
        </p:nvSpPr>
        <p:spPr>
          <a:xfrm>
            <a:off x="1371600" y="2365379"/>
            <a:ext cx="421005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Promo codes and discounts always appear together, so their individual effects cannot be separated.</a:t>
            </a:r>
            <a:endParaRPr lang="he-IL" sz="1500" dirty="0">
              <a:solidFill>
                <a:srgbClr val="0B1F3A"/>
              </a:solidFill>
            </a:endParaRPr>
          </a:p>
        </p:txBody>
      </p:sp>
      <p:sp>
        <p:nvSpPr>
          <p:cNvPr id="21" name="BP_FINDING_2_NUMBER">
            <a:extLst>
              <a:ext uri="{FF2B5EF4-FFF2-40B4-BE49-F238E27FC236}">
                <a16:creationId xmlns:a16="http://schemas.microsoft.com/office/drawing/2014/main" id="{0834FFE7-D005-4BC2-9687-0ABB2ED18C41}"/>
              </a:ext>
            </a:extLst>
          </p:cNvPr>
          <p:cNvSpPr/>
          <p:nvPr/>
        </p:nvSpPr>
        <p:spPr>
          <a:xfrm>
            <a:off x="914400" y="3148547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22" name="BP_FINDING_2_TEXT">
            <a:extLst>
              <a:ext uri="{FF2B5EF4-FFF2-40B4-BE49-F238E27FC236}">
                <a16:creationId xmlns:a16="http://schemas.microsoft.com/office/drawing/2014/main" id="{A0ED2653-A08E-4492-8A9D-AB6AC0112DAF}"/>
              </a:ext>
            </a:extLst>
          </p:cNvPr>
          <p:cNvSpPr txBox="1"/>
          <p:nvPr/>
        </p:nvSpPr>
        <p:spPr>
          <a:xfrm>
            <a:off x="1371600" y="3053294"/>
            <a:ext cx="4038600" cy="75565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43% of transactions are exposed to promo code/discount, but average purchase value is slightly lower ($59.28 vs. $60.13).</a:t>
            </a:r>
            <a:endParaRPr lang="he-IL" sz="1500" dirty="0">
              <a:solidFill>
                <a:srgbClr val="0B1F3A"/>
              </a:solidFill>
            </a:endParaRPr>
          </a:p>
        </p:txBody>
      </p:sp>
      <p:sp>
        <p:nvSpPr>
          <p:cNvPr id="23" name="BP_FINDING_3_NUMBER">
            <a:extLst>
              <a:ext uri="{FF2B5EF4-FFF2-40B4-BE49-F238E27FC236}">
                <a16:creationId xmlns:a16="http://schemas.microsoft.com/office/drawing/2014/main" id="{313AADD9-6F63-4454-AE86-F931C669F907}"/>
              </a:ext>
            </a:extLst>
          </p:cNvPr>
          <p:cNvSpPr/>
          <p:nvPr/>
        </p:nvSpPr>
        <p:spPr>
          <a:xfrm>
            <a:off x="914400" y="3965575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4" name="BP_FINDING_3_TEXT">
            <a:extLst>
              <a:ext uri="{FF2B5EF4-FFF2-40B4-BE49-F238E27FC236}">
                <a16:creationId xmlns:a16="http://schemas.microsoft.com/office/drawing/2014/main" id="{0EE7ABC2-67F8-4CD7-8C34-30A2745D5E97}"/>
              </a:ext>
            </a:extLst>
          </p:cNvPr>
          <p:cNvSpPr txBox="1"/>
          <p:nvPr/>
        </p:nvSpPr>
        <p:spPr>
          <a:xfrm>
            <a:off x="1371600" y="3868209"/>
            <a:ext cx="4038600" cy="6985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Promo code/discount is concentrated among subscribers and male customers, suggesting targeting or data-rule effects.</a:t>
            </a:r>
            <a:endParaRPr lang="he-IL" sz="1500" dirty="0">
              <a:solidFill>
                <a:srgbClr val="0B1F3A"/>
              </a:solidFill>
            </a:endParaRPr>
          </a:p>
        </p:txBody>
      </p:sp>
      <p:sp>
        <p:nvSpPr>
          <p:cNvPr id="25" name="BP_FINDING_4_NUMBER">
            <a:extLst>
              <a:ext uri="{FF2B5EF4-FFF2-40B4-BE49-F238E27FC236}">
                <a16:creationId xmlns:a16="http://schemas.microsoft.com/office/drawing/2014/main" id="{D68A6669-20F1-4D82-9044-54978FA129C2}"/>
              </a:ext>
            </a:extLst>
          </p:cNvPr>
          <p:cNvSpPr/>
          <p:nvPr/>
        </p:nvSpPr>
        <p:spPr>
          <a:xfrm>
            <a:off x="914400" y="4778375"/>
            <a:ext cx="304800" cy="304800"/>
          </a:xfrm>
          <a:prstGeom prst="rect">
            <a:avLst/>
          </a:prstGeom>
          <a:solidFill>
            <a:srgbClr val="1C6787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6" name="BP_FINDING_4_TEXT">
            <a:extLst>
              <a:ext uri="{FF2B5EF4-FFF2-40B4-BE49-F238E27FC236}">
                <a16:creationId xmlns:a16="http://schemas.microsoft.com/office/drawing/2014/main" id="{DF92131A-3126-43EF-93CF-83F841155AFD}"/>
              </a:ext>
            </a:extLst>
          </p:cNvPr>
          <p:cNvSpPr txBox="1"/>
          <p:nvPr/>
        </p:nvSpPr>
        <p:spPr>
          <a:xfrm>
            <a:off x="1371600" y="4664075"/>
            <a:ext cx="403860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Results vary by category and season; only Footwear shows a clear positive purchase-value difference.</a:t>
            </a:r>
            <a:endParaRPr lang="he-IL" sz="1500" dirty="0">
              <a:solidFill>
                <a:srgbClr val="0B1F3A"/>
              </a:solidFill>
            </a:endParaRPr>
          </a:p>
        </p:txBody>
      </p:sp>
      <p:sp>
        <p:nvSpPr>
          <p:cNvPr id="27" name="BP_REC_1_NUMBER">
            <a:extLst>
              <a:ext uri="{FF2B5EF4-FFF2-40B4-BE49-F238E27FC236}">
                <a16:creationId xmlns:a16="http://schemas.microsoft.com/office/drawing/2014/main" id="{071E802C-9E9F-4956-BBAE-0FEEEFCBE365}"/>
              </a:ext>
            </a:extLst>
          </p:cNvPr>
          <p:cNvSpPr/>
          <p:nvPr/>
        </p:nvSpPr>
        <p:spPr>
          <a:xfrm>
            <a:off x="6657975" y="2479679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28" name="BP_REC_1_TEXT">
            <a:extLst>
              <a:ext uri="{FF2B5EF4-FFF2-40B4-BE49-F238E27FC236}">
                <a16:creationId xmlns:a16="http://schemas.microsoft.com/office/drawing/2014/main" id="{BE01C5F5-AEE2-418B-96E5-67F66DBCC348}"/>
              </a:ext>
            </a:extLst>
          </p:cNvPr>
          <p:cNvSpPr txBox="1"/>
          <p:nvPr/>
        </p:nvSpPr>
        <p:spPr>
          <a:xfrm>
            <a:off x="7086600" y="2365379"/>
            <a:ext cx="419100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Check why promo codes and discounts always appear together and confirm whether this reflects the business process or a data-quality issue.</a:t>
            </a:r>
          </a:p>
        </p:txBody>
      </p:sp>
      <p:sp>
        <p:nvSpPr>
          <p:cNvPr id="29" name="BP_REC_2_NUMBER">
            <a:extLst>
              <a:ext uri="{FF2B5EF4-FFF2-40B4-BE49-F238E27FC236}">
                <a16:creationId xmlns:a16="http://schemas.microsoft.com/office/drawing/2014/main" id="{AF944CAC-7792-4F5D-AE46-90055F98D5F6}"/>
              </a:ext>
            </a:extLst>
          </p:cNvPr>
          <p:cNvSpPr/>
          <p:nvPr/>
        </p:nvSpPr>
        <p:spPr>
          <a:xfrm>
            <a:off x="6657975" y="3245911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30" name="BP_REC_2_TEXT">
            <a:extLst>
              <a:ext uri="{FF2B5EF4-FFF2-40B4-BE49-F238E27FC236}">
                <a16:creationId xmlns:a16="http://schemas.microsoft.com/office/drawing/2014/main" id="{3659FB89-BC23-4BA8-BE05-1D876FA8A364}"/>
              </a:ext>
            </a:extLst>
          </p:cNvPr>
          <p:cNvSpPr txBox="1"/>
          <p:nvPr/>
        </p:nvSpPr>
        <p:spPr>
          <a:xfrm>
            <a:off x="7086600" y="4664075"/>
            <a:ext cx="403860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Test promotions on a small group first, then compare sales and profit with customers who did not receive the promotion (A/B Test).</a:t>
            </a:r>
            <a:endParaRPr lang="he-IL" sz="1500" dirty="0">
              <a:solidFill>
                <a:srgbClr val="0B1F3A"/>
              </a:solidFill>
            </a:endParaRPr>
          </a:p>
        </p:txBody>
      </p:sp>
      <p:sp>
        <p:nvSpPr>
          <p:cNvPr id="31" name="BP_REC_3_NUMBER">
            <a:extLst>
              <a:ext uri="{FF2B5EF4-FFF2-40B4-BE49-F238E27FC236}">
                <a16:creationId xmlns:a16="http://schemas.microsoft.com/office/drawing/2014/main" id="{25E52989-83A8-4CCA-B20D-28B94C74544C}"/>
              </a:ext>
            </a:extLst>
          </p:cNvPr>
          <p:cNvSpPr/>
          <p:nvPr/>
        </p:nvSpPr>
        <p:spPr>
          <a:xfrm>
            <a:off x="6657975" y="4059768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 dirty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32" name="BP_REC_3_TEXT">
            <a:extLst>
              <a:ext uri="{FF2B5EF4-FFF2-40B4-BE49-F238E27FC236}">
                <a16:creationId xmlns:a16="http://schemas.microsoft.com/office/drawing/2014/main" id="{55DE6B4D-A7FC-4EE1-A9A7-BDAAED23D3C0}"/>
              </a:ext>
            </a:extLst>
          </p:cNvPr>
          <p:cNvSpPr txBox="1"/>
          <p:nvPr/>
        </p:nvSpPr>
        <p:spPr>
          <a:xfrm>
            <a:off x="7086600" y="3957109"/>
            <a:ext cx="419100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Focus promotion tests on the categories and seasons where they work best, especially Footwear.</a:t>
            </a:r>
            <a:endParaRPr lang="he-IL" sz="1500" dirty="0">
              <a:solidFill>
                <a:srgbClr val="0B1F3A"/>
              </a:solidFill>
            </a:endParaRPr>
          </a:p>
        </p:txBody>
      </p:sp>
      <p:sp>
        <p:nvSpPr>
          <p:cNvPr id="33" name="BP_REC_4_NUMBER">
            <a:extLst>
              <a:ext uri="{FF2B5EF4-FFF2-40B4-BE49-F238E27FC236}">
                <a16:creationId xmlns:a16="http://schemas.microsoft.com/office/drawing/2014/main" id="{3D730089-45AB-4E23-9A8E-773FF7F5594F}"/>
              </a:ext>
            </a:extLst>
          </p:cNvPr>
          <p:cNvSpPr/>
          <p:nvPr/>
        </p:nvSpPr>
        <p:spPr>
          <a:xfrm>
            <a:off x="6657975" y="4778375"/>
            <a:ext cx="304800" cy="304800"/>
          </a:xfrm>
          <a:prstGeom prst="rect">
            <a:avLst/>
          </a:prstGeom>
          <a:solidFill>
            <a:srgbClr val="F26B2E"/>
          </a:solidFill>
          <a:ln w="19050" cap="flat" cmpd="sng" algn="ctr">
            <a:noFill/>
            <a:prstDash val="solid"/>
            <a:miter lim="800000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Overflow="clip" horzOverflow="clip" rtlCol="1" anchor="ctr" anchorCtr="0">
            <a:noAutofit/>
          </a:bodyPr>
          <a:lstStyle/>
          <a:p>
            <a:pPr algn="l"/>
            <a:r>
              <a:rPr lang="he-IL" sz="12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34" name="BP_REC_4_TEXT">
            <a:extLst>
              <a:ext uri="{FF2B5EF4-FFF2-40B4-BE49-F238E27FC236}">
                <a16:creationId xmlns:a16="http://schemas.microsoft.com/office/drawing/2014/main" id="{203D1DEF-E7BE-4CA2-81DF-843617DBE8F9}"/>
              </a:ext>
            </a:extLst>
          </p:cNvPr>
          <p:cNvSpPr txBox="1"/>
          <p:nvPr/>
        </p:nvSpPr>
        <p:spPr>
          <a:xfrm>
            <a:off x="7086600" y="3161244"/>
            <a:ext cx="4038600" cy="609600"/>
          </a:xfrm>
          <a:prstGeom prst="rect">
            <a:avLst/>
          </a:prstGeom>
          <a:noFill/>
        </p:spPr>
        <p:txBody>
          <a:bodyPr vertOverflow="overflow" vert="horz" wrap="square" rtlCol="1" anchor="t" anchorCtr="0">
            <a:noAutofit/>
          </a:bodyPr>
          <a:lstStyle/>
          <a:p>
            <a:pPr algn="l"/>
            <a:r>
              <a:rPr lang="en-US" sz="1500" dirty="0">
                <a:solidFill>
                  <a:srgbClr val="0B1F3A"/>
                </a:solidFill>
              </a:rPr>
              <a:t>Check why only some customer groups receive promotions (males &amp; Subscribers), and make sure the data is correct.</a:t>
            </a:r>
            <a:endParaRPr lang="he-IL" sz="1500" dirty="0">
              <a:solidFill>
                <a:srgbClr val="0B1F3A"/>
              </a:solidFill>
            </a:endParaRPr>
          </a:p>
        </p:txBody>
      </p:sp>
      <p:sp>
        <p:nvSpPr>
          <p:cNvPr id="36" name="BP_SUMMARY_DECISION_TEXT">
            <a:extLst>
              <a:ext uri="{FF2B5EF4-FFF2-40B4-BE49-F238E27FC236}">
                <a16:creationId xmlns:a16="http://schemas.microsoft.com/office/drawing/2014/main" id="{5FAECBB4-81AB-4964-99C3-FB009BC80511}"/>
              </a:ext>
            </a:extLst>
          </p:cNvPr>
          <p:cNvSpPr txBox="1"/>
          <p:nvPr/>
        </p:nvSpPr>
        <p:spPr>
          <a:xfrm>
            <a:off x="1447800" y="5953125"/>
            <a:ext cx="9448800" cy="654050"/>
          </a:xfrm>
          <a:prstGeom prst="rect">
            <a:avLst/>
          </a:prstGeom>
          <a:noFill/>
        </p:spPr>
        <p:txBody>
          <a:bodyPr vertOverflow="overflow" vert="horz" wrap="square" rtlCol="1" anchor="ctr" anchorCtr="0">
            <a:normAutofit/>
          </a:bodyPr>
          <a:lstStyle/>
          <a:p>
            <a:pPr algn="ctr"/>
            <a:r>
              <a:rPr lang="en-US" sz="1600" dirty="0">
                <a:solidFill>
                  <a:srgbClr val="FFFFFF"/>
                </a:solidFill>
              </a:rPr>
              <a:t>Promotions do not increase average purchase value overall </a:t>
            </a:r>
          </a:p>
          <a:p>
            <a:pPr algn="ctr"/>
            <a:r>
              <a:rPr lang="en-US" sz="1600" dirty="0">
                <a:solidFill>
                  <a:srgbClr val="FFFFFF"/>
                </a:solidFill>
              </a:rPr>
              <a:t>test targeted offers by category and season, starting with Footwear.</a:t>
            </a:r>
          </a:p>
        </p:txBody>
      </p:sp>
    </p:spTree>
    <p:extLst>
      <p:ext uri="{BB962C8B-B14F-4D97-AF65-F5344CB8AC3E}">
        <p14:creationId xmlns:p14="http://schemas.microsoft.com/office/powerpoint/2010/main" val="3021648505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" panose="02110004020202020204"/>
        <a:ea typeface="Calibri"/>
        <a:cs typeface="Calibri"/>
        <a:font script="Jpan" typeface="Calibri"/>
        <a:font script="Hang" typeface="Calibri"/>
        <a:font script="Hans" typeface="Calibri"/>
        <a:font script="Hant" typeface="Calibri"/>
        <a:font script="Arab" typeface="Calibri"/>
        <a:font script="Hebr" typeface="Calibri"/>
        <a:font script="Thai" typeface="Calibri"/>
        <a:font script="Ethi" typeface="Calibri"/>
        <a:font script="Beng" typeface="Calibri"/>
        <a:font script="Gujr" typeface="Calibri"/>
        <a:font script="Khmr" typeface="Calibri"/>
        <a:font script="Knda" typeface="Calibri"/>
        <a:font script="Guru" typeface="Calibri"/>
        <a:font script="Cans" typeface="Calibri"/>
        <a:font script="Cher" typeface="Calibri"/>
        <a:font script="Yiii" typeface="Calibri"/>
        <a:font script="Tibt" typeface="Calibri"/>
        <a:font script="Thaa" typeface="Calibri"/>
        <a:font script="Deva" typeface="Calibri"/>
        <a:font script="Telu" typeface="Calibri"/>
        <a:font script="Taml" typeface="Calibri"/>
        <a:font script="Syrc" typeface="Calibri"/>
        <a:font script="Orya" typeface="Calibri"/>
        <a:font script="Mlym" typeface="Calibri"/>
        <a:font script="Laoo" typeface="Calibri"/>
        <a:font script="Sinh" typeface="Calibri"/>
        <a:font script="Mong" typeface="Calibri"/>
        <a:font script="Viet" typeface="Calibri"/>
        <a:font script="Uigh" typeface="Calibri"/>
        <a:font script="Geor" typeface="Calibri"/>
        <a:font script="Armn" typeface="Calibri"/>
        <a:font script="Bugi" typeface="Calibri"/>
        <a:font script="Bopo" typeface="Calibri"/>
        <a:font script="Java" typeface="Calibri"/>
        <a:font script="Lisu" typeface="Calibri"/>
        <a:font script="Mymr" typeface="Calibri"/>
        <a:font script="Nkoo" typeface="Calibri"/>
        <a:font script="Olck" typeface="Calibri"/>
        <a:font script="Osma" typeface="Calibri"/>
        <a:font script="Phag" typeface="Calibri"/>
        <a:font script="Syrn" typeface="Calibri"/>
        <a:font script="Syrj" typeface="Calibri"/>
        <a:font script="Syre" typeface="Calibri"/>
        <a:font script="Sora" typeface="Calibri"/>
        <a:font script="Tale" typeface="Calibri"/>
        <a:font script="Talu" typeface="Calibri"/>
        <a:font script="Tfng" typeface="Calibri"/>
      </a:majorFont>
      <a:minorFont>
        <a:latin typeface="Calibri" panose="02110004020202020204"/>
        <a:ea typeface="Calibri"/>
        <a:cs typeface="Calibri"/>
        <a:font script="Jpan" typeface="Calibri"/>
        <a:font script="Hang" typeface="Calibri"/>
        <a:font script="Hans" typeface="Calibri"/>
        <a:font script="Hant" typeface="Calibri"/>
        <a:font script="Arab" typeface="Calibri"/>
        <a:font script="Hebr" typeface="Calibri"/>
        <a:font script="Thai" typeface="Calibri"/>
        <a:font script="Ethi" typeface="Calibri"/>
        <a:font script="Beng" typeface="Calibri"/>
        <a:font script="Gujr" typeface="Calibri"/>
        <a:font script="Khmr" typeface="Calibri"/>
        <a:font script="Knda" typeface="Calibri"/>
        <a:font script="Guru" typeface="Calibri"/>
        <a:font script="Cans" typeface="Calibri"/>
        <a:font script="Cher" typeface="Calibri"/>
        <a:font script="Yiii" typeface="Calibri"/>
        <a:font script="Tibt" typeface="Calibri"/>
        <a:font script="Thaa" typeface="Calibri"/>
        <a:font script="Deva" typeface="Calibri"/>
        <a:font script="Telu" typeface="Calibri"/>
        <a:font script="Taml" typeface="Calibri"/>
        <a:font script="Syrc" typeface="Calibri"/>
        <a:font script="Orya" typeface="Calibri"/>
        <a:font script="Mlym" typeface="Calibri"/>
        <a:font script="Laoo" typeface="Calibri"/>
        <a:font script="Sinh" typeface="Calibri"/>
        <a:font script="Mong" typeface="Calibri"/>
        <a:font script="Viet" typeface="Calibri"/>
        <a:font script="Uigh" typeface="Calibri"/>
        <a:font script="Geor" typeface="Calibri"/>
        <a:font script="Armn" typeface="Calibri"/>
        <a:font script="Bugi" typeface="Calibri"/>
        <a:font script="Bopo" typeface="Calibri"/>
        <a:font script="Java" typeface="Calibri"/>
        <a:font script="Lisu" typeface="Calibri"/>
        <a:font script="Mymr" typeface="Calibri"/>
        <a:font script="Nkoo" typeface="Calibri"/>
        <a:font script="Olck" typeface="Calibri"/>
        <a:font script="Osma" typeface="Calibri"/>
        <a:font script="Phag" typeface="Calibri"/>
        <a:font script="Syrn" typeface="Calibri"/>
        <a:font script="Syrj" typeface="Calibri"/>
        <a:font script="Syre" typeface="Calibri"/>
        <a:font script="Sora" typeface="Calibri"/>
        <a:font script="Tale" typeface="Calibri"/>
        <a:font script="Talu" typeface="Calibri"/>
        <a:font script="Tfng"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90E3BDE4-F579-4EE7-8E66-7D4F1C74B175}">
  <we:reference id="cba9fc06-6fc9-492e-9525-923870a3b909" version="2.0.0.1" store="EXCatalog" storeType="EXCatalog"/>
  <we:alternateReferences>
    <we:reference id="WA200010215" version="2.0.0.1" store="he-IL" storeType="OMEX"/>
  </we:alternateReferences>
  <we:properties>
    <we:property name="bps.codex_control.document_id" value="&quot;7896e340-c5ef-4421-8af8-0c482902d807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4729</TotalTime>
  <Words>1485</Words>
  <Application>Microsoft Office PowerPoint</Application>
  <PresentationFormat>Widescreen</PresentationFormat>
  <Paragraphs>256</Paragraphs>
  <Slides>20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5" baseType="lpstr">
      <vt:lpstr>Aptos</vt:lpstr>
      <vt:lpstr>Arial</vt:lpstr>
      <vt:lpstr>Calibri</vt:lpstr>
      <vt:lpstr>Cambria Math</vt:lpstr>
      <vt:lpstr>ערכת נושא Office</vt:lpstr>
      <vt:lpstr>Customer Shopping Behavior and Promotion Effectiveness</vt:lpstr>
      <vt:lpstr>Our Chosen Topics &amp; Why They Matter</vt:lpstr>
      <vt:lpstr>Best-Selling Products  and Consumer Preferences</vt:lpstr>
      <vt:lpstr>Methodology &amp; Key Performance Indicators (KPIs)</vt:lpstr>
      <vt:lpstr>Product Popularity</vt:lpstr>
      <vt:lpstr>  Product Popularity by Category</vt:lpstr>
      <vt:lpstr>Category Popularity Index</vt:lpstr>
      <vt:lpstr>Revenue share varies far more than average revenue</vt:lpstr>
      <vt:lpstr>Impact of Ratings on Sales</vt:lpstr>
      <vt:lpstr>PowerPoint Presentation</vt:lpstr>
      <vt:lpstr>Effectiveness of Discounts  and Promotions </vt:lpstr>
      <vt:lpstr>Methodology &amp; Key Performance Indicators (KPIs)</vt:lpstr>
      <vt:lpstr>Promo Codes and Discounts Move Together</vt:lpstr>
      <vt:lpstr>Promotion Exposure Rate</vt:lpstr>
      <vt:lpstr>Who Is Exposed to Promo code/Discount? A Demographic View</vt:lpstr>
      <vt:lpstr>Promotion Exposure by Subscription Status</vt:lpstr>
      <vt:lpstr>When Are Customers More Exposed to Promotions? A Seasonal View</vt:lpstr>
      <vt:lpstr>Which Product Categories Have Higher Promotion Exposure?</vt:lpstr>
      <vt:lpstr>How Does Promotion Exposure Vary by Product Category and Season?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חגית תורג'מן</dc:creator>
  <cp:lastModifiedBy>david alter</cp:lastModifiedBy>
  <cp:revision>34</cp:revision>
  <dcterms:created xsi:type="dcterms:W3CDTF">2026-10-14T14:27:35Z</dcterms:created>
  <dcterms:modified xsi:type="dcterms:W3CDTF">2026-10-20T12:42:05Z</dcterms:modified>
</cp:coreProperties>
</file>